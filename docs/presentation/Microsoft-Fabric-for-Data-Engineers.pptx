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(about 3 minutes). State that all data is synthetic and modeled on a financial institution, and that nothing here is production data. Introduce the Medallion stack on the cover: bronze and silver run in a Lakehouse, gold runs in a Warehouse. Before you start, confirm the capacity and the Synapse pool are resumed and that the demo workspace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plan (about 2 minutes). Walk the bar: 5 minutes welcome, 30 minutes of concepts, 75 minutes of demos, 10 minutes of Q&amp;A. Each demo card lists the slides that come right before it, so the audience always knows where the live work is going. Invite questions during demos, but park long questions for the Q&amp;A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Concepts (about 2 minutes). The key message: the same OneLake data is read by Spark and by T-SQL, so teams stop copying data between engines. Capacity is both the billing unit and the place where residency is decided. In our build this is one F4 capacity in Canada Central. There is no demo on this slide; the rest of the session refers back to these four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(10 minutes). Open pl_medallion_daily in the Dev workspace. Point at the three activities and their dependencies, then open the run history and one completed run. Open df_province_reference in the Dataflow Gen2 editor and show the Power Query steps. Be clear that the dataflow refreshes a query today: choose the output destination when you build one. Fallback if the run history is empty: show the completed run from the day before and say that the run takes about 7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(about 2 minutes), then Demo 2 (15 minutes in total with notebooks). Explain that a Delta table is Parquet data files plus a transaction log, and that each commit adds an entry to the log. Then run nb_03: DESCRIBE HISTORY, versionAsOf 0, the MERGE with one update and one delete, the mergeSchema append, and OPTIMIZE with VACUUM DRY RUN. Stress that the demo writes to a scratch copy, because demos must never change production tables. Fallback: show saved outputs if the Spark session is slow to start. The version numbers depend on how often the notebook has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Notebooks (about 3 minutes, part of Demo 2). Show the code card: a partitioned JDBC read from Synapse with 16 partitions, and a token from notebookutils, so there is no stored secret. Open nb_01 to show the parameter cell and the stage log. Share the lesson in the gold box: in our build, a markdown first cell dropped the default lakehouse on upload, and the notebook could not find /lakehouse/default.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(10 minutes). Run the gold view query in wh_gold, then the cross-item query against lh_silver.silver.transactions. Point at the limits card. Say that our migration hit the TINYINT and PRIMARY KEY errors, and that both are on slide 20. Check the current T-SQL surface area on Microsoft Learn before the session, because the list changes by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slide (about 2 minutes). Ask the room which persona owns the data in their organization, then use the table to match engine and persona. Stress that a Medallion design usually uses both engines, joined by cross-item queries. No demo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4 begins (about 3 minutes). Walk the table from top to bottom. The key message: DISTRIBUTION and columnstore clauses disappear, and capacity replaces DWU sizing. Confirm each row against current Microsoft Learn guidance before presenting, because this reflects the build date and not necessarily the current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Migration paths (about 3 minutes). Present the five options from the official Learn guidance. The ADLS-based options were blocked in our sandbox because MCAPS policy disabled public network access on storage, so we used Spark JDBC: partitioned reads with no staging storage. Then show the DDL rules in the teal bar. Also point out that Microsoft provides the Fabric Migration Assistant for an automated, portal-driven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4 proof (about 4 minutes). Run the same three queries on dwpool and on wh_migrated_synapse: fact row count, the large-flag count, and the sum of amount. The results must match exactly. For context: generating 100 million synthetic rows in the Synapse pool took about 9.5 minutes on DW100c. Stress that control totals, not screenshots, are the evidence to keep for change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5, shortcuts (about 4 minutes). Open lh_silver and show the Tables/bronze folder with its shortcut icons. Click one to show the target path, then show the chain back to the SQL database mirror. Show the list of source types. Caution: an external shortcut only works if Fabric can reach the source and authenticate, so test it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Mirroring (about 3 minutes, part of Demo 5). Explain that the Fabric SQL database replicates its tables into OneLake as Delta, so no extract job is needed. Show the core schema and the Delta logs in OneLake. Do not promise a live latency. Use the third card to make a design point: the sandbox policy blocked public access to Azure SQL and storage, so check network and policy constraints first in any customer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6 begins (about 3 minutes). Walk the diagram left to right: sources, bronze, silver, gold, consumers. Point out the two kinds of arrow: Spark does the engineering transforms, and T-SQL does cross-item reads and serving. Show the dashed migration target, which is the warehouse we loaded from the migration. The same diagram is in the repository as an SVG with bilingual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6, part 2 (about 4 minutes). Show pl_medallion_daily's Silver and Gold steps in the run history, then run the gold reconciliation query. Show silver.dq_results. Explain that silver.dq_rejects only appears when a rule rejects rows, so its absence in clean synthetic data is expected. The emphasis is on contracts: each layer has a written purpose, and quality is checked before consumers see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(concept, no demo; use it in the Q&amp;A if asked about data location, access, or resilience). Organize the discussion around identity, residency, and third-party and technology risk. Name the OSFI guidelines as items to review with the compliance team. This slide is not a compliance assessment. The detail is in the best-practices document, section 7 and section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7, part 1 (about 5 minutes). Open Workspace settings, then Git integration: show the repository, branch, and folder. Open the repository folder fabric-workspace on GitHub and show one item folder. Explain that item definitions are text files, so pull request reviews work. Mention that the GitHub token is stored in a Fabric connection, and that it should be revoked when the workshop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7, part 2 (about 5 minutes). Open dp_fdw_osfi and show the three stages and their workspace assignments. Open the Test copy of pl_medallion_daily and show that its notebook references point to Test items. Show that the Test lakehouses are empty: deployment moves definitions, and data loads run separately. Then describe the warehouse re-deploy failure and the approach we use: deploy code items selectively, and apply warehouse DDL with a script in each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(about 3 minutes). Ask the audience to pick two practices they will take back to their teams. Each item maps to a section of the best-practices document in the repository, which covers architecture, capacity, Delta and Spark, data quality, warehouse, pipelines, security, Git and deployment, and regulated-industry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(about 2 minutes). Share these honestly. They are the issues most likely to appear in a live demo or a real migration. Most are already handled in the workshop scripts and notebooks. The sandbox policy item is not a code fix: check policy constraints before you design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(about 3 minutes, then Q&amp;A). Restate the four next steps. Share the repository link. Tell the audience that the delivery guide contains the 120-minute run-of-show, the pre-session checklist, the demo scripts with expected results, and a Q&amp;A bank. Then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731520" y="1325880"/>
            <a:ext cx="6858000" cy="365760"/>
          </a:xfrm>
          <a:prstGeom prst="rect">
            <a:avLst/>
          </a:prstGeom>
          <a:noFill/>
          <a:ln/>
        </p:spPr>
        <p:txBody>
          <a:bodyPr wrap="square" lIns="0" tIns="0" rIns="0" bIns="0" rtlCol="0" anchor="ctr"/>
          <a:lstStyle/>
          <a:p>
            <a:pPr indent="0" marL="0">
              <a:buNone/>
            </a:pPr>
            <a:r>
              <a:rPr lang="en-US" sz="1300" b="1" spc="300" kern="0" dirty="0">
                <a:solidFill>
                  <a:srgbClr val="7FD3DB"/>
                </a:solidFill>
                <a:latin typeface="Segoe UI" pitchFamily="34" charset="0"/>
                <a:ea typeface="Segoe UI" pitchFamily="34" charset="-122"/>
                <a:cs typeface="Segoe UI" pitchFamily="34" charset="-120"/>
              </a:rPr>
              <a:t>MICROSOFT FABRIC  ·  DATA ENGINEERING</a:t>
            </a:r>
            <a:endParaRPr lang="en-US" sz="1300" dirty="0"/>
          </a:p>
        </p:txBody>
      </p:sp>
      <p:sp>
        <p:nvSpPr>
          <p:cNvPr id="3" name="Text 1"/>
          <p:cNvSpPr/>
          <p:nvPr/>
        </p:nvSpPr>
        <p:spPr>
          <a:xfrm>
            <a:off x="731520" y="1783080"/>
            <a:ext cx="6675120" cy="1920240"/>
          </a:xfrm>
          <a:prstGeom prst="rect">
            <a:avLst/>
          </a:prstGeom>
          <a:noFill/>
          <a:ln/>
        </p:spPr>
        <p:txBody>
          <a:bodyPr wrap="square" lIns="0" tIns="0" rIns="0" bIns="0" rtlCol="0" anchor="t"/>
          <a:lstStyle/>
          <a:p>
            <a:pPr indent="0" marL="0">
              <a:buNone/>
            </a:pPr>
            <a:r>
              <a:rPr lang="en-US" sz="4600" dirty="0">
                <a:solidFill>
                  <a:srgbClr val="FFFFFF"/>
                </a:solidFill>
                <a:latin typeface="Segoe UI Semibold" pitchFamily="34" charset="0"/>
                <a:ea typeface="Segoe UI Semibold" pitchFamily="34" charset="-122"/>
                <a:cs typeface="Segoe UI Semibold" pitchFamily="34" charset="-120"/>
              </a:rPr>
              <a:t>Microsoft Fabric</a:t>
            </a:r>
            <a:endParaRPr lang="en-US" sz="4600" dirty="0"/>
          </a:p>
          <a:p>
            <a:pPr indent="0" marL="0">
              <a:buNone/>
            </a:pPr>
            <a:r>
              <a:rPr lang="en-US" sz="4600" dirty="0">
                <a:solidFill>
                  <a:srgbClr val="FFFFFF"/>
                </a:solidFill>
                <a:latin typeface="Segoe UI Semibold" pitchFamily="34" charset="0"/>
                <a:ea typeface="Segoe UI Semibold" pitchFamily="34" charset="-122"/>
                <a:cs typeface="Segoe UI Semibold" pitchFamily="34" charset="-120"/>
              </a:rPr>
              <a:t>for Data Engineers</a:t>
            </a:r>
            <a:endParaRPr lang="en-US" sz="4600" dirty="0"/>
          </a:p>
        </p:txBody>
      </p:sp>
      <p:sp>
        <p:nvSpPr>
          <p:cNvPr id="4" name="Text 2"/>
          <p:cNvSpPr/>
          <p:nvPr/>
        </p:nvSpPr>
        <p:spPr>
          <a:xfrm>
            <a:off x="731520" y="3794760"/>
            <a:ext cx="6309360" cy="822960"/>
          </a:xfrm>
          <a:prstGeom prst="rect">
            <a:avLst/>
          </a:prstGeom>
          <a:noFill/>
          <a:ln/>
        </p:spPr>
        <p:txBody>
          <a:bodyPr wrap="square" lIns="0" tIns="0" rIns="0" bIns="0" rtlCol="0" anchor="t"/>
          <a:lstStyle/>
          <a:p>
            <a:pPr indent="0" marL="0">
              <a:buNone/>
            </a:pPr>
            <a:r>
              <a:rPr lang="en-US" sz="1900" dirty="0">
                <a:solidFill>
                  <a:srgbClr val="C9D6E3"/>
                </a:solidFill>
                <a:latin typeface="Segoe UI" pitchFamily="34" charset="0"/>
                <a:ea typeface="Segoe UI" pitchFamily="34" charset="-122"/>
                <a:cs typeface="Segoe UI" pitchFamily="34" charset="-120"/>
              </a:rPr>
              <a:t>One platform for pipelines, Lakehouse, Warehouse, and governed analytics</a:t>
            </a:r>
            <a:endParaRPr lang="en-US" sz="1900" dirty="0"/>
          </a:p>
        </p:txBody>
      </p:sp>
      <p:sp>
        <p:nvSpPr>
          <p:cNvPr id="5" name="Text 3"/>
          <p:cNvSpPr/>
          <p:nvPr/>
        </p:nvSpPr>
        <p:spPr>
          <a:xfrm>
            <a:off x="731520" y="5120640"/>
            <a:ext cx="6858000" cy="365760"/>
          </a:xfrm>
          <a:prstGeom prst="rect">
            <a:avLst/>
          </a:prstGeom>
          <a:noFill/>
          <a:ln/>
        </p:spPr>
        <p:txBody>
          <a:bodyPr wrap="square" lIns="0" tIns="0" rIns="0" bIns="0" rtlCol="0" anchor="ctr"/>
          <a:lstStyle/>
          <a:p>
            <a:pPr indent="0" marL="0">
              <a:buNone/>
            </a:pPr>
            <a:r>
              <a:rPr lang="en-US" sz="1300" dirty="0">
                <a:solidFill>
                  <a:srgbClr val="9FB3C8"/>
                </a:solidFill>
                <a:latin typeface="Segoe UI" pitchFamily="34" charset="0"/>
                <a:ea typeface="Segoe UI" pitchFamily="34" charset="-122"/>
                <a:cs typeface="Segoe UI" pitchFamily="34" charset="-120"/>
              </a:rPr>
              <a:t>OSFI workshop  ·  2 hours  ·  Synthetic data only</a:t>
            </a:r>
            <a:endParaRPr lang="en-US" sz="1300" dirty="0"/>
          </a:p>
        </p:txBody>
      </p:sp>
      <p:sp>
        <p:nvSpPr>
          <p:cNvPr id="6" name="Shape 4"/>
          <p:cNvSpPr/>
          <p:nvPr/>
        </p:nvSpPr>
        <p:spPr>
          <a:xfrm>
            <a:off x="7955280" y="1463040"/>
            <a:ext cx="3611880" cy="1188720"/>
          </a:xfrm>
          <a:prstGeom prst="rect">
            <a:avLst/>
          </a:prstGeom>
          <a:solidFill>
            <a:srgbClr val="A65E2E"/>
          </a:solidFill>
          <a:ln w="12700">
            <a:solidFill>
              <a:srgbClr val="A65E2E"/>
            </a:solidFill>
            <a:prstDash val="solid"/>
          </a:ln>
        </p:spPr>
      </p:sp>
      <p:sp>
        <p:nvSpPr>
          <p:cNvPr id="7" name="Text 5"/>
          <p:cNvSpPr/>
          <p:nvPr/>
        </p:nvSpPr>
        <p:spPr>
          <a:xfrm>
            <a:off x="8229600" y="1463040"/>
            <a:ext cx="3200400" cy="1188720"/>
          </a:xfrm>
          <a:prstGeom prst="rect">
            <a:avLst/>
          </a:prstGeom>
          <a:noFill/>
          <a:ln/>
        </p:spPr>
        <p:txBody>
          <a:bodyPr wrap="square" lIns="0" tIns="0" rIns="0" bIns="0" rtlCol="0" anchor="ctr"/>
          <a:lstStyle/>
          <a:p>
            <a:pPr indent="0" marL="0">
              <a:buNone/>
            </a:pPr>
            <a:r>
              <a:rPr lang="en-US" sz="2200" dirty="0">
                <a:solidFill>
                  <a:srgbClr val="FFFFFF"/>
                </a:solidFill>
                <a:latin typeface="Segoe UI Semibold" pitchFamily="34" charset="0"/>
                <a:ea typeface="Segoe UI Semibold" pitchFamily="34" charset="-122"/>
                <a:cs typeface="Segoe UI Semibold" pitchFamily="34" charset="-120"/>
              </a:rPr>
              <a:t>Bronze</a:t>
            </a:r>
            <a:endParaRPr lang="en-US" sz="2200" dirty="0"/>
          </a:p>
          <a:p>
            <a:pPr indent="0" marL="0">
              <a:buNone/>
            </a:pPr>
            <a:r>
              <a:rPr lang="en-US" sz="1250" dirty="0">
                <a:solidFill>
                  <a:srgbClr val="FFFFFF"/>
                </a:solidFill>
                <a:latin typeface="Segoe UI" pitchFamily="34" charset="0"/>
                <a:ea typeface="Segoe UI" pitchFamily="34" charset="-122"/>
                <a:cs typeface="Segoe UI" pitchFamily="34" charset="-120"/>
              </a:rPr>
              <a:t>Lakehouse  ·  raw, as received</a:t>
            </a:r>
            <a:endParaRPr lang="en-US" sz="2200" dirty="0"/>
          </a:p>
        </p:txBody>
      </p:sp>
      <p:sp>
        <p:nvSpPr>
          <p:cNvPr id="8" name="Shape 6"/>
          <p:cNvSpPr/>
          <p:nvPr/>
        </p:nvSpPr>
        <p:spPr>
          <a:xfrm>
            <a:off x="7955280" y="2926080"/>
            <a:ext cx="3611880" cy="1188720"/>
          </a:xfrm>
          <a:prstGeom prst="rect">
            <a:avLst/>
          </a:prstGeom>
          <a:solidFill>
            <a:srgbClr val="5F6B7A"/>
          </a:solidFill>
          <a:ln w="12700">
            <a:solidFill>
              <a:srgbClr val="5F6B7A"/>
            </a:solidFill>
            <a:prstDash val="solid"/>
          </a:ln>
        </p:spPr>
      </p:sp>
      <p:sp>
        <p:nvSpPr>
          <p:cNvPr id="9" name="Text 7"/>
          <p:cNvSpPr/>
          <p:nvPr/>
        </p:nvSpPr>
        <p:spPr>
          <a:xfrm>
            <a:off x="8229600" y="2926080"/>
            <a:ext cx="3200400" cy="1188720"/>
          </a:xfrm>
          <a:prstGeom prst="rect">
            <a:avLst/>
          </a:prstGeom>
          <a:noFill/>
          <a:ln/>
        </p:spPr>
        <p:txBody>
          <a:bodyPr wrap="square" lIns="0" tIns="0" rIns="0" bIns="0" rtlCol="0" anchor="ctr"/>
          <a:lstStyle/>
          <a:p>
            <a:pPr indent="0" marL="0">
              <a:buNone/>
            </a:pPr>
            <a:r>
              <a:rPr lang="en-US" sz="2200" dirty="0">
                <a:solidFill>
                  <a:srgbClr val="FFFFFF"/>
                </a:solidFill>
                <a:latin typeface="Segoe UI Semibold" pitchFamily="34" charset="0"/>
                <a:ea typeface="Segoe UI Semibold" pitchFamily="34" charset="-122"/>
                <a:cs typeface="Segoe UI Semibold" pitchFamily="34" charset="-120"/>
              </a:rPr>
              <a:t>Silver</a:t>
            </a:r>
            <a:endParaRPr lang="en-US" sz="2200" dirty="0"/>
          </a:p>
          <a:p>
            <a:pPr indent="0" marL="0">
              <a:buNone/>
            </a:pPr>
            <a:r>
              <a:rPr lang="en-US" sz="1250" dirty="0">
                <a:solidFill>
                  <a:srgbClr val="FFFFFF"/>
                </a:solidFill>
                <a:latin typeface="Segoe UI" pitchFamily="34" charset="0"/>
                <a:ea typeface="Segoe UI" pitchFamily="34" charset="-122"/>
                <a:cs typeface="Segoe UI" pitchFamily="34" charset="-120"/>
              </a:rPr>
              <a:t>Lakehouse  ·  conformed and validated</a:t>
            </a:r>
            <a:endParaRPr lang="en-US" sz="2200" dirty="0"/>
          </a:p>
        </p:txBody>
      </p:sp>
      <p:sp>
        <p:nvSpPr>
          <p:cNvPr id="10" name="Shape 8"/>
          <p:cNvSpPr/>
          <p:nvPr/>
        </p:nvSpPr>
        <p:spPr>
          <a:xfrm>
            <a:off x="7955280" y="4389120"/>
            <a:ext cx="3611880" cy="1188720"/>
          </a:xfrm>
          <a:prstGeom prst="rect">
            <a:avLst/>
          </a:prstGeom>
          <a:solidFill>
            <a:srgbClr val="9A6F0C"/>
          </a:solidFill>
          <a:ln w="12700">
            <a:solidFill>
              <a:srgbClr val="9A6F0C"/>
            </a:solidFill>
            <a:prstDash val="solid"/>
          </a:ln>
        </p:spPr>
      </p:sp>
      <p:sp>
        <p:nvSpPr>
          <p:cNvPr id="11" name="Text 9"/>
          <p:cNvSpPr/>
          <p:nvPr/>
        </p:nvSpPr>
        <p:spPr>
          <a:xfrm>
            <a:off x="8229600" y="4389120"/>
            <a:ext cx="3200400" cy="1188720"/>
          </a:xfrm>
          <a:prstGeom prst="rect">
            <a:avLst/>
          </a:prstGeom>
          <a:noFill/>
          <a:ln/>
        </p:spPr>
        <p:txBody>
          <a:bodyPr wrap="square" lIns="0" tIns="0" rIns="0" bIns="0" rtlCol="0" anchor="ctr"/>
          <a:lstStyle/>
          <a:p>
            <a:pPr indent="0" marL="0">
              <a:buNone/>
            </a:pPr>
            <a:r>
              <a:rPr lang="en-US" sz="2200" dirty="0">
                <a:solidFill>
                  <a:srgbClr val="FFFFFF"/>
                </a:solidFill>
                <a:latin typeface="Segoe UI Semibold" pitchFamily="34" charset="0"/>
                <a:ea typeface="Segoe UI Semibold" pitchFamily="34" charset="-122"/>
                <a:cs typeface="Segoe UI Semibold" pitchFamily="34" charset="-120"/>
              </a:rPr>
              <a:t>Gold</a:t>
            </a:r>
            <a:endParaRPr lang="en-US" sz="2200" dirty="0"/>
          </a:p>
          <a:p>
            <a:pPr indent="0" marL="0">
              <a:buNone/>
            </a:pPr>
            <a:r>
              <a:rPr lang="en-US" sz="1250" dirty="0">
                <a:solidFill>
                  <a:srgbClr val="FFFFFF"/>
                </a:solidFill>
                <a:latin typeface="Segoe UI" pitchFamily="34" charset="0"/>
                <a:ea typeface="Segoe UI" pitchFamily="34" charset="-122"/>
                <a:cs typeface="Segoe UI" pitchFamily="34" charset="-120"/>
              </a:rPr>
              <a:t>Warehouse  ·  curated, served to BI</a:t>
            </a:r>
            <a:endParaRPr lang="en-US" sz="2200" dirty="0"/>
          </a:p>
        </p:txBody>
      </p:sp>
      <p:sp>
        <p:nvSpPr>
          <p:cNvPr id="12" name="Text 10"/>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9FB3C8"/>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13" name="Text 11"/>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9FB3C8"/>
                </a:solidFill>
                <a:latin typeface="Segoe UI" pitchFamily="34" charset="0"/>
                <a:ea typeface="Segoe UI" pitchFamily="34" charset="-122"/>
                <a:cs typeface="Segoe UI"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SESSION PLAN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Thirty minutes of concepts, seventy-five of demos</a:t>
            </a:r>
            <a:endParaRPr lang="en-US" sz="3000" dirty="0"/>
          </a:p>
        </p:txBody>
      </p:sp>
      <p:sp>
        <p:nvSpPr>
          <p:cNvPr id="5" name="Shape 3"/>
          <p:cNvSpPr/>
          <p:nvPr/>
        </p:nvSpPr>
        <p:spPr>
          <a:xfrm>
            <a:off x="548640" y="1645920"/>
            <a:ext cx="462153" cy="640080"/>
          </a:xfrm>
          <a:prstGeom prst="rect">
            <a:avLst/>
          </a:prstGeom>
          <a:solidFill>
            <a:srgbClr val="B8C7D6"/>
          </a:solidFill>
          <a:ln w="12700">
            <a:solidFill>
              <a:srgbClr val="F5F7FA"/>
            </a:solidFill>
            <a:prstDash val="solid"/>
          </a:ln>
        </p:spPr>
      </p:sp>
      <p:sp>
        <p:nvSpPr>
          <p:cNvPr id="6" name="Text 4"/>
          <p:cNvSpPr/>
          <p:nvPr/>
        </p:nvSpPr>
        <p:spPr>
          <a:xfrm>
            <a:off x="548640" y="1645920"/>
            <a:ext cx="462153" cy="640080"/>
          </a:xfrm>
          <a:prstGeom prst="rect">
            <a:avLst/>
          </a:prstGeom>
          <a:noFill/>
          <a:ln/>
        </p:spPr>
        <p:txBody>
          <a:bodyPr wrap="square" lIns="0" tIns="0" rIns="0" bIns="0" rtlCol="0" anchor="ctr"/>
          <a:lstStyle/>
          <a:p>
            <a:pPr algn="ctr" indent="0" marL="0">
              <a:buNone/>
            </a:pPr>
            <a:r>
              <a:rPr lang="en-US" sz="1300" b="1" dirty="0">
                <a:solidFill>
                  <a:srgbClr val="0B1F33"/>
                </a:solidFill>
                <a:latin typeface="Segoe UI" pitchFamily="34" charset="0"/>
                <a:ea typeface="Segoe UI" pitchFamily="34" charset="-122"/>
                <a:cs typeface="Segoe UI" pitchFamily="34" charset="-120"/>
              </a:rPr>
              <a:t>5</a:t>
            </a:r>
            <a:endParaRPr lang="en-US" sz="1300" dirty="0"/>
          </a:p>
        </p:txBody>
      </p:sp>
      <p:sp>
        <p:nvSpPr>
          <p:cNvPr id="7" name="Shape 5"/>
          <p:cNvSpPr/>
          <p:nvPr/>
        </p:nvSpPr>
        <p:spPr>
          <a:xfrm>
            <a:off x="1010793" y="1645920"/>
            <a:ext cx="2772918" cy="640080"/>
          </a:xfrm>
          <a:prstGeom prst="rect">
            <a:avLst/>
          </a:prstGeom>
          <a:solidFill>
            <a:srgbClr val="0B1F33"/>
          </a:solidFill>
          <a:ln w="12700">
            <a:solidFill>
              <a:srgbClr val="F5F7FA"/>
            </a:solidFill>
            <a:prstDash val="solid"/>
          </a:ln>
        </p:spPr>
      </p:sp>
      <p:sp>
        <p:nvSpPr>
          <p:cNvPr id="8" name="Text 6"/>
          <p:cNvSpPr/>
          <p:nvPr/>
        </p:nvSpPr>
        <p:spPr>
          <a:xfrm>
            <a:off x="1010793" y="1645920"/>
            <a:ext cx="2772918"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Concepts · 30 min</a:t>
            </a:r>
            <a:endParaRPr lang="en-US" sz="1300" dirty="0"/>
          </a:p>
        </p:txBody>
      </p:sp>
      <p:sp>
        <p:nvSpPr>
          <p:cNvPr id="9" name="Shape 7"/>
          <p:cNvSpPr/>
          <p:nvPr/>
        </p:nvSpPr>
        <p:spPr>
          <a:xfrm>
            <a:off x="3783711" y="1645920"/>
            <a:ext cx="6932295" cy="640080"/>
          </a:xfrm>
          <a:prstGeom prst="rect">
            <a:avLst/>
          </a:prstGeom>
          <a:solidFill>
            <a:srgbClr val="0E7C86"/>
          </a:solidFill>
          <a:ln w="12700">
            <a:solidFill>
              <a:srgbClr val="F5F7FA"/>
            </a:solidFill>
            <a:prstDash val="solid"/>
          </a:ln>
        </p:spPr>
      </p:sp>
      <p:sp>
        <p:nvSpPr>
          <p:cNvPr id="10" name="Text 8"/>
          <p:cNvSpPr/>
          <p:nvPr/>
        </p:nvSpPr>
        <p:spPr>
          <a:xfrm>
            <a:off x="3783711" y="1645920"/>
            <a:ext cx="6932295"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Demos · 75 min</a:t>
            </a:r>
            <a:endParaRPr lang="en-US" sz="1300" dirty="0"/>
          </a:p>
        </p:txBody>
      </p:sp>
      <p:sp>
        <p:nvSpPr>
          <p:cNvPr id="11" name="Shape 9"/>
          <p:cNvSpPr/>
          <p:nvPr/>
        </p:nvSpPr>
        <p:spPr>
          <a:xfrm>
            <a:off x="10716006" y="1645920"/>
            <a:ext cx="924306" cy="640080"/>
          </a:xfrm>
          <a:prstGeom prst="rect">
            <a:avLst/>
          </a:prstGeom>
          <a:solidFill>
            <a:srgbClr val="5F6B7A"/>
          </a:solidFill>
          <a:ln w="12700">
            <a:solidFill>
              <a:srgbClr val="F5F7FA"/>
            </a:solidFill>
            <a:prstDash val="solid"/>
          </a:ln>
        </p:spPr>
      </p:sp>
      <p:sp>
        <p:nvSpPr>
          <p:cNvPr id="12" name="Text 10"/>
          <p:cNvSpPr/>
          <p:nvPr/>
        </p:nvSpPr>
        <p:spPr>
          <a:xfrm>
            <a:off x="10716006" y="1645920"/>
            <a:ext cx="924306"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Q&amp;A</a:t>
            </a:r>
            <a:endParaRPr lang="en-US" sz="1300" dirty="0"/>
          </a:p>
        </p:txBody>
      </p:sp>
      <p:sp>
        <p:nvSpPr>
          <p:cNvPr id="13" name="Shape 11"/>
          <p:cNvSpPr/>
          <p:nvPr/>
        </p:nvSpPr>
        <p:spPr>
          <a:xfrm>
            <a:off x="548640" y="2651760"/>
            <a:ext cx="1427770" cy="3017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4" name="Shape 12"/>
          <p:cNvSpPr/>
          <p:nvPr/>
        </p:nvSpPr>
        <p:spPr>
          <a:xfrm>
            <a:off x="548640" y="2651760"/>
            <a:ext cx="73152" cy="3017520"/>
          </a:xfrm>
          <a:prstGeom prst="rect">
            <a:avLst/>
          </a:prstGeom>
          <a:solidFill>
            <a:srgbClr val="0E7C86"/>
          </a:solidFill>
          <a:ln w="12700">
            <a:solidFill>
              <a:srgbClr val="0E7C86"/>
            </a:solidFill>
            <a:prstDash val="solid"/>
          </a:ln>
        </p:spPr>
      </p:sp>
      <p:sp>
        <p:nvSpPr>
          <p:cNvPr id="15" name="Text 13"/>
          <p:cNvSpPr/>
          <p:nvPr/>
        </p:nvSpPr>
        <p:spPr>
          <a:xfrm>
            <a:off x="749808" y="2880360"/>
            <a:ext cx="1153450" cy="274320"/>
          </a:xfrm>
          <a:prstGeom prst="rect">
            <a:avLst/>
          </a:prstGeom>
          <a:noFill/>
          <a:ln/>
        </p:spPr>
        <p:txBody>
          <a:bodyPr wrap="square" lIns="0" tIns="0" rIns="0" bIns="0" rtlCol="0" anchor="ctr"/>
          <a:lstStyle/>
          <a:p>
            <a:pPr indent="0" marL="0">
              <a:buNone/>
            </a:pPr>
            <a:r>
              <a:rPr lang="en-US" sz="1100" b="1" dirty="0">
                <a:solidFill>
                  <a:srgbClr val="0E7C86"/>
                </a:solidFill>
                <a:latin typeface="Segoe UI" pitchFamily="34" charset="0"/>
                <a:ea typeface="Segoe UI" pitchFamily="34" charset="-122"/>
                <a:cs typeface="Segoe UI" pitchFamily="34" charset="-120"/>
              </a:rPr>
              <a:t>DEMO 1</a:t>
            </a:r>
            <a:endParaRPr lang="en-US" sz="1100" dirty="0"/>
          </a:p>
        </p:txBody>
      </p:sp>
      <p:sp>
        <p:nvSpPr>
          <p:cNvPr id="16" name="Text 14"/>
          <p:cNvSpPr/>
          <p:nvPr/>
        </p:nvSpPr>
        <p:spPr>
          <a:xfrm>
            <a:off x="749808" y="3200400"/>
            <a:ext cx="1135162" cy="914400"/>
          </a:xfrm>
          <a:prstGeom prst="rect">
            <a:avLst/>
          </a:prstGeom>
          <a:noFill/>
          <a:ln/>
        </p:spPr>
        <p:txBody>
          <a:bodyPr wrap="square" lIns="0" tIns="0" rIns="0" bIns="0" rtlCol="0" anchor="t"/>
          <a:lstStyle/>
          <a:p>
            <a:pPr indent="0" marL="0">
              <a:buNone/>
            </a:pPr>
            <a:r>
              <a:rPr lang="en-US" sz="1400" dirty="0">
                <a:solidFill>
                  <a:srgbClr val="0B1F33"/>
                </a:solidFill>
                <a:latin typeface="Segoe UI Semibold" pitchFamily="34" charset="0"/>
                <a:ea typeface="Segoe UI Semibold" pitchFamily="34" charset="-122"/>
                <a:cs typeface="Segoe UI Semibold" pitchFamily="34" charset="-120"/>
              </a:rPr>
              <a:t>Pipelines and Dataflows</a:t>
            </a:r>
            <a:endParaRPr lang="en-US" sz="1400" dirty="0"/>
          </a:p>
        </p:txBody>
      </p:sp>
      <p:sp>
        <p:nvSpPr>
          <p:cNvPr id="17" name="Text 15"/>
          <p:cNvSpPr/>
          <p:nvPr/>
        </p:nvSpPr>
        <p:spPr>
          <a:xfrm>
            <a:off x="749808" y="4251960"/>
            <a:ext cx="1153450" cy="731520"/>
          </a:xfrm>
          <a:prstGeom prst="rect">
            <a:avLst/>
          </a:prstGeom>
          <a:noFill/>
          <a:ln/>
        </p:spPr>
        <p:txBody>
          <a:bodyPr wrap="square" lIns="0" tIns="0" rIns="0" bIns="0" rtlCol="0" anchor="b"/>
          <a:lstStyle/>
          <a:p>
            <a:pPr indent="0" marL="0">
              <a:buNone/>
            </a:pPr>
            <a:r>
              <a:rPr lang="en-US" sz="3600" dirty="0">
                <a:solidFill>
                  <a:srgbClr val="0E7C86"/>
                </a:solidFill>
                <a:latin typeface="Segoe UI Semibold" pitchFamily="34" charset="0"/>
                <a:ea typeface="Segoe UI Semibold" pitchFamily="34" charset="-122"/>
                <a:cs typeface="Segoe UI Semibold" pitchFamily="34" charset="-120"/>
              </a:rPr>
              <a:t>10</a:t>
            </a:r>
            <a:pPr indent="0" marL="0">
              <a:buNone/>
            </a:pPr>
            <a:r>
              <a:rPr lang="en-US" sz="1400" dirty="0">
                <a:solidFill>
                  <a:srgbClr val="5B6B7A"/>
                </a:solidFill>
                <a:latin typeface="Segoe UI" pitchFamily="34" charset="0"/>
                <a:ea typeface="Segoe UI" pitchFamily="34" charset="-122"/>
                <a:cs typeface="Segoe UI" pitchFamily="34" charset="-120"/>
              </a:rPr>
              <a:t> min</a:t>
            </a:r>
            <a:endParaRPr lang="en-US" sz="3600" dirty="0"/>
          </a:p>
        </p:txBody>
      </p:sp>
      <p:sp>
        <p:nvSpPr>
          <p:cNvPr id="18" name="Text 16"/>
          <p:cNvSpPr/>
          <p:nvPr/>
        </p:nvSpPr>
        <p:spPr>
          <a:xfrm>
            <a:off x="749808" y="5120640"/>
            <a:ext cx="1153450" cy="274320"/>
          </a:xfrm>
          <a:prstGeom prst="rect">
            <a:avLst/>
          </a:prstGeom>
          <a:noFill/>
          <a:ln/>
        </p:spPr>
        <p:txBody>
          <a:bodyPr wrap="square" lIns="0" tIns="0" rIns="0" bIns="0" rtlCol="0" anchor="ctr"/>
          <a:lstStyle/>
          <a:p>
            <a:pPr indent="0" marL="0">
              <a:buNone/>
            </a:pPr>
            <a:r>
              <a:rPr lang="en-US" sz="1100" dirty="0">
                <a:solidFill>
                  <a:srgbClr val="5B6B7A"/>
                </a:solidFill>
                <a:latin typeface="Segoe UI" pitchFamily="34" charset="0"/>
                <a:ea typeface="Segoe UI" pitchFamily="34" charset="-122"/>
                <a:cs typeface="Segoe UI" pitchFamily="34" charset="-120"/>
              </a:rPr>
              <a:t>Slide 4</a:t>
            </a:r>
            <a:endParaRPr lang="en-US" sz="1100" dirty="0"/>
          </a:p>
        </p:txBody>
      </p:sp>
      <p:sp>
        <p:nvSpPr>
          <p:cNvPr id="19" name="Shape 17"/>
          <p:cNvSpPr/>
          <p:nvPr/>
        </p:nvSpPr>
        <p:spPr>
          <a:xfrm>
            <a:off x="2159290" y="2651760"/>
            <a:ext cx="1427770" cy="3017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20" name="Shape 18"/>
          <p:cNvSpPr/>
          <p:nvPr/>
        </p:nvSpPr>
        <p:spPr>
          <a:xfrm>
            <a:off x="2159290" y="2651760"/>
            <a:ext cx="73152" cy="3017520"/>
          </a:xfrm>
          <a:prstGeom prst="rect">
            <a:avLst/>
          </a:prstGeom>
          <a:solidFill>
            <a:srgbClr val="0E7C86"/>
          </a:solidFill>
          <a:ln w="12700">
            <a:solidFill>
              <a:srgbClr val="0E7C86"/>
            </a:solidFill>
            <a:prstDash val="solid"/>
          </a:ln>
        </p:spPr>
      </p:sp>
      <p:sp>
        <p:nvSpPr>
          <p:cNvPr id="21" name="Text 19"/>
          <p:cNvSpPr/>
          <p:nvPr/>
        </p:nvSpPr>
        <p:spPr>
          <a:xfrm>
            <a:off x="2360458" y="2880360"/>
            <a:ext cx="1153450" cy="274320"/>
          </a:xfrm>
          <a:prstGeom prst="rect">
            <a:avLst/>
          </a:prstGeom>
          <a:noFill/>
          <a:ln/>
        </p:spPr>
        <p:txBody>
          <a:bodyPr wrap="square" lIns="0" tIns="0" rIns="0" bIns="0" rtlCol="0" anchor="ctr"/>
          <a:lstStyle/>
          <a:p>
            <a:pPr indent="0" marL="0">
              <a:buNone/>
            </a:pPr>
            <a:r>
              <a:rPr lang="en-US" sz="1100" b="1" dirty="0">
                <a:solidFill>
                  <a:srgbClr val="0E7C86"/>
                </a:solidFill>
                <a:latin typeface="Segoe UI" pitchFamily="34" charset="0"/>
                <a:ea typeface="Segoe UI" pitchFamily="34" charset="-122"/>
                <a:cs typeface="Segoe UI" pitchFamily="34" charset="-120"/>
              </a:rPr>
              <a:t>DEMO 2</a:t>
            </a:r>
            <a:endParaRPr lang="en-US" sz="1100" dirty="0"/>
          </a:p>
        </p:txBody>
      </p:sp>
      <p:sp>
        <p:nvSpPr>
          <p:cNvPr id="22" name="Text 20"/>
          <p:cNvSpPr/>
          <p:nvPr/>
        </p:nvSpPr>
        <p:spPr>
          <a:xfrm>
            <a:off x="2360458" y="3200400"/>
            <a:ext cx="1135162" cy="914400"/>
          </a:xfrm>
          <a:prstGeom prst="rect">
            <a:avLst/>
          </a:prstGeom>
          <a:noFill/>
          <a:ln/>
        </p:spPr>
        <p:txBody>
          <a:bodyPr wrap="square" lIns="0" tIns="0" rIns="0" bIns="0" rtlCol="0" anchor="t"/>
          <a:lstStyle/>
          <a:p>
            <a:pPr indent="0" marL="0">
              <a:buNone/>
            </a:pPr>
            <a:r>
              <a:rPr lang="en-US" sz="1400" dirty="0">
                <a:solidFill>
                  <a:srgbClr val="0B1F33"/>
                </a:solidFill>
                <a:latin typeface="Segoe UI Semibold" pitchFamily="34" charset="0"/>
                <a:ea typeface="Segoe UI Semibold" pitchFamily="34" charset="-122"/>
                <a:cs typeface="Segoe UI Semibold" pitchFamily="34" charset="-120"/>
              </a:rPr>
              <a:t>Lakehouse, Spark, Delta</a:t>
            </a:r>
            <a:endParaRPr lang="en-US" sz="1400" dirty="0"/>
          </a:p>
        </p:txBody>
      </p:sp>
      <p:sp>
        <p:nvSpPr>
          <p:cNvPr id="23" name="Text 21"/>
          <p:cNvSpPr/>
          <p:nvPr/>
        </p:nvSpPr>
        <p:spPr>
          <a:xfrm>
            <a:off x="2360458" y="4251960"/>
            <a:ext cx="1153450" cy="731520"/>
          </a:xfrm>
          <a:prstGeom prst="rect">
            <a:avLst/>
          </a:prstGeom>
          <a:noFill/>
          <a:ln/>
        </p:spPr>
        <p:txBody>
          <a:bodyPr wrap="square" lIns="0" tIns="0" rIns="0" bIns="0" rtlCol="0" anchor="b"/>
          <a:lstStyle/>
          <a:p>
            <a:pPr indent="0" marL="0">
              <a:buNone/>
            </a:pPr>
            <a:r>
              <a:rPr lang="en-US" sz="3600" dirty="0">
                <a:solidFill>
                  <a:srgbClr val="0E7C86"/>
                </a:solidFill>
                <a:latin typeface="Segoe UI Semibold" pitchFamily="34" charset="0"/>
                <a:ea typeface="Segoe UI Semibold" pitchFamily="34" charset="-122"/>
                <a:cs typeface="Segoe UI Semibold" pitchFamily="34" charset="-120"/>
              </a:rPr>
              <a:t>15</a:t>
            </a:r>
            <a:pPr indent="0" marL="0">
              <a:buNone/>
            </a:pPr>
            <a:r>
              <a:rPr lang="en-US" sz="1400" dirty="0">
                <a:solidFill>
                  <a:srgbClr val="5B6B7A"/>
                </a:solidFill>
                <a:latin typeface="Segoe UI" pitchFamily="34" charset="0"/>
                <a:ea typeface="Segoe UI" pitchFamily="34" charset="-122"/>
                <a:cs typeface="Segoe UI" pitchFamily="34" charset="-120"/>
              </a:rPr>
              <a:t> min</a:t>
            </a:r>
            <a:endParaRPr lang="en-US" sz="3600" dirty="0"/>
          </a:p>
        </p:txBody>
      </p:sp>
      <p:sp>
        <p:nvSpPr>
          <p:cNvPr id="24" name="Text 22"/>
          <p:cNvSpPr/>
          <p:nvPr/>
        </p:nvSpPr>
        <p:spPr>
          <a:xfrm>
            <a:off x="2360458" y="5120640"/>
            <a:ext cx="1153450" cy="274320"/>
          </a:xfrm>
          <a:prstGeom prst="rect">
            <a:avLst/>
          </a:prstGeom>
          <a:noFill/>
          <a:ln/>
        </p:spPr>
        <p:txBody>
          <a:bodyPr wrap="square" lIns="0" tIns="0" rIns="0" bIns="0" rtlCol="0" anchor="ctr"/>
          <a:lstStyle/>
          <a:p>
            <a:pPr indent="0" marL="0">
              <a:buNone/>
            </a:pPr>
            <a:r>
              <a:rPr lang="en-US" sz="1100" dirty="0">
                <a:solidFill>
                  <a:srgbClr val="5B6B7A"/>
                </a:solidFill>
                <a:latin typeface="Segoe UI" pitchFamily="34" charset="0"/>
                <a:ea typeface="Segoe UI" pitchFamily="34" charset="-122"/>
                <a:cs typeface="Segoe UI" pitchFamily="34" charset="-120"/>
              </a:rPr>
              <a:t>Slides 5–6</a:t>
            </a:r>
            <a:endParaRPr lang="en-US" sz="1100" dirty="0"/>
          </a:p>
        </p:txBody>
      </p:sp>
      <p:sp>
        <p:nvSpPr>
          <p:cNvPr id="25" name="Shape 23"/>
          <p:cNvSpPr/>
          <p:nvPr/>
        </p:nvSpPr>
        <p:spPr>
          <a:xfrm>
            <a:off x="3769941" y="2651760"/>
            <a:ext cx="1427770" cy="3017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26" name="Shape 24"/>
          <p:cNvSpPr/>
          <p:nvPr/>
        </p:nvSpPr>
        <p:spPr>
          <a:xfrm>
            <a:off x="3769941" y="2651760"/>
            <a:ext cx="73152" cy="3017520"/>
          </a:xfrm>
          <a:prstGeom prst="rect">
            <a:avLst/>
          </a:prstGeom>
          <a:solidFill>
            <a:srgbClr val="0E7C86"/>
          </a:solidFill>
          <a:ln w="12700">
            <a:solidFill>
              <a:srgbClr val="0E7C86"/>
            </a:solidFill>
            <a:prstDash val="solid"/>
          </a:ln>
        </p:spPr>
      </p:sp>
      <p:sp>
        <p:nvSpPr>
          <p:cNvPr id="27" name="Text 25"/>
          <p:cNvSpPr/>
          <p:nvPr/>
        </p:nvSpPr>
        <p:spPr>
          <a:xfrm>
            <a:off x="3971109" y="2880360"/>
            <a:ext cx="1153450" cy="274320"/>
          </a:xfrm>
          <a:prstGeom prst="rect">
            <a:avLst/>
          </a:prstGeom>
          <a:noFill/>
          <a:ln/>
        </p:spPr>
        <p:txBody>
          <a:bodyPr wrap="square" lIns="0" tIns="0" rIns="0" bIns="0" rtlCol="0" anchor="ctr"/>
          <a:lstStyle/>
          <a:p>
            <a:pPr indent="0" marL="0">
              <a:buNone/>
            </a:pPr>
            <a:r>
              <a:rPr lang="en-US" sz="1100" b="1" dirty="0">
                <a:solidFill>
                  <a:srgbClr val="0E7C86"/>
                </a:solidFill>
                <a:latin typeface="Segoe UI" pitchFamily="34" charset="0"/>
                <a:ea typeface="Segoe UI" pitchFamily="34" charset="-122"/>
                <a:cs typeface="Segoe UI" pitchFamily="34" charset="-120"/>
              </a:rPr>
              <a:t>DEMO 3</a:t>
            </a:r>
            <a:endParaRPr lang="en-US" sz="1100" dirty="0"/>
          </a:p>
        </p:txBody>
      </p:sp>
      <p:sp>
        <p:nvSpPr>
          <p:cNvPr id="28" name="Text 26"/>
          <p:cNvSpPr/>
          <p:nvPr/>
        </p:nvSpPr>
        <p:spPr>
          <a:xfrm>
            <a:off x="3971109" y="3200400"/>
            <a:ext cx="1135162" cy="914400"/>
          </a:xfrm>
          <a:prstGeom prst="rect">
            <a:avLst/>
          </a:prstGeom>
          <a:noFill/>
          <a:ln/>
        </p:spPr>
        <p:txBody>
          <a:bodyPr wrap="square" lIns="0" tIns="0" rIns="0" bIns="0" rtlCol="0" anchor="t"/>
          <a:lstStyle/>
          <a:p>
            <a:pPr indent="0" marL="0">
              <a:buNone/>
            </a:pPr>
            <a:r>
              <a:rPr lang="en-US" sz="1400" dirty="0">
                <a:solidFill>
                  <a:srgbClr val="0B1F33"/>
                </a:solidFill>
                <a:latin typeface="Segoe UI Semibold" pitchFamily="34" charset="0"/>
                <a:ea typeface="Segoe UI Semibold" pitchFamily="34" charset="-122"/>
                <a:cs typeface="Segoe UI Semibold" pitchFamily="34" charset="-120"/>
              </a:rPr>
              <a:t>Warehouse and T-SQL</a:t>
            </a:r>
            <a:endParaRPr lang="en-US" sz="1400" dirty="0"/>
          </a:p>
        </p:txBody>
      </p:sp>
      <p:sp>
        <p:nvSpPr>
          <p:cNvPr id="29" name="Text 27"/>
          <p:cNvSpPr/>
          <p:nvPr/>
        </p:nvSpPr>
        <p:spPr>
          <a:xfrm>
            <a:off x="3971109" y="4251960"/>
            <a:ext cx="1153450" cy="731520"/>
          </a:xfrm>
          <a:prstGeom prst="rect">
            <a:avLst/>
          </a:prstGeom>
          <a:noFill/>
          <a:ln/>
        </p:spPr>
        <p:txBody>
          <a:bodyPr wrap="square" lIns="0" tIns="0" rIns="0" bIns="0" rtlCol="0" anchor="b"/>
          <a:lstStyle/>
          <a:p>
            <a:pPr indent="0" marL="0">
              <a:buNone/>
            </a:pPr>
            <a:r>
              <a:rPr lang="en-US" sz="3600" dirty="0">
                <a:solidFill>
                  <a:srgbClr val="0E7C86"/>
                </a:solidFill>
                <a:latin typeface="Segoe UI Semibold" pitchFamily="34" charset="0"/>
                <a:ea typeface="Segoe UI Semibold" pitchFamily="34" charset="-122"/>
                <a:cs typeface="Segoe UI Semibold" pitchFamily="34" charset="-120"/>
              </a:rPr>
              <a:t>10</a:t>
            </a:r>
            <a:pPr indent="0" marL="0">
              <a:buNone/>
            </a:pPr>
            <a:r>
              <a:rPr lang="en-US" sz="1400" dirty="0">
                <a:solidFill>
                  <a:srgbClr val="5B6B7A"/>
                </a:solidFill>
                <a:latin typeface="Segoe UI" pitchFamily="34" charset="0"/>
                <a:ea typeface="Segoe UI" pitchFamily="34" charset="-122"/>
                <a:cs typeface="Segoe UI" pitchFamily="34" charset="-120"/>
              </a:rPr>
              <a:t> min</a:t>
            </a:r>
            <a:endParaRPr lang="en-US" sz="3600" dirty="0"/>
          </a:p>
        </p:txBody>
      </p:sp>
      <p:sp>
        <p:nvSpPr>
          <p:cNvPr id="30" name="Text 28"/>
          <p:cNvSpPr/>
          <p:nvPr/>
        </p:nvSpPr>
        <p:spPr>
          <a:xfrm>
            <a:off x="3971109" y="5120640"/>
            <a:ext cx="1153450" cy="274320"/>
          </a:xfrm>
          <a:prstGeom prst="rect">
            <a:avLst/>
          </a:prstGeom>
          <a:noFill/>
          <a:ln/>
        </p:spPr>
        <p:txBody>
          <a:bodyPr wrap="square" lIns="0" tIns="0" rIns="0" bIns="0" rtlCol="0" anchor="ctr"/>
          <a:lstStyle/>
          <a:p>
            <a:pPr indent="0" marL="0">
              <a:buNone/>
            </a:pPr>
            <a:r>
              <a:rPr lang="en-US" sz="1100" dirty="0">
                <a:solidFill>
                  <a:srgbClr val="5B6B7A"/>
                </a:solidFill>
                <a:latin typeface="Segoe UI" pitchFamily="34" charset="0"/>
                <a:ea typeface="Segoe UI" pitchFamily="34" charset="-122"/>
                <a:cs typeface="Segoe UI" pitchFamily="34" charset="-120"/>
              </a:rPr>
              <a:t>Slides 7–8</a:t>
            </a:r>
            <a:endParaRPr lang="en-US" sz="1100" dirty="0"/>
          </a:p>
        </p:txBody>
      </p:sp>
      <p:sp>
        <p:nvSpPr>
          <p:cNvPr id="31" name="Shape 29"/>
          <p:cNvSpPr/>
          <p:nvPr/>
        </p:nvSpPr>
        <p:spPr>
          <a:xfrm>
            <a:off x="5380591" y="2651760"/>
            <a:ext cx="1427770" cy="3017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32" name="Shape 30"/>
          <p:cNvSpPr/>
          <p:nvPr/>
        </p:nvSpPr>
        <p:spPr>
          <a:xfrm>
            <a:off x="5380591" y="2651760"/>
            <a:ext cx="73152" cy="3017520"/>
          </a:xfrm>
          <a:prstGeom prst="rect">
            <a:avLst/>
          </a:prstGeom>
          <a:solidFill>
            <a:srgbClr val="0E7C86"/>
          </a:solidFill>
          <a:ln w="12700">
            <a:solidFill>
              <a:srgbClr val="0E7C86"/>
            </a:solidFill>
            <a:prstDash val="solid"/>
          </a:ln>
        </p:spPr>
      </p:sp>
      <p:sp>
        <p:nvSpPr>
          <p:cNvPr id="33" name="Text 31"/>
          <p:cNvSpPr/>
          <p:nvPr/>
        </p:nvSpPr>
        <p:spPr>
          <a:xfrm>
            <a:off x="5581759" y="2880360"/>
            <a:ext cx="1153450" cy="274320"/>
          </a:xfrm>
          <a:prstGeom prst="rect">
            <a:avLst/>
          </a:prstGeom>
          <a:noFill/>
          <a:ln/>
        </p:spPr>
        <p:txBody>
          <a:bodyPr wrap="square" lIns="0" tIns="0" rIns="0" bIns="0" rtlCol="0" anchor="ctr"/>
          <a:lstStyle/>
          <a:p>
            <a:pPr indent="0" marL="0">
              <a:buNone/>
            </a:pPr>
            <a:r>
              <a:rPr lang="en-US" sz="1100" b="1" dirty="0">
                <a:solidFill>
                  <a:srgbClr val="0E7C86"/>
                </a:solidFill>
                <a:latin typeface="Segoe UI" pitchFamily="34" charset="0"/>
                <a:ea typeface="Segoe UI" pitchFamily="34" charset="-122"/>
                <a:cs typeface="Segoe UI" pitchFamily="34" charset="-120"/>
              </a:rPr>
              <a:t>DEMO 4</a:t>
            </a:r>
            <a:endParaRPr lang="en-US" sz="1100" dirty="0"/>
          </a:p>
        </p:txBody>
      </p:sp>
      <p:sp>
        <p:nvSpPr>
          <p:cNvPr id="34" name="Text 32"/>
          <p:cNvSpPr/>
          <p:nvPr/>
        </p:nvSpPr>
        <p:spPr>
          <a:xfrm>
            <a:off x="5581759" y="3200400"/>
            <a:ext cx="1135162" cy="914400"/>
          </a:xfrm>
          <a:prstGeom prst="rect">
            <a:avLst/>
          </a:prstGeom>
          <a:noFill/>
          <a:ln/>
        </p:spPr>
        <p:txBody>
          <a:bodyPr wrap="square" lIns="0" tIns="0" rIns="0" bIns="0" rtlCol="0" anchor="t"/>
          <a:lstStyle/>
          <a:p>
            <a:pPr indent="0" marL="0">
              <a:buNone/>
            </a:pPr>
            <a:r>
              <a:rPr lang="en-US" sz="1400" dirty="0">
                <a:solidFill>
                  <a:srgbClr val="0B1F33"/>
                </a:solidFill>
                <a:latin typeface="Segoe UI Semibold" pitchFamily="34" charset="0"/>
                <a:ea typeface="Segoe UI Semibold" pitchFamily="34" charset="-122"/>
                <a:cs typeface="Segoe UI Semibold" pitchFamily="34" charset="-120"/>
              </a:rPr>
              <a:t>Synapse migration</a:t>
            </a:r>
            <a:endParaRPr lang="en-US" sz="1400" dirty="0"/>
          </a:p>
        </p:txBody>
      </p:sp>
      <p:sp>
        <p:nvSpPr>
          <p:cNvPr id="35" name="Text 33"/>
          <p:cNvSpPr/>
          <p:nvPr/>
        </p:nvSpPr>
        <p:spPr>
          <a:xfrm>
            <a:off x="5581759" y="4251960"/>
            <a:ext cx="1153450" cy="731520"/>
          </a:xfrm>
          <a:prstGeom prst="rect">
            <a:avLst/>
          </a:prstGeom>
          <a:noFill/>
          <a:ln/>
        </p:spPr>
        <p:txBody>
          <a:bodyPr wrap="square" lIns="0" tIns="0" rIns="0" bIns="0" rtlCol="0" anchor="b"/>
          <a:lstStyle/>
          <a:p>
            <a:pPr indent="0" marL="0">
              <a:buNone/>
            </a:pPr>
            <a:r>
              <a:rPr lang="en-US" sz="3600" dirty="0">
                <a:solidFill>
                  <a:srgbClr val="0E7C86"/>
                </a:solidFill>
                <a:latin typeface="Segoe UI Semibold" pitchFamily="34" charset="0"/>
                <a:ea typeface="Segoe UI Semibold" pitchFamily="34" charset="-122"/>
                <a:cs typeface="Segoe UI Semibold" pitchFamily="34" charset="-120"/>
              </a:rPr>
              <a:t>12</a:t>
            </a:r>
            <a:pPr indent="0" marL="0">
              <a:buNone/>
            </a:pPr>
            <a:r>
              <a:rPr lang="en-US" sz="1400" dirty="0">
                <a:solidFill>
                  <a:srgbClr val="5B6B7A"/>
                </a:solidFill>
                <a:latin typeface="Segoe UI" pitchFamily="34" charset="0"/>
                <a:ea typeface="Segoe UI" pitchFamily="34" charset="-122"/>
                <a:cs typeface="Segoe UI" pitchFamily="34" charset="-120"/>
              </a:rPr>
              <a:t> min</a:t>
            </a:r>
            <a:endParaRPr lang="en-US" sz="3600" dirty="0"/>
          </a:p>
        </p:txBody>
      </p:sp>
      <p:sp>
        <p:nvSpPr>
          <p:cNvPr id="36" name="Text 34"/>
          <p:cNvSpPr/>
          <p:nvPr/>
        </p:nvSpPr>
        <p:spPr>
          <a:xfrm>
            <a:off x="5581759" y="5120640"/>
            <a:ext cx="1153450" cy="274320"/>
          </a:xfrm>
          <a:prstGeom prst="rect">
            <a:avLst/>
          </a:prstGeom>
          <a:noFill/>
          <a:ln/>
        </p:spPr>
        <p:txBody>
          <a:bodyPr wrap="square" lIns="0" tIns="0" rIns="0" bIns="0" rtlCol="0" anchor="ctr"/>
          <a:lstStyle/>
          <a:p>
            <a:pPr indent="0" marL="0">
              <a:buNone/>
            </a:pPr>
            <a:r>
              <a:rPr lang="en-US" sz="1100" dirty="0">
                <a:solidFill>
                  <a:srgbClr val="5B6B7A"/>
                </a:solidFill>
                <a:latin typeface="Segoe UI" pitchFamily="34" charset="0"/>
                <a:ea typeface="Segoe UI" pitchFamily="34" charset="-122"/>
                <a:cs typeface="Segoe UI" pitchFamily="34" charset="-120"/>
              </a:rPr>
              <a:t>Slides 9–11</a:t>
            </a:r>
            <a:endParaRPr lang="en-US" sz="1100" dirty="0"/>
          </a:p>
        </p:txBody>
      </p:sp>
      <p:sp>
        <p:nvSpPr>
          <p:cNvPr id="37" name="Shape 35"/>
          <p:cNvSpPr/>
          <p:nvPr/>
        </p:nvSpPr>
        <p:spPr>
          <a:xfrm>
            <a:off x="6991241" y="2651760"/>
            <a:ext cx="1427770" cy="3017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38" name="Shape 36"/>
          <p:cNvSpPr/>
          <p:nvPr/>
        </p:nvSpPr>
        <p:spPr>
          <a:xfrm>
            <a:off x="6991241" y="2651760"/>
            <a:ext cx="73152" cy="3017520"/>
          </a:xfrm>
          <a:prstGeom prst="rect">
            <a:avLst/>
          </a:prstGeom>
          <a:solidFill>
            <a:srgbClr val="0E7C86"/>
          </a:solidFill>
          <a:ln w="12700">
            <a:solidFill>
              <a:srgbClr val="0E7C86"/>
            </a:solidFill>
            <a:prstDash val="solid"/>
          </a:ln>
        </p:spPr>
      </p:sp>
      <p:sp>
        <p:nvSpPr>
          <p:cNvPr id="39" name="Text 37"/>
          <p:cNvSpPr/>
          <p:nvPr/>
        </p:nvSpPr>
        <p:spPr>
          <a:xfrm>
            <a:off x="7192409" y="2880360"/>
            <a:ext cx="1153450" cy="274320"/>
          </a:xfrm>
          <a:prstGeom prst="rect">
            <a:avLst/>
          </a:prstGeom>
          <a:noFill/>
          <a:ln/>
        </p:spPr>
        <p:txBody>
          <a:bodyPr wrap="square" lIns="0" tIns="0" rIns="0" bIns="0" rtlCol="0" anchor="ctr"/>
          <a:lstStyle/>
          <a:p>
            <a:pPr indent="0" marL="0">
              <a:buNone/>
            </a:pPr>
            <a:r>
              <a:rPr lang="en-US" sz="1100" b="1" dirty="0">
                <a:solidFill>
                  <a:srgbClr val="0E7C86"/>
                </a:solidFill>
                <a:latin typeface="Segoe UI" pitchFamily="34" charset="0"/>
                <a:ea typeface="Segoe UI" pitchFamily="34" charset="-122"/>
                <a:cs typeface="Segoe UI" pitchFamily="34" charset="-120"/>
              </a:rPr>
              <a:t>DEMO 5</a:t>
            </a:r>
            <a:endParaRPr lang="en-US" sz="1100" dirty="0"/>
          </a:p>
        </p:txBody>
      </p:sp>
      <p:sp>
        <p:nvSpPr>
          <p:cNvPr id="40" name="Text 38"/>
          <p:cNvSpPr/>
          <p:nvPr/>
        </p:nvSpPr>
        <p:spPr>
          <a:xfrm>
            <a:off x="7192409" y="3200400"/>
            <a:ext cx="1135162" cy="914400"/>
          </a:xfrm>
          <a:prstGeom prst="rect">
            <a:avLst/>
          </a:prstGeom>
          <a:noFill/>
          <a:ln/>
        </p:spPr>
        <p:txBody>
          <a:bodyPr wrap="square" lIns="0" tIns="0" rIns="0" bIns="0" rtlCol="0" anchor="t"/>
          <a:lstStyle/>
          <a:p>
            <a:pPr indent="0" marL="0">
              <a:buNone/>
            </a:pPr>
            <a:r>
              <a:rPr lang="en-US" sz="1400" dirty="0">
                <a:solidFill>
                  <a:srgbClr val="0B1F33"/>
                </a:solidFill>
                <a:latin typeface="Segoe UI Semibold" pitchFamily="34" charset="0"/>
                <a:ea typeface="Segoe UI Semibold" pitchFamily="34" charset="-122"/>
                <a:cs typeface="Segoe UI Semibold" pitchFamily="34" charset="-120"/>
              </a:rPr>
              <a:t>Shortcuts and mirroring</a:t>
            </a:r>
            <a:endParaRPr lang="en-US" sz="1400" dirty="0"/>
          </a:p>
        </p:txBody>
      </p:sp>
      <p:sp>
        <p:nvSpPr>
          <p:cNvPr id="41" name="Text 39"/>
          <p:cNvSpPr/>
          <p:nvPr/>
        </p:nvSpPr>
        <p:spPr>
          <a:xfrm>
            <a:off x="7192409" y="4251960"/>
            <a:ext cx="1153450" cy="731520"/>
          </a:xfrm>
          <a:prstGeom prst="rect">
            <a:avLst/>
          </a:prstGeom>
          <a:noFill/>
          <a:ln/>
        </p:spPr>
        <p:txBody>
          <a:bodyPr wrap="square" lIns="0" tIns="0" rIns="0" bIns="0" rtlCol="0" anchor="b"/>
          <a:lstStyle/>
          <a:p>
            <a:pPr indent="0" marL="0">
              <a:buNone/>
            </a:pPr>
            <a:r>
              <a:rPr lang="en-US" sz="3600" dirty="0">
                <a:solidFill>
                  <a:srgbClr val="0E7C86"/>
                </a:solidFill>
                <a:latin typeface="Segoe UI Semibold" pitchFamily="34" charset="0"/>
                <a:ea typeface="Segoe UI Semibold" pitchFamily="34" charset="-122"/>
                <a:cs typeface="Segoe UI Semibold" pitchFamily="34" charset="-120"/>
              </a:rPr>
              <a:t>8</a:t>
            </a:r>
            <a:pPr indent="0" marL="0">
              <a:buNone/>
            </a:pPr>
            <a:r>
              <a:rPr lang="en-US" sz="1400" dirty="0">
                <a:solidFill>
                  <a:srgbClr val="5B6B7A"/>
                </a:solidFill>
                <a:latin typeface="Segoe UI" pitchFamily="34" charset="0"/>
                <a:ea typeface="Segoe UI" pitchFamily="34" charset="-122"/>
                <a:cs typeface="Segoe UI" pitchFamily="34" charset="-120"/>
              </a:rPr>
              <a:t> min</a:t>
            </a:r>
            <a:endParaRPr lang="en-US" sz="3600" dirty="0"/>
          </a:p>
        </p:txBody>
      </p:sp>
      <p:sp>
        <p:nvSpPr>
          <p:cNvPr id="42" name="Text 40"/>
          <p:cNvSpPr/>
          <p:nvPr/>
        </p:nvSpPr>
        <p:spPr>
          <a:xfrm>
            <a:off x="7192409" y="5120640"/>
            <a:ext cx="1153450" cy="274320"/>
          </a:xfrm>
          <a:prstGeom prst="rect">
            <a:avLst/>
          </a:prstGeom>
          <a:noFill/>
          <a:ln/>
        </p:spPr>
        <p:txBody>
          <a:bodyPr wrap="square" lIns="0" tIns="0" rIns="0" bIns="0" rtlCol="0" anchor="ctr"/>
          <a:lstStyle/>
          <a:p>
            <a:pPr indent="0" marL="0">
              <a:buNone/>
            </a:pPr>
            <a:r>
              <a:rPr lang="en-US" sz="1100" dirty="0">
                <a:solidFill>
                  <a:srgbClr val="5B6B7A"/>
                </a:solidFill>
                <a:latin typeface="Segoe UI" pitchFamily="34" charset="0"/>
                <a:ea typeface="Segoe UI" pitchFamily="34" charset="-122"/>
                <a:cs typeface="Segoe UI" pitchFamily="34" charset="-120"/>
              </a:rPr>
              <a:t>Slides 12–13</a:t>
            </a:r>
            <a:endParaRPr lang="en-US" sz="1100" dirty="0"/>
          </a:p>
        </p:txBody>
      </p:sp>
      <p:sp>
        <p:nvSpPr>
          <p:cNvPr id="43" name="Shape 41"/>
          <p:cNvSpPr/>
          <p:nvPr/>
        </p:nvSpPr>
        <p:spPr>
          <a:xfrm>
            <a:off x="8601891" y="2651760"/>
            <a:ext cx="1427770" cy="3017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44" name="Shape 42"/>
          <p:cNvSpPr/>
          <p:nvPr/>
        </p:nvSpPr>
        <p:spPr>
          <a:xfrm>
            <a:off x="8601891" y="2651760"/>
            <a:ext cx="73152" cy="3017520"/>
          </a:xfrm>
          <a:prstGeom prst="rect">
            <a:avLst/>
          </a:prstGeom>
          <a:solidFill>
            <a:srgbClr val="0E7C86"/>
          </a:solidFill>
          <a:ln w="12700">
            <a:solidFill>
              <a:srgbClr val="0E7C86"/>
            </a:solidFill>
            <a:prstDash val="solid"/>
          </a:ln>
        </p:spPr>
      </p:sp>
      <p:sp>
        <p:nvSpPr>
          <p:cNvPr id="45" name="Text 43"/>
          <p:cNvSpPr/>
          <p:nvPr/>
        </p:nvSpPr>
        <p:spPr>
          <a:xfrm>
            <a:off x="8803059" y="2880360"/>
            <a:ext cx="1153450" cy="274320"/>
          </a:xfrm>
          <a:prstGeom prst="rect">
            <a:avLst/>
          </a:prstGeom>
          <a:noFill/>
          <a:ln/>
        </p:spPr>
        <p:txBody>
          <a:bodyPr wrap="square" lIns="0" tIns="0" rIns="0" bIns="0" rtlCol="0" anchor="ctr"/>
          <a:lstStyle/>
          <a:p>
            <a:pPr indent="0" marL="0">
              <a:buNone/>
            </a:pPr>
            <a:r>
              <a:rPr lang="en-US" sz="1100" b="1" dirty="0">
                <a:solidFill>
                  <a:srgbClr val="0E7C86"/>
                </a:solidFill>
                <a:latin typeface="Segoe UI" pitchFamily="34" charset="0"/>
                <a:ea typeface="Segoe UI" pitchFamily="34" charset="-122"/>
                <a:cs typeface="Segoe UI" pitchFamily="34" charset="-120"/>
              </a:rPr>
              <a:t>DEMO 6</a:t>
            </a:r>
            <a:endParaRPr lang="en-US" sz="1100" dirty="0"/>
          </a:p>
        </p:txBody>
      </p:sp>
      <p:sp>
        <p:nvSpPr>
          <p:cNvPr id="46" name="Text 44"/>
          <p:cNvSpPr/>
          <p:nvPr/>
        </p:nvSpPr>
        <p:spPr>
          <a:xfrm>
            <a:off x="8803059" y="3200400"/>
            <a:ext cx="1135162" cy="914400"/>
          </a:xfrm>
          <a:prstGeom prst="rect">
            <a:avLst/>
          </a:prstGeom>
          <a:noFill/>
          <a:ln/>
        </p:spPr>
        <p:txBody>
          <a:bodyPr wrap="square" lIns="0" tIns="0" rIns="0" bIns="0" rtlCol="0" anchor="t"/>
          <a:lstStyle/>
          <a:p>
            <a:pPr indent="0" marL="0">
              <a:buNone/>
            </a:pPr>
            <a:r>
              <a:rPr lang="en-US" sz="1400" dirty="0">
                <a:solidFill>
                  <a:srgbClr val="0B1F33"/>
                </a:solidFill>
                <a:latin typeface="Segoe UI Semibold" pitchFamily="34" charset="0"/>
                <a:ea typeface="Segoe UI Semibold" pitchFamily="34" charset="-122"/>
                <a:cs typeface="Segoe UI Semibold" pitchFamily="34" charset="-120"/>
              </a:rPr>
              <a:t>Medallion patterns</a:t>
            </a:r>
            <a:endParaRPr lang="en-US" sz="1400" dirty="0"/>
          </a:p>
        </p:txBody>
      </p:sp>
      <p:sp>
        <p:nvSpPr>
          <p:cNvPr id="47" name="Text 45"/>
          <p:cNvSpPr/>
          <p:nvPr/>
        </p:nvSpPr>
        <p:spPr>
          <a:xfrm>
            <a:off x="8803059" y="4251960"/>
            <a:ext cx="1153450" cy="731520"/>
          </a:xfrm>
          <a:prstGeom prst="rect">
            <a:avLst/>
          </a:prstGeom>
          <a:noFill/>
          <a:ln/>
        </p:spPr>
        <p:txBody>
          <a:bodyPr wrap="square" lIns="0" tIns="0" rIns="0" bIns="0" rtlCol="0" anchor="b"/>
          <a:lstStyle/>
          <a:p>
            <a:pPr indent="0" marL="0">
              <a:buNone/>
            </a:pPr>
            <a:r>
              <a:rPr lang="en-US" sz="3600" dirty="0">
                <a:solidFill>
                  <a:srgbClr val="0E7C86"/>
                </a:solidFill>
                <a:latin typeface="Segoe UI Semibold" pitchFamily="34" charset="0"/>
                <a:ea typeface="Segoe UI Semibold" pitchFamily="34" charset="-122"/>
                <a:cs typeface="Segoe UI Semibold" pitchFamily="34" charset="-120"/>
              </a:rPr>
              <a:t>10</a:t>
            </a:r>
            <a:pPr indent="0" marL="0">
              <a:buNone/>
            </a:pPr>
            <a:r>
              <a:rPr lang="en-US" sz="1400" dirty="0">
                <a:solidFill>
                  <a:srgbClr val="5B6B7A"/>
                </a:solidFill>
                <a:latin typeface="Segoe UI" pitchFamily="34" charset="0"/>
                <a:ea typeface="Segoe UI" pitchFamily="34" charset="-122"/>
                <a:cs typeface="Segoe UI" pitchFamily="34" charset="-120"/>
              </a:rPr>
              <a:t> min</a:t>
            </a:r>
            <a:endParaRPr lang="en-US" sz="3600" dirty="0"/>
          </a:p>
        </p:txBody>
      </p:sp>
      <p:sp>
        <p:nvSpPr>
          <p:cNvPr id="48" name="Text 46"/>
          <p:cNvSpPr/>
          <p:nvPr/>
        </p:nvSpPr>
        <p:spPr>
          <a:xfrm>
            <a:off x="8803059" y="5120640"/>
            <a:ext cx="1153450" cy="274320"/>
          </a:xfrm>
          <a:prstGeom prst="rect">
            <a:avLst/>
          </a:prstGeom>
          <a:noFill/>
          <a:ln/>
        </p:spPr>
        <p:txBody>
          <a:bodyPr wrap="square" lIns="0" tIns="0" rIns="0" bIns="0" rtlCol="0" anchor="ctr"/>
          <a:lstStyle/>
          <a:p>
            <a:pPr indent="0" marL="0">
              <a:buNone/>
            </a:pPr>
            <a:r>
              <a:rPr lang="en-US" sz="1100" dirty="0">
                <a:solidFill>
                  <a:srgbClr val="5B6B7A"/>
                </a:solidFill>
                <a:latin typeface="Segoe UI" pitchFamily="34" charset="0"/>
                <a:ea typeface="Segoe UI" pitchFamily="34" charset="-122"/>
                <a:cs typeface="Segoe UI" pitchFamily="34" charset="-120"/>
              </a:rPr>
              <a:t>Slides 14–15</a:t>
            </a:r>
            <a:endParaRPr lang="en-US" sz="1100" dirty="0"/>
          </a:p>
        </p:txBody>
      </p:sp>
      <p:sp>
        <p:nvSpPr>
          <p:cNvPr id="49" name="Shape 47"/>
          <p:cNvSpPr/>
          <p:nvPr/>
        </p:nvSpPr>
        <p:spPr>
          <a:xfrm>
            <a:off x="10212542" y="2651760"/>
            <a:ext cx="1427770" cy="3017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50" name="Shape 48"/>
          <p:cNvSpPr/>
          <p:nvPr/>
        </p:nvSpPr>
        <p:spPr>
          <a:xfrm>
            <a:off x="10212542" y="2651760"/>
            <a:ext cx="73152" cy="3017520"/>
          </a:xfrm>
          <a:prstGeom prst="rect">
            <a:avLst/>
          </a:prstGeom>
          <a:solidFill>
            <a:srgbClr val="0E7C86"/>
          </a:solidFill>
          <a:ln w="12700">
            <a:solidFill>
              <a:srgbClr val="0E7C86"/>
            </a:solidFill>
            <a:prstDash val="solid"/>
          </a:ln>
        </p:spPr>
      </p:sp>
      <p:sp>
        <p:nvSpPr>
          <p:cNvPr id="51" name="Text 49"/>
          <p:cNvSpPr/>
          <p:nvPr/>
        </p:nvSpPr>
        <p:spPr>
          <a:xfrm>
            <a:off x="10413710" y="2880360"/>
            <a:ext cx="1153450" cy="274320"/>
          </a:xfrm>
          <a:prstGeom prst="rect">
            <a:avLst/>
          </a:prstGeom>
          <a:noFill/>
          <a:ln/>
        </p:spPr>
        <p:txBody>
          <a:bodyPr wrap="square" lIns="0" tIns="0" rIns="0" bIns="0" rtlCol="0" anchor="ctr"/>
          <a:lstStyle/>
          <a:p>
            <a:pPr indent="0" marL="0">
              <a:buNone/>
            </a:pPr>
            <a:r>
              <a:rPr lang="en-US" sz="1100" b="1" dirty="0">
                <a:solidFill>
                  <a:srgbClr val="0E7C86"/>
                </a:solidFill>
                <a:latin typeface="Segoe UI" pitchFamily="34" charset="0"/>
                <a:ea typeface="Segoe UI" pitchFamily="34" charset="-122"/>
                <a:cs typeface="Segoe UI" pitchFamily="34" charset="-120"/>
              </a:rPr>
              <a:t>DEMO 7</a:t>
            </a:r>
            <a:endParaRPr lang="en-US" sz="1100" dirty="0"/>
          </a:p>
        </p:txBody>
      </p:sp>
      <p:sp>
        <p:nvSpPr>
          <p:cNvPr id="52" name="Text 50"/>
          <p:cNvSpPr/>
          <p:nvPr/>
        </p:nvSpPr>
        <p:spPr>
          <a:xfrm>
            <a:off x="10413710" y="3200400"/>
            <a:ext cx="1135162" cy="914400"/>
          </a:xfrm>
          <a:prstGeom prst="rect">
            <a:avLst/>
          </a:prstGeom>
          <a:noFill/>
          <a:ln/>
        </p:spPr>
        <p:txBody>
          <a:bodyPr wrap="square" lIns="0" tIns="0" rIns="0" bIns="0" rtlCol="0" anchor="t"/>
          <a:lstStyle/>
          <a:p>
            <a:pPr indent="0" marL="0">
              <a:buNone/>
            </a:pPr>
            <a:r>
              <a:rPr lang="en-US" sz="1400" dirty="0">
                <a:solidFill>
                  <a:srgbClr val="0B1F33"/>
                </a:solidFill>
                <a:latin typeface="Segoe UI Semibold" pitchFamily="34" charset="0"/>
                <a:ea typeface="Segoe UI Semibold" pitchFamily="34" charset="-122"/>
                <a:cs typeface="Segoe UI Semibold" pitchFamily="34" charset="-120"/>
              </a:rPr>
              <a:t>Git and deployment</a:t>
            </a:r>
            <a:endParaRPr lang="en-US" sz="1400" dirty="0"/>
          </a:p>
        </p:txBody>
      </p:sp>
      <p:sp>
        <p:nvSpPr>
          <p:cNvPr id="53" name="Text 51"/>
          <p:cNvSpPr/>
          <p:nvPr/>
        </p:nvSpPr>
        <p:spPr>
          <a:xfrm>
            <a:off x="10413710" y="4251960"/>
            <a:ext cx="1153450" cy="731520"/>
          </a:xfrm>
          <a:prstGeom prst="rect">
            <a:avLst/>
          </a:prstGeom>
          <a:noFill/>
          <a:ln/>
        </p:spPr>
        <p:txBody>
          <a:bodyPr wrap="square" lIns="0" tIns="0" rIns="0" bIns="0" rtlCol="0" anchor="b"/>
          <a:lstStyle/>
          <a:p>
            <a:pPr indent="0" marL="0">
              <a:buNone/>
            </a:pPr>
            <a:r>
              <a:rPr lang="en-US" sz="3600" dirty="0">
                <a:solidFill>
                  <a:srgbClr val="0E7C86"/>
                </a:solidFill>
                <a:latin typeface="Segoe UI Semibold" pitchFamily="34" charset="0"/>
                <a:ea typeface="Segoe UI Semibold" pitchFamily="34" charset="-122"/>
                <a:cs typeface="Segoe UI Semibold" pitchFamily="34" charset="-120"/>
              </a:rPr>
              <a:t>10</a:t>
            </a:r>
            <a:pPr indent="0" marL="0">
              <a:buNone/>
            </a:pPr>
            <a:r>
              <a:rPr lang="en-US" sz="1400" dirty="0">
                <a:solidFill>
                  <a:srgbClr val="5B6B7A"/>
                </a:solidFill>
                <a:latin typeface="Segoe UI" pitchFamily="34" charset="0"/>
                <a:ea typeface="Segoe UI" pitchFamily="34" charset="-122"/>
                <a:cs typeface="Segoe UI" pitchFamily="34" charset="-120"/>
              </a:rPr>
              <a:t> min</a:t>
            </a:r>
            <a:endParaRPr lang="en-US" sz="3600" dirty="0"/>
          </a:p>
        </p:txBody>
      </p:sp>
      <p:sp>
        <p:nvSpPr>
          <p:cNvPr id="54" name="Text 52"/>
          <p:cNvSpPr/>
          <p:nvPr/>
        </p:nvSpPr>
        <p:spPr>
          <a:xfrm>
            <a:off x="10413710" y="5120640"/>
            <a:ext cx="1153450" cy="274320"/>
          </a:xfrm>
          <a:prstGeom prst="rect">
            <a:avLst/>
          </a:prstGeom>
          <a:noFill/>
          <a:ln/>
        </p:spPr>
        <p:txBody>
          <a:bodyPr wrap="square" lIns="0" tIns="0" rIns="0" bIns="0" rtlCol="0" anchor="ctr"/>
          <a:lstStyle/>
          <a:p>
            <a:pPr indent="0" marL="0">
              <a:buNone/>
            </a:pPr>
            <a:r>
              <a:rPr lang="en-US" sz="1100" dirty="0">
                <a:solidFill>
                  <a:srgbClr val="5B6B7A"/>
                </a:solidFill>
                <a:latin typeface="Segoe UI" pitchFamily="34" charset="0"/>
                <a:ea typeface="Segoe UI" pitchFamily="34" charset="-122"/>
                <a:cs typeface="Segoe UI" pitchFamily="34" charset="-120"/>
              </a:rPr>
              <a:t>Slides 17–18</a:t>
            </a:r>
            <a:endParaRPr lang="en-US" sz="1100" dirty="0"/>
          </a:p>
        </p:txBody>
      </p:sp>
      <p:sp>
        <p:nvSpPr>
          <p:cNvPr id="55" name="Text 53"/>
          <p:cNvSpPr/>
          <p:nvPr/>
        </p:nvSpPr>
        <p:spPr>
          <a:xfrm>
            <a:off x="548640" y="5852160"/>
            <a:ext cx="11091672" cy="274320"/>
          </a:xfrm>
          <a:prstGeom prst="rect">
            <a:avLst/>
          </a:prstGeom>
          <a:noFill/>
          <a:ln/>
        </p:spPr>
        <p:txBody>
          <a:bodyPr wrap="square" lIns="0" tIns="0" rIns="0" bIns="0" rtlCol="0" anchor="ctr"/>
          <a:lstStyle/>
          <a:p>
            <a:pPr indent="0" marL="0">
              <a:buNone/>
            </a:pPr>
            <a:r>
              <a:rPr lang="en-US" sz="1100" dirty="0">
                <a:solidFill>
                  <a:srgbClr val="5B6B7A"/>
                </a:solidFill>
                <a:latin typeface="Segoe UI" pitchFamily="34" charset="0"/>
                <a:ea typeface="Segoe UI" pitchFamily="34" charset="-122"/>
                <a:cs typeface="Segoe UI" pitchFamily="34" charset="-120"/>
              </a:rPr>
              <a:t>Demo minutes match the delivery guide run-of-show. Each demo follows the concept slides listed on its card.</a:t>
            </a:r>
            <a:endParaRPr lang="en-US" sz="1100" dirty="0"/>
          </a:p>
        </p:txBody>
      </p:sp>
      <p:sp>
        <p:nvSpPr>
          <p:cNvPr id="56" name="Text 54"/>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57" name="Text 55"/>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CONCEPT</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One platform: one copy of data, many engines</a:t>
            </a:r>
            <a:endParaRPr lang="en-US" sz="3000" dirty="0"/>
          </a:p>
        </p:txBody>
      </p:sp>
      <p:sp>
        <p:nvSpPr>
          <p:cNvPr id="5" name="Shape 3"/>
          <p:cNvSpPr/>
          <p:nvPr/>
        </p:nvSpPr>
        <p:spPr>
          <a:xfrm>
            <a:off x="548640" y="1691640"/>
            <a:ext cx="2635758" cy="310896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6" name="Shape 4"/>
          <p:cNvSpPr/>
          <p:nvPr/>
        </p:nvSpPr>
        <p:spPr>
          <a:xfrm>
            <a:off x="548640" y="1691640"/>
            <a:ext cx="73152" cy="3108960"/>
          </a:xfrm>
          <a:prstGeom prst="rect">
            <a:avLst/>
          </a:prstGeom>
          <a:solidFill>
            <a:srgbClr val="0E7C86"/>
          </a:solidFill>
          <a:ln w="12700">
            <a:solidFill>
              <a:srgbClr val="0E7C86"/>
            </a:solidFill>
            <a:prstDash val="solid"/>
          </a:ln>
        </p:spPr>
      </p:sp>
      <p:sp>
        <p:nvSpPr>
          <p:cNvPr id="7" name="Shape 5"/>
          <p:cNvSpPr/>
          <p:nvPr/>
        </p:nvSpPr>
        <p:spPr>
          <a:xfrm>
            <a:off x="822960" y="1965960"/>
            <a:ext cx="731520" cy="731520"/>
          </a:xfrm>
          <a:prstGeom prst="ellipse">
            <a:avLst/>
          </a:prstGeom>
          <a:solidFill>
            <a:srgbClr val="0E7C86"/>
          </a:solidFill>
          <a:ln w="12700">
            <a:solidFill>
              <a:srgbClr val="0E7C86"/>
            </a:solidFill>
            <a:prstDash val="solid"/>
          </a:ln>
        </p:spPr>
      </p:sp>
      <p:pic>
        <p:nvPicPr>
          <p:cNvPr id="8" name="Image 0" descr="preencoded.png">    </p:cNvPr>
          <p:cNvPicPr>
            <a:picLocks noChangeAspect="1"/>
          </p:cNvPicPr>
          <p:nvPr/>
        </p:nvPicPr>
        <p:blipFill>
          <a:blip r:embed="rId1"/>
          <a:stretch>
            <a:fillRect/>
          </a:stretch>
        </p:blipFill>
        <p:spPr>
          <a:xfrm>
            <a:off x="1005840" y="2148840"/>
            <a:ext cx="365760" cy="365760"/>
          </a:xfrm>
          <a:prstGeom prst="rect">
            <a:avLst/>
          </a:prstGeom>
        </p:spPr>
      </p:pic>
      <p:sp>
        <p:nvSpPr>
          <p:cNvPr id="9" name="Text 6"/>
          <p:cNvSpPr/>
          <p:nvPr/>
        </p:nvSpPr>
        <p:spPr>
          <a:xfrm>
            <a:off x="822960" y="2926080"/>
            <a:ext cx="2178558" cy="411480"/>
          </a:xfrm>
          <a:prstGeom prst="rect">
            <a:avLst/>
          </a:prstGeom>
          <a:noFill/>
          <a:ln/>
        </p:spPr>
        <p:txBody>
          <a:bodyPr wrap="square" lIns="0" tIns="0" rIns="0" bIns="0" rtlCol="0" anchor="ctr"/>
          <a:lstStyle/>
          <a:p>
            <a:pPr indent="0" marL="0">
              <a:buNone/>
            </a:pPr>
            <a:r>
              <a:rPr lang="en-US" sz="1900" dirty="0">
                <a:solidFill>
                  <a:srgbClr val="0B1F33"/>
                </a:solidFill>
                <a:latin typeface="Segoe UI Semibold" pitchFamily="34" charset="0"/>
                <a:ea typeface="Segoe UI Semibold" pitchFamily="34" charset="-122"/>
                <a:cs typeface="Segoe UI Semibold" pitchFamily="34" charset="-120"/>
              </a:rPr>
              <a:t>OneLake</a:t>
            </a:r>
            <a:endParaRPr lang="en-US" sz="1900" dirty="0"/>
          </a:p>
        </p:txBody>
      </p:sp>
      <p:sp>
        <p:nvSpPr>
          <p:cNvPr id="10" name="Text 7"/>
          <p:cNvSpPr/>
          <p:nvPr/>
        </p:nvSpPr>
        <p:spPr>
          <a:xfrm>
            <a:off x="822960" y="3429000"/>
            <a:ext cx="2178558" cy="1280160"/>
          </a:xfrm>
          <a:prstGeom prst="rect">
            <a:avLst/>
          </a:prstGeom>
          <a:noFill/>
          <a:ln/>
        </p:spPr>
        <p:txBody>
          <a:bodyPr wrap="square" lIns="0" tIns="0" rIns="0" bIns="0" rtlCol="0" anchor="t"/>
          <a:lstStyle/>
          <a:p>
            <a:pPr indent="0" marL="0">
              <a:buNone/>
            </a:pPr>
            <a:r>
              <a:rPr lang="en-US" sz="1350" dirty="0">
                <a:solidFill>
                  <a:srgbClr val="1B2733"/>
                </a:solidFill>
                <a:latin typeface="Segoe UI" pitchFamily="34" charset="0"/>
                <a:ea typeface="Segoe UI" pitchFamily="34" charset="-122"/>
                <a:cs typeface="Segoe UI" pitchFamily="34" charset="-120"/>
              </a:rPr>
              <a:t>One logical data lake for every item. Delta tables and files are read by Spark and T-SQL, with shortcuts to other sources.</a:t>
            </a:r>
            <a:endParaRPr lang="en-US" sz="1350" dirty="0"/>
          </a:p>
        </p:txBody>
      </p:sp>
      <p:sp>
        <p:nvSpPr>
          <p:cNvPr id="11" name="Shape 8"/>
          <p:cNvSpPr/>
          <p:nvPr/>
        </p:nvSpPr>
        <p:spPr>
          <a:xfrm>
            <a:off x="3367278" y="1691640"/>
            <a:ext cx="2635758" cy="310896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2" name="Shape 9"/>
          <p:cNvSpPr/>
          <p:nvPr/>
        </p:nvSpPr>
        <p:spPr>
          <a:xfrm>
            <a:off x="3367278" y="1691640"/>
            <a:ext cx="73152" cy="3108960"/>
          </a:xfrm>
          <a:prstGeom prst="rect">
            <a:avLst/>
          </a:prstGeom>
          <a:solidFill>
            <a:srgbClr val="0E7C86"/>
          </a:solidFill>
          <a:ln w="12700">
            <a:solidFill>
              <a:srgbClr val="0E7C86"/>
            </a:solidFill>
            <a:prstDash val="solid"/>
          </a:ln>
        </p:spPr>
      </p:sp>
      <p:sp>
        <p:nvSpPr>
          <p:cNvPr id="13" name="Shape 10"/>
          <p:cNvSpPr/>
          <p:nvPr/>
        </p:nvSpPr>
        <p:spPr>
          <a:xfrm>
            <a:off x="3641598" y="1965960"/>
            <a:ext cx="731520" cy="731520"/>
          </a:xfrm>
          <a:prstGeom prst="ellipse">
            <a:avLst/>
          </a:prstGeom>
          <a:solidFill>
            <a:srgbClr val="0E7C86"/>
          </a:solidFill>
          <a:ln w="12700">
            <a:solidFill>
              <a:srgbClr val="0E7C86"/>
            </a:solidFill>
            <a:prstDash val="solid"/>
          </a:ln>
        </p:spPr>
      </p:sp>
      <p:pic>
        <p:nvPicPr>
          <p:cNvPr id="14" name="Image 1" descr="preencoded.png">    </p:cNvPr>
          <p:cNvPicPr>
            <a:picLocks noChangeAspect="1"/>
          </p:cNvPicPr>
          <p:nvPr/>
        </p:nvPicPr>
        <p:blipFill>
          <a:blip r:embed="rId2"/>
          <a:stretch>
            <a:fillRect/>
          </a:stretch>
        </p:blipFill>
        <p:spPr>
          <a:xfrm>
            <a:off x="3824478" y="2148840"/>
            <a:ext cx="365760" cy="365760"/>
          </a:xfrm>
          <a:prstGeom prst="rect">
            <a:avLst/>
          </a:prstGeom>
        </p:spPr>
      </p:pic>
      <p:sp>
        <p:nvSpPr>
          <p:cNvPr id="15" name="Text 11"/>
          <p:cNvSpPr/>
          <p:nvPr/>
        </p:nvSpPr>
        <p:spPr>
          <a:xfrm>
            <a:off x="3641598" y="2926080"/>
            <a:ext cx="2178558" cy="411480"/>
          </a:xfrm>
          <a:prstGeom prst="rect">
            <a:avLst/>
          </a:prstGeom>
          <a:noFill/>
          <a:ln/>
        </p:spPr>
        <p:txBody>
          <a:bodyPr wrap="square" lIns="0" tIns="0" rIns="0" bIns="0" rtlCol="0" anchor="ctr"/>
          <a:lstStyle/>
          <a:p>
            <a:pPr indent="0" marL="0">
              <a:buNone/>
            </a:pPr>
            <a:r>
              <a:rPr lang="en-US" sz="1900" dirty="0">
                <a:solidFill>
                  <a:srgbClr val="0B1F33"/>
                </a:solidFill>
                <a:latin typeface="Segoe UI Semibold" pitchFamily="34" charset="0"/>
                <a:ea typeface="Segoe UI Semibold" pitchFamily="34" charset="-122"/>
                <a:cs typeface="Segoe UI Semibold" pitchFamily="34" charset="-120"/>
              </a:rPr>
              <a:t>Capacity</a:t>
            </a:r>
            <a:endParaRPr lang="en-US" sz="1900" dirty="0"/>
          </a:p>
        </p:txBody>
      </p:sp>
      <p:sp>
        <p:nvSpPr>
          <p:cNvPr id="16" name="Text 12"/>
          <p:cNvSpPr/>
          <p:nvPr/>
        </p:nvSpPr>
        <p:spPr>
          <a:xfrm>
            <a:off x="3641598" y="3429000"/>
            <a:ext cx="2178558" cy="1280160"/>
          </a:xfrm>
          <a:prstGeom prst="rect">
            <a:avLst/>
          </a:prstGeom>
          <a:noFill/>
          <a:ln/>
        </p:spPr>
        <p:txBody>
          <a:bodyPr wrap="square" lIns="0" tIns="0" rIns="0" bIns="0" rtlCol="0" anchor="t"/>
          <a:lstStyle/>
          <a:p>
            <a:pPr indent="0" marL="0">
              <a:buNone/>
            </a:pPr>
            <a:r>
              <a:rPr lang="en-US" sz="1350" dirty="0">
                <a:solidFill>
                  <a:srgbClr val="1B2733"/>
                </a:solidFill>
                <a:latin typeface="Segoe UI" pitchFamily="34" charset="0"/>
                <a:ea typeface="Segoe UI" pitchFamily="34" charset="-122"/>
                <a:cs typeface="Segoe UI" pitchFamily="34" charset="-120"/>
              </a:rPr>
              <a:t>Shared compute sized by F SKU. Scale, pause, and monitor it in one place. Its region is your residency decision.</a:t>
            </a:r>
            <a:endParaRPr lang="en-US" sz="1350" dirty="0"/>
          </a:p>
        </p:txBody>
      </p:sp>
      <p:sp>
        <p:nvSpPr>
          <p:cNvPr id="17" name="Shape 13"/>
          <p:cNvSpPr/>
          <p:nvPr/>
        </p:nvSpPr>
        <p:spPr>
          <a:xfrm>
            <a:off x="6185916" y="1691640"/>
            <a:ext cx="2635758" cy="310896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8" name="Shape 14"/>
          <p:cNvSpPr/>
          <p:nvPr/>
        </p:nvSpPr>
        <p:spPr>
          <a:xfrm>
            <a:off x="6185916" y="1691640"/>
            <a:ext cx="73152" cy="3108960"/>
          </a:xfrm>
          <a:prstGeom prst="rect">
            <a:avLst/>
          </a:prstGeom>
          <a:solidFill>
            <a:srgbClr val="0E7C86"/>
          </a:solidFill>
          <a:ln w="12700">
            <a:solidFill>
              <a:srgbClr val="0E7C86"/>
            </a:solidFill>
            <a:prstDash val="solid"/>
          </a:ln>
        </p:spPr>
      </p:sp>
      <p:sp>
        <p:nvSpPr>
          <p:cNvPr id="19" name="Shape 15"/>
          <p:cNvSpPr/>
          <p:nvPr/>
        </p:nvSpPr>
        <p:spPr>
          <a:xfrm>
            <a:off x="6460236" y="1965960"/>
            <a:ext cx="731520" cy="731520"/>
          </a:xfrm>
          <a:prstGeom prst="ellipse">
            <a:avLst/>
          </a:prstGeom>
          <a:solidFill>
            <a:srgbClr val="0E7C86"/>
          </a:solidFill>
          <a:ln w="12700">
            <a:solidFill>
              <a:srgbClr val="0E7C86"/>
            </a:solidFill>
            <a:prstDash val="solid"/>
          </a:ln>
        </p:spPr>
      </p:sp>
      <p:pic>
        <p:nvPicPr>
          <p:cNvPr id="20" name="Image 2" descr="preencoded.png">    </p:cNvPr>
          <p:cNvPicPr>
            <a:picLocks noChangeAspect="1"/>
          </p:cNvPicPr>
          <p:nvPr/>
        </p:nvPicPr>
        <p:blipFill>
          <a:blip r:embed="rId3"/>
          <a:stretch>
            <a:fillRect/>
          </a:stretch>
        </p:blipFill>
        <p:spPr>
          <a:xfrm>
            <a:off x="6643116" y="2148840"/>
            <a:ext cx="365760" cy="365760"/>
          </a:xfrm>
          <a:prstGeom prst="rect">
            <a:avLst/>
          </a:prstGeom>
        </p:spPr>
      </p:pic>
      <p:sp>
        <p:nvSpPr>
          <p:cNvPr id="21" name="Text 16"/>
          <p:cNvSpPr/>
          <p:nvPr/>
        </p:nvSpPr>
        <p:spPr>
          <a:xfrm>
            <a:off x="6460236" y="2926080"/>
            <a:ext cx="2178558" cy="411480"/>
          </a:xfrm>
          <a:prstGeom prst="rect">
            <a:avLst/>
          </a:prstGeom>
          <a:noFill/>
          <a:ln/>
        </p:spPr>
        <p:txBody>
          <a:bodyPr wrap="square" lIns="0" tIns="0" rIns="0" bIns="0" rtlCol="0" anchor="ctr"/>
          <a:lstStyle/>
          <a:p>
            <a:pPr indent="0" marL="0">
              <a:buNone/>
            </a:pPr>
            <a:r>
              <a:rPr lang="en-US" sz="1900" dirty="0">
                <a:solidFill>
                  <a:srgbClr val="0B1F33"/>
                </a:solidFill>
                <a:latin typeface="Segoe UI Semibold" pitchFamily="34" charset="0"/>
                <a:ea typeface="Segoe UI Semibold" pitchFamily="34" charset="-122"/>
                <a:cs typeface="Segoe UI Semibold" pitchFamily="34" charset="-120"/>
              </a:rPr>
              <a:t>Workloads</a:t>
            </a:r>
            <a:endParaRPr lang="en-US" sz="1900" dirty="0"/>
          </a:p>
        </p:txBody>
      </p:sp>
      <p:sp>
        <p:nvSpPr>
          <p:cNvPr id="22" name="Text 17"/>
          <p:cNvSpPr/>
          <p:nvPr/>
        </p:nvSpPr>
        <p:spPr>
          <a:xfrm>
            <a:off x="6460236" y="3429000"/>
            <a:ext cx="2178558" cy="1280160"/>
          </a:xfrm>
          <a:prstGeom prst="rect">
            <a:avLst/>
          </a:prstGeom>
          <a:noFill/>
          <a:ln/>
        </p:spPr>
        <p:txBody>
          <a:bodyPr wrap="square" lIns="0" tIns="0" rIns="0" bIns="0" rtlCol="0" anchor="t"/>
          <a:lstStyle/>
          <a:p>
            <a:pPr indent="0" marL="0">
              <a:buNone/>
            </a:pPr>
            <a:r>
              <a:rPr lang="en-US" sz="1350" dirty="0">
                <a:solidFill>
                  <a:srgbClr val="1B2733"/>
                </a:solidFill>
                <a:latin typeface="Segoe UI" pitchFamily="34" charset="0"/>
                <a:ea typeface="Segoe UI" pitchFamily="34" charset="-122"/>
                <a:cs typeface="Segoe UI" pitchFamily="34" charset="-120"/>
              </a:rPr>
              <a:t>Pipelines, dataflows, Spark notebooks, Lakehouse, Warehouse, SQL database, and Power BI on the same data.</a:t>
            </a:r>
            <a:endParaRPr lang="en-US" sz="1350" dirty="0"/>
          </a:p>
        </p:txBody>
      </p:sp>
      <p:sp>
        <p:nvSpPr>
          <p:cNvPr id="23" name="Shape 18"/>
          <p:cNvSpPr/>
          <p:nvPr/>
        </p:nvSpPr>
        <p:spPr>
          <a:xfrm>
            <a:off x="9004554" y="1691640"/>
            <a:ext cx="2635758" cy="310896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24" name="Shape 19"/>
          <p:cNvSpPr/>
          <p:nvPr/>
        </p:nvSpPr>
        <p:spPr>
          <a:xfrm>
            <a:off x="9004554" y="1691640"/>
            <a:ext cx="73152" cy="3108960"/>
          </a:xfrm>
          <a:prstGeom prst="rect">
            <a:avLst/>
          </a:prstGeom>
          <a:solidFill>
            <a:srgbClr val="0E7C86"/>
          </a:solidFill>
          <a:ln w="12700">
            <a:solidFill>
              <a:srgbClr val="0E7C86"/>
            </a:solidFill>
            <a:prstDash val="solid"/>
          </a:ln>
        </p:spPr>
      </p:sp>
      <p:sp>
        <p:nvSpPr>
          <p:cNvPr id="25" name="Shape 20"/>
          <p:cNvSpPr/>
          <p:nvPr/>
        </p:nvSpPr>
        <p:spPr>
          <a:xfrm>
            <a:off x="9278874" y="1965960"/>
            <a:ext cx="731520" cy="731520"/>
          </a:xfrm>
          <a:prstGeom prst="ellipse">
            <a:avLst/>
          </a:prstGeom>
          <a:solidFill>
            <a:srgbClr val="0E7C86"/>
          </a:solidFill>
          <a:ln w="12700">
            <a:solidFill>
              <a:srgbClr val="0E7C86"/>
            </a:solidFill>
            <a:prstDash val="solid"/>
          </a:ln>
        </p:spPr>
      </p:sp>
      <p:pic>
        <p:nvPicPr>
          <p:cNvPr id="26" name="Image 3" descr="preencoded.png">    </p:cNvPr>
          <p:cNvPicPr>
            <a:picLocks noChangeAspect="1"/>
          </p:cNvPicPr>
          <p:nvPr/>
        </p:nvPicPr>
        <p:blipFill>
          <a:blip r:embed="rId4"/>
          <a:stretch>
            <a:fillRect/>
          </a:stretch>
        </p:blipFill>
        <p:spPr>
          <a:xfrm>
            <a:off x="9461754" y="2148840"/>
            <a:ext cx="365760" cy="365760"/>
          </a:xfrm>
          <a:prstGeom prst="rect">
            <a:avLst/>
          </a:prstGeom>
        </p:spPr>
      </p:pic>
      <p:sp>
        <p:nvSpPr>
          <p:cNvPr id="27" name="Text 21"/>
          <p:cNvSpPr/>
          <p:nvPr/>
        </p:nvSpPr>
        <p:spPr>
          <a:xfrm>
            <a:off x="9278874" y="2926080"/>
            <a:ext cx="2178558" cy="411480"/>
          </a:xfrm>
          <a:prstGeom prst="rect">
            <a:avLst/>
          </a:prstGeom>
          <a:noFill/>
          <a:ln/>
        </p:spPr>
        <p:txBody>
          <a:bodyPr wrap="square" lIns="0" tIns="0" rIns="0" bIns="0" rtlCol="0" anchor="ctr"/>
          <a:lstStyle/>
          <a:p>
            <a:pPr indent="0" marL="0">
              <a:buNone/>
            </a:pPr>
            <a:r>
              <a:rPr lang="en-US" sz="1900" dirty="0">
                <a:solidFill>
                  <a:srgbClr val="0B1F33"/>
                </a:solidFill>
                <a:latin typeface="Segoe UI Semibold" pitchFamily="34" charset="0"/>
                <a:ea typeface="Segoe UI Semibold" pitchFamily="34" charset="-122"/>
                <a:cs typeface="Segoe UI Semibold" pitchFamily="34" charset="-120"/>
              </a:rPr>
              <a:t>Governance</a:t>
            </a:r>
            <a:endParaRPr lang="en-US" sz="1900" dirty="0"/>
          </a:p>
        </p:txBody>
      </p:sp>
      <p:sp>
        <p:nvSpPr>
          <p:cNvPr id="28" name="Text 22"/>
          <p:cNvSpPr/>
          <p:nvPr/>
        </p:nvSpPr>
        <p:spPr>
          <a:xfrm>
            <a:off x="9278874" y="3429000"/>
            <a:ext cx="2178558" cy="1280160"/>
          </a:xfrm>
          <a:prstGeom prst="rect">
            <a:avLst/>
          </a:prstGeom>
          <a:noFill/>
          <a:ln/>
        </p:spPr>
        <p:txBody>
          <a:bodyPr wrap="square" lIns="0" tIns="0" rIns="0" bIns="0" rtlCol="0" anchor="t"/>
          <a:lstStyle/>
          <a:p>
            <a:pPr indent="0" marL="0">
              <a:buNone/>
            </a:pPr>
            <a:r>
              <a:rPr lang="en-US" sz="1350" dirty="0">
                <a:solidFill>
                  <a:srgbClr val="1B2733"/>
                </a:solidFill>
                <a:latin typeface="Segoe UI" pitchFamily="34" charset="0"/>
                <a:ea typeface="Segoe UI" pitchFamily="34" charset="-122"/>
                <a:cs typeface="Segoe UI" pitchFamily="34" charset="-120"/>
              </a:rPr>
              <a:t>Workspace roles, Entra identities, Git integration, and deployment pipelines across Dev, Test, and Prod.</a:t>
            </a:r>
            <a:endParaRPr lang="en-US" sz="1350" dirty="0"/>
          </a:p>
        </p:txBody>
      </p:sp>
      <p:sp>
        <p:nvSpPr>
          <p:cNvPr id="29" name="Shape 23"/>
          <p:cNvSpPr/>
          <p:nvPr/>
        </p:nvSpPr>
        <p:spPr>
          <a:xfrm>
            <a:off x="548640" y="5074920"/>
            <a:ext cx="11091672" cy="868680"/>
          </a:xfrm>
          <a:prstGeom prst="rect">
            <a:avLst/>
          </a:prstGeom>
          <a:solidFill>
            <a:srgbClr val="0B1F33"/>
          </a:solidFill>
          <a:ln w="12700">
            <a:solidFill>
              <a:srgbClr val="0B1F33"/>
            </a:solidFill>
            <a:prstDash val="solid"/>
          </a:ln>
        </p:spPr>
      </p:sp>
      <p:sp>
        <p:nvSpPr>
          <p:cNvPr id="30" name="Text 24"/>
          <p:cNvSpPr/>
          <p:nvPr/>
        </p:nvSpPr>
        <p:spPr>
          <a:xfrm>
            <a:off x="822960" y="5074920"/>
            <a:ext cx="10543032" cy="868680"/>
          </a:xfrm>
          <a:prstGeom prst="rect">
            <a:avLst/>
          </a:prstGeom>
          <a:noFill/>
          <a:ln/>
        </p:spPr>
        <p:txBody>
          <a:bodyPr wrap="square" lIns="0" tIns="0" rIns="0" bIns="0" rtlCol="0" anchor="ctr"/>
          <a:lstStyle/>
          <a:p>
            <a:pPr indent="0" marL="0">
              <a:buNone/>
            </a:pPr>
            <a:r>
              <a:rPr lang="en-US" sz="1500" dirty="0">
                <a:solidFill>
                  <a:srgbClr val="FFFFFF"/>
                </a:solidFill>
                <a:latin typeface="Segoe UI" pitchFamily="34" charset="0"/>
                <a:ea typeface="Segoe UI" pitchFamily="34" charset="-122"/>
                <a:cs typeface="Segoe UI" pitchFamily="34" charset="-120"/>
              </a:rPr>
              <a:t>Our demo environment: one tenant, one F4 capacity in Canada Central, three workspaces (Dev, Test, Prod), with Git connected to Dev.</a:t>
            </a:r>
            <a:endParaRPr lang="en-US" sz="1500" dirty="0"/>
          </a:p>
        </p:txBody>
      </p:sp>
      <p:sp>
        <p:nvSpPr>
          <p:cNvPr id="31" name="Text 25"/>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32" name="Text 26"/>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1 · 10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Pipelines orchestrate; Dataflow Gen2 transforms</a:t>
            </a:r>
            <a:endParaRPr lang="en-US" sz="3000" dirty="0"/>
          </a:p>
        </p:txBody>
      </p:sp>
      <p:sp>
        <p:nvSpPr>
          <p:cNvPr id="5" name="Shape 3"/>
          <p:cNvSpPr/>
          <p:nvPr/>
        </p:nvSpPr>
        <p:spPr>
          <a:xfrm>
            <a:off x="548640" y="1691640"/>
            <a:ext cx="5431536" cy="3017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6" name="Shape 4"/>
          <p:cNvSpPr/>
          <p:nvPr/>
        </p:nvSpPr>
        <p:spPr>
          <a:xfrm>
            <a:off x="548640" y="1691640"/>
            <a:ext cx="73152" cy="3017520"/>
          </a:xfrm>
          <a:prstGeom prst="rect">
            <a:avLst/>
          </a:prstGeom>
          <a:solidFill>
            <a:srgbClr val="0E7C86"/>
          </a:solidFill>
          <a:ln w="12700">
            <a:solidFill>
              <a:srgbClr val="0E7C86"/>
            </a:solidFill>
            <a:prstDash val="solid"/>
          </a:ln>
        </p:spPr>
      </p:sp>
      <p:sp>
        <p:nvSpPr>
          <p:cNvPr id="7" name="Shape 5"/>
          <p:cNvSpPr/>
          <p:nvPr/>
        </p:nvSpPr>
        <p:spPr>
          <a:xfrm>
            <a:off x="868680" y="1920240"/>
            <a:ext cx="548640" cy="548640"/>
          </a:xfrm>
          <a:prstGeom prst="ellipse">
            <a:avLst/>
          </a:prstGeom>
          <a:solidFill>
            <a:srgbClr val="0E7C86"/>
          </a:solidFill>
          <a:ln w="12700">
            <a:solidFill>
              <a:srgbClr val="0E7C86"/>
            </a:solidFill>
            <a:prstDash val="solid"/>
          </a:ln>
        </p:spPr>
      </p:sp>
      <p:pic>
        <p:nvPicPr>
          <p:cNvPr id="8" name="Image 0" descr="preencoded.png">    </p:cNvPr>
          <p:cNvPicPr>
            <a:picLocks noChangeAspect="1"/>
          </p:cNvPicPr>
          <p:nvPr/>
        </p:nvPicPr>
        <p:blipFill>
          <a:blip r:embed="rId1"/>
          <a:stretch>
            <a:fillRect/>
          </a:stretch>
        </p:blipFill>
        <p:spPr>
          <a:xfrm>
            <a:off x="1005840" y="2057400"/>
            <a:ext cx="274320" cy="274320"/>
          </a:xfrm>
          <a:prstGeom prst="rect">
            <a:avLst/>
          </a:prstGeom>
        </p:spPr>
      </p:pic>
      <p:sp>
        <p:nvSpPr>
          <p:cNvPr id="9" name="Text 6"/>
          <p:cNvSpPr/>
          <p:nvPr/>
        </p:nvSpPr>
        <p:spPr>
          <a:xfrm>
            <a:off x="1600200" y="1920240"/>
            <a:ext cx="4151376" cy="548640"/>
          </a:xfrm>
          <a:prstGeom prst="rect">
            <a:avLst/>
          </a:prstGeom>
          <a:noFill/>
          <a:ln/>
        </p:spPr>
        <p:txBody>
          <a:bodyPr wrap="square" lIns="0" tIns="0" rIns="0" bIns="0" rtlCol="0" anchor="ctr"/>
          <a:lstStyle/>
          <a:p>
            <a:pPr indent="0" marL="0">
              <a:buNone/>
            </a:pPr>
            <a:r>
              <a:rPr lang="en-US" sz="2200" dirty="0">
                <a:solidFill>
                  <a:srgbClr val="0B1F33"/>
                </a:solidFill>
                <a:latin typeface="Segoe UI Semibold" pitchFamily="34" charset="0"/>
                <a:ea typeface="Segoe UI Semibold" pitchFamily="34" charset="-122"/>
                <a:cs typeface="Segoe UI Semibold" pitchFamily="34" charset="-120"/>
              </a:rPr>
              <a:t>Pipelines</a:t>
            </a:r>
            <a:endParaRPr lang="en-US" sz="2200" dirty="0"/>
          </a:p>
        </p:txBody>
      </p:sp>
      <p:sp>
        <p:nvSpPr>
          <p:cNvPr id="10" name="Text 7"/>
          <p:cNvSpPr/>
          <p:nvPr/>
        </p:nvSpPr>
        <p:spPr>
          <a:xfrm>
            <a:off x="868680" y="2697480"/>
            <a:ext cx="4882896" cy="2057400"/>
          </a:xfrm>
          <a:prstGeom prst="rect">
            <a:avLst/>
          </a:prstGeom>
          <a:noFill/>
          <a:ln/>
        </p:spPr>
        <p:txBody>
          <a:bodyPr wrap="square" lIns="0" tIns="0" rIns="0" bIns="0" rtlCol="0" anchor="t"/>
          <a:lstStyle/>
          <a:p>
            <a:pPr marL="203200" indent="-203200">
              <a:spcAft>
                <a:spcPts val="700"/>
              </a:spcAft>
              <a:buSzPct val="100000"/>
              <a:buChar char="•"/>
            </a:pPr>
            <a:r>
              <a:rPr lang="en-US" sz="1500" b="1" dirty="0">
                <a:solidFill>
                  <a:srgbClr val="0B1F33"/>
                </a:solidFill>
                <a:latin typeface="Segoe UI" pitchFamily="34" charset="0"/>
                <a:ea typeface="Segoe UI" pitchFamily="34" charset="-122"/>
                <a:cs typeface="Segoe UI" pitchFamily="34" charset="-120"/>
              </a:rPr>
              <a:t>Activities: </a:t>
            </a:r>
            <a:pPr indent="0" marL="0">
              <a:buNone/>
            </a:pPr>
            <a:r>
              <a:rPr lang="en-US" sz="1500" dirty="0">
                <a:solidFill>
                  <a:srgbClr val="1B2733"/>
                </a:solidFill>
                <a:latin typeface="Segoe UI" pitchFamily="34" charset="0"/>
                <a:ea typeface="Segoe UI" pitchFamily="34" charset="-122"/>
                <a:cs typeface="Segoe UI" pitchFamily="34" charset="-120"/>
              </a:rPr>
              <a:t>notebooks, dataflows, copy, and scripts</a:t>
            </a:r>
            <a:endParaRPr lang="en-US" sz="1500" dirty="0"/>
          </a:p>
          <a:p>
            <a:pPr marL="203200" indent="-203200">
              <a:spcAft>
                <a:spcPts val="700"/>
              </a:spcAft>
              <a:buSzPct val="100000"/>
              <a:buChar char="•"/>
            </a:pPr>
            <a:r>
              <a:rPr lang="en-US" sz="1500" b="1" dirty="0">
                <a:solidFill>
                  <a:srgbClr val="0B1F33"/>
                </a:solidFill>
                <a:latin typeface="Segoe UI" pitchFamily="34" charset="0"/>
                <a:ea typeface="Segoe UI" pitchFamily="34" charset="-122"/>
                <a:cs typeface="Segoe UI" pitchFamily="34" charset="-120"/>
              </a:rPr>
              <a:t>Control: </a:t>
            </a:r>
            <a:pPr indent="0" marL="0">
              <a:buNone/>
            </a:pPr>
            <a:r>
              <a:rPr lang="en-US" sz="1500" dirty="0">
                <a:solidFill>
                  <a:srgbClr val="1B2733"/>
                </a:solidFill>
                <a:latin typeface="Segoe UI" pitchFamily="34" charset="0"/>
                <a:ea typeface="Segoe UI" pitchFamily="34" charset="-122"/>
                <a:cs typeface="Segoe UI" pitchFamily="34" charset="-120"/>
              </a:rPr>
              <a:t>dependencies, retries, timeouts, and conditions</a:t>
            </a:r>
            <a:endParaRPr lang="en-US" sz="1500" dirty="0"/>
          </a:p>
          <a:p>
            <a:pPr marL="203200" indent="-203200">
              <a:spcAft>
                <a:spcPts val="700"/>
              </a:spcAft>
              <a:buSzPct val="100000"/>
              <a:buChar char="•"/>
            </a:pPr>
            <a:r>
              <a:rPr lang="en-US" sz="1500" b="1" dirty="0">
                <a:solidFill>
                  <a:srgbClr val="0B1F33"/>
                </a:solidFill>
                <a:latin typeface="Segoe UI" pitchFamily="34" charset="0"/>
                <a:ea typeface="Segoe UI" pitchFamily="34" charset="-122"/>
                <a:cs typeface="Segoe UI" pitchFamily="34" charset="-120"/>
              </a:rPr>
              <a:t>Parameters: </a:t>
            </a:r>
            <a:pPr indent="0" marL="0">
              <a:buNone/>
            </a:pPr>
            <a:r>
              <a:rPr lang="en-US" sz="1500" dirty="0">
                <a:solidFill>
                  <a:srgbClr val="1B2733"/>
                </a:solidFill>
                <a:latin typeface="Segoe UI" pitchFamily="34" charset="0"/>
                <a:ea typeface="Segoe UI" pitchFamily="34" charset="-122"/>
                <a:cs typeface="Segoe UI" pitchFamily="34" charset="-120"/>
              </a:rPr>
              <a:t>load_mode switches a full load from a warehouse-only reload</a:t>
            </a:r>
            <a:endParaRPr lang="en-US" sz="1500" dirty="0"/>
          </a:p>
          <a:p>
            <a:pPr marL="203200" indent="-203200">
              <a:spcAft>
                <a:spcPts val="700"/>
              </a:spcAft>
              <a:buSzPct val="100000"/>
              <a:buChar char="•"/>
            </a:pPr>
            <a:r>
              <a:rPr lang="en-US" sz="1500" b="1" dirty="0">
                <a:solidFill>
                  <a:srgbClr val="0B1F33"/>
                </a:solidFill>
                <a:latin typeface="Segoe UI" pitchFamily="34" charset="0"/>
                <a:ea typeface="Segoe UI" pitchFamily="34" charset="-122"/>
                <a:cs typeface="Segoe UI" pitchFamily="34" charset="-120"/>
              </a:rPr>
              <a:t>Operations: </a:t>
            </a:r>
            <a:pPr indent="0" marL="0">
              <a:buNone/>
            </a:pPr>
            <a:r>
              <a:rPr lang="en-US" sz="1500" dirty="0">
                <a:solidFill>
                  <a:srgbClr val="1B2733"/>
                </a:solidFill>
                <a:latin typeface="Segoe UI" pitchFamily="34" charset="0"/>
                <a:ea typeface="Segoe UI" pitchFamily="34" charset="-122"/>
                <a:cs typeface="Segoe UI" pitchFamily="34" charset="-120"/>
              </a:rPr>
              <a:t>run history and monitoring in one place</a:t>
            </a:r>
            <a:endParaRPr lang="en-US" sz="1500" dirty="0"/>
          </a:p>
        </p:txBody>
      </p:sp>
      <p:sp>
        <p:nvSpPr>
          <p:cNvPr id="11" name="Shape 8"/>
          <p:cNvSpPr/>
          <p:nvPr/>
        </p:nvSpPr>
        <p:spPr>
          <a:xfrm>
            <a:off x="6208776" y="1691640"/>
            <a:ext cx="5431536" cy="3017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2" name="Shape 9"/>
          <p:cNvSpPr/>
          <p:nvPr/>
        </p:nvSpPr>
        <p:spPr>
          <a:xfrm>
            <a:off x="6208776" y="1691640"/>
            <a:ext cx="73152" cy="3017520"/>
          </a:xfrm>
          <a:prstGeom prst="rect">
            <a:avLst/>
          </a:prstGeom>
          <a:solidFill>
            <a:srgbClr val="0E7C86"/>
          </a:solidFill>
          <a:ln w="12700">
            <a:solidFill>
              <a:srgbClr val="0E7C86"/>
            </a:solidFill>
            <a:prstDash val="solid"/>
          </a:ln>
        </p:spPr>
      </p:sp>
      <p:sp>
        <p:nvSpPr>
          <p:cNvPr id="13" name="Shape 10"/>
          <p:cNvSpPr/>
          <p:nvPr/>
        </p:nvSpPr>
        <p:spPr>
          <a:xfrm>
            <a:off x="6528816" y="1920240"/>
            <a:ext cx="548640" cy="548640"/>
          </a:xfrm>
          <a:prstGeom prst="ellipse">
            <a:avLst/>
          </a:prstGeom>
          <a:solidFill>
            <a:srgbClr val="0E7C86"/>
          </a:solidFill>
          <a:ln w="12700">
            <a:solidFill>
              <a:srgbClr val="0E7C86"/>
            </a:solidFill>
            <a:prstDash val="solid"/>
          </a:ln>
        </p:spPr>
      </p:sp>
      <p:pic>
        <p:nvPicPr>
          <p:cNvPr id="14" name="Image 1" descr="preencoded.png">    </p:cNvPr>
          <p:cNvPicPr>
            <a:picLocks noChangeAspect="1"/>
          </p:cNvPicPr>
          <p:nvPr/>
        </p:nvPicPr>
        <p:blipFill>
          <a:blip r:embed="rId2"/>
          <a:stretch>
            <a:fillRect/>
          </a:stretch>
        </p:blipFill>
        <p:spPr>
          <a:xfrm>
            <a:off x="6665976" y="2057400"/>
            <a:ext cx="274320" cy="274320"/>
          </a:xfrm>
          <a:prstGeom prst="rect">
            <a:avLst/>
          </a:prstGeom>
        </p:spPr>
      </p:pic>
      <p:sp>
        <p:nvSpPr>
          <p:cNvPr id="15" name="Text 11"/>
          <p:cNvSpPr/>
          <p:nvPr/>
        </p:nvSpPr>
        <p:spPr>
          <a:xfrm>
            <a:off x="7260336" y="1920240"/>
            <a:ext cx="4151376" cy="548640"/>
          </a:xfrm>
          <a:prstGeom prst="rect">
            <a:avLst/>
          </a:prstGeom>
          <a:noFill/>
          <a:ln/>
        </p:spPr>
        <p:txBody>
          <a:bodyPr wrap="square" lIns="0" tIns="0" rIns="0" bIns="0" rtlCol="0" anchor="ctr"/>
          <a:lstStyle/>
          <a:p>
            <a:pPr indent="0" marL="0">
              <a:buNone/>
            </a:pPr>
            <a:r>
              <a:rPr lang="en-US" sz="2200" dirty="0">
                <a:solidFill>
                  <a:srgbClr val="0B1F33"/>
                </a:solidFill>
                <a:latin typeface="Segoe UI Semibold" pitchFamily="34" charset="0"/>
                <a:ea typeface="Segoe UI Semibold" pitchFamily="34" charset="-122"/>
                <a:cs typeface="Segoe UI Semibold" pitchFamily="34" charset="-120"/>
              </a:rPr>
              <a:t>Dataflow Gen2</a:t>
            </a:r>
            <a:endParaRPr lang="en-US" sz="2200" dirty="0"/>
          </a:p>
        </p:txBody>
      </p:sp>
      <p:sp>
        <p:nvSpPr>
          <p:cNvPr id="16" name="Text 12"/>
          <p:cNvSpPr/>
          <p:nvPr/>
        </p:nvSpPr>
        <p:spPr>
          <a:xfrm>
            <a:off x="6528816" y="2697480"/>
            <a:ext cx="4882896" cy="2057400"/>
          </a:xfrm>
          <a:prstGeom prst="rect">
            <a:avLst/>
          </a:prstGeom>
          <a:noFill/>
          <a:ln/>
        </p:spPr>
        <p:txBody>
          <a:bodyPr wrap="square" lIns="0" tIns="0" rIns="0" bIns="0" rtlCol="0" anchor="t"/>
          <a:lstStyle/>
          <a:p>
            <a:pPr marL="203200" indent="-203200">
              <a:spcAft>
                <a:spcPts val="700"/>
              </a:spcAft>
              <a:buSzPct val="100000"/>
              <a:buChar char="•"/>
            </a:pPr>
            <a:r>
              <a:rPr lang="en-US" sz="1500" b="1" dirty="0">
                <a:solidFill>
                  <a:srgbClr val="0B1F33"/>
                </a:solidFill>
                <a:latin typeface="Segoe UI" pitchFamily="34" charset="0"/>
                <a:ea typeface="Segoe UI" pitchFamily="34" charset="-122"/>
                <a:cs typeface="Segoe UI" pitchFamily="34" charset="-120"/>
              </a:rPr>
              <a:t>Editor: </a:t>
            </a:r>
            <a:pPr indent="0" marL="0">
              <a:buNone/>
            </a:pPr>
            <a:r>
              <a:rPr lang="en-US" sz="1500" dirty="0">
                <a:solidFill>
                  <a:srgbClr val="1B2733"/>
                </a:solidFill>
                <a:latin typeface="Segoe UI" pitchFamily="34" charset="0"/>
                <a:ea typeface="Segoe UI" pitchFamily="34" charset="-122"/>
                <a:cs typeface="Segoe UI" pitchFamily="34" charset="-120"/>
              </a:rPr>
              <a:t>Power Query (M) with a low-code, visual interface</a:t>
            </a:r>
            <a:endParaRPr lang="en-US" sz="1500" dirty="0"/>
          </a:p>
          <a:p>
            <a:pPr marL="203200" indent="-203200">
              <a:spcAft>
                <a:spcPts val="700"/>
              </a:spcAft>
              <a:buSzPct val="100000"/>
              <a:buChar char="•"/>
            </a:pPr>
            <a:r>
              <a:rPr lang="en-US" sz="1500" b="1" dirty="0">
                <a:solidFill>
                  <a:srgbClr val="0B1F33"/>
                </a:solidFill>
                <a:latin typeface="Segoe UI" pitchFamily="34" charset="0"/>
                <a:ea typeface="Segoe UI" pitchFamily="34" charset="-122"/>
                <a:cs typeface="Segoe UI" pitchFamily="34" charset="-120"/>
              </a:rPr>
              <a:t>Use for: </a:t>
            </a:r>
            <a:pPr indent="0" marL="0">
              <a:buNone/>
            </a:pPr>
            <a:r>
              <a:rPr lang="en-US" sz="1500" dirty="0">
                <a:solidFill>
                  <a:srgbClr val="1B2733"/>
                </a:solidFill>
                <a:latin typeface="Segoe UI" pitchFamily="34" charset="0"/>
                <a:ea typeface="Segoe UI" pitchFamily="34" charset="-122"/>
                <a:cs typeface="Segoe UI" pitchFamily="34" charset="-120"/>
              </a:rPr>
              <a:t>reference data and light transforms, such as a province lookup</a:t>
            </a:r>
            <a:endParaRPr lang="en-US" sz="1500" dirty="0"/>
          </a:p>
          <a:p>
            <a:pPr marL="203200" indent="-203200">
              <a:spcAft>
                <a:spcPts val="700"/>
              </a:spcAft>
              <a:buSzPct val="100000"/>
              <a:buChar char="•"/>
            </a:pPr>
            <a:r>
              <a:rPr lang="en-US" sz="1500" b="1" dirty="0">
                <a:solidFill>
                  <a:srgbClr val="0B1F33"/>
                </a:solidFill>
                <a:latin typeface="Segoe UI" pitchFamily="34" charset="0"/>
                <a:ea typeface="Segoe UI" pitchFamily="34" charset="-122"/>
                <a:cs typeface="Segoe UI" pitchFamily="34" charset="-120"/>
              </a:rPr>
              <a:t>Refresh: </a:t>
            </a:r>
            <a:pPr indent="0" marL="0">
              <a:buNone/>
            </a:pPr>
            <a:r>
              <a:rPr lang="en-US" sz="1500" dirty="0">
                <a:solidFill>
                  <a:srgbClr val="1B2733"/>
                </a:solidFill>
                <a:latin typeface="Segoe UI" pitchFamily="34" charset="0"/>
                <a:ea typeface="Segoe UI" pitchFamily="34" charset="-122"/>
                <a:cs typeface="Segoe UI" pitchFamily="34" charset="-120"/>
              </a:rPr>
              <a:t>runs as an activity inside a pipeline</a:t>
            </a:r>
            <a:endParaRPr lang="en-US" sz="1500" dirty="0"/>
          </a:p>
          <a:p>
            <a:pPr marL="203200" indent="-203200">
              <a:spcAft>
                <a:spcPts val="700"/>
              </a:spcAft>
              <a:buSzPct val="100000"/>
              <a:buChar char="•"/>
            </a:pPr>
            <a:r>
              <a:rPr lang="en-US" sz="1500" b="1" dirty="0">
                <a:solidFill>
                  <a:srgbClr val="0B1F33"/>
                </a:solidFill>
                <a:latin typeface="Segoe UI" pitchFamily="34" charset="0"/>
                <a:ea typeface="Segoe UI" pitchFamily="34" charset="-122"/>
                <a:cs typeface="Segoe UI" pitchFamily="34" charset="-120"/>
              </a:rPr>
              <a:t>Choose early: </a:t>
            </a:r>
            <a:pPr indent="0" marL="0">
              <a:buNone/>
            </a:pPr>
            <a:r>
              <a:rPr lang="en-US" sz="1500" dirty="0">
                <a:solidFill>
                  <a:srgbClr val="1B2733"/>
                </a:solidFill>
                <a:latin typeface="Segoe UI" pitchFamily="34" charset="0"/>
                <a:ea typeface="Segoe UI" pitchFamily="34" charset="-122"/>
                <a:cs typeface="Segoe UI" pitchFamily="34" charset="-120"/>
              </a:rPr>
              <a:t>the output destination, set when you build the dataflow</a:t>
            </a:r>
            <a:endParaRPr lang="en-US" sz="1500" dirty="0"/>
          </a:p>
        </p:txBody>
      </p:sp>
      <p:sp>
        <p:nvSpPr>
          <p:cNvPr id="17" name="Text 13"/>
          <p:cNvSpPr/>
          <p:nvPr/>
        </p:nvSpPr>
        <p:spPr>
          <a:xfrm>
            <a:off x="548640" y="4846320"/>
            <a:ext cx="11091672" cy="256032"/>
          </a:xfrm>
          <a:prstGeom prst="rect">
            <a:avLst/>
          </a:prstGeom>
          <a:noFill/>
          <a:ln/>
        </p:spPr>
        <p:txBody>
          <a:bodyPr wrap="square" lIns="0" tIns="0" rIns="0" bIns="0" rtlCol="0" anchor="ctr"/>
          <a:lstStyle/>
          <a:p>
            <a:pPr indent="0" marL="0">
              <a:buNone/>
            </a:pPr>
            <a:r>
              <a:rPr lang="en-US" sz="1200" dirty="0">
                <a:solidFill>
                  <a:srgbClr val="5B6B7A"/>
                </a:solidFill>
                <a:latin typeface="Segoe UI" pitchFamily="34" charset="0"/>
                <a:ea typeface="Segoe UI" pitchFamily="34" charset="-122"/>
                <a:cs typeface="Segoe UI" pitchFamily="34" charset="-120"/>
              </a:rPr>
              <a:t>pl_medallion_daily runs these steps in order:</a:t>
            </a:r>
            <a:endParaRPr lang="en-US" sz="1200" dirty="0"/>
          </a:p>
        </p:txBody>
      </p:sp>
      <p:sp>
        <p:nvSpPr>
          <p:cNvPr id="18" name="Shape 14"/>
          <p:cNvSpPr/>
          <p:nvPr/>
        </p:nvSpPr>
        <p:spPr>
          <a:xfrm>
            <a:off x="548640" y="5230368"/>
            <a:ext cx="3749040" cy="822960"/>
          </a:xfrm>
          <a:prstGeom prst="chevron">
            <a:avLst/>
          </a:prstGeom>
          <a:solidFill>
            <a:srgbClr val="0E7C86"/>
          </a:solidFill>
          <a:ln w="12700">
            <a:solidFill>
              <a:srgbClr val="0E7C86"/>
            </a:solidFill>
            <a:prstDash val="solid"/>
          </a:ln>
        </p:spPr>
      </p:sp>
      <p:sp>
        <p:nvSpPr>
          <p:cNvPr id="19" name="Text 15"/>
          <p:cNvSpPr/>
          <p:nvPr/>
        </p:nvSpPr>
        <p:spPr>
          <a:xfrm>
            <a:off x="1115568" y="5230368"/>
            <a:ext cx="3017520" cy="82296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1   Refresh dataflow</a:t>
            </a:r>
            <a:endParaRPr lang="en-US" sz="1400" dirty="0"/>
          </a:p>
        </p:txBody>
      </p:sp>
      <p:sp>
        <p:nvSpPr>
          <p:cNvPr id="20" name="Shape 16"/>
          <p:cNvSpPr/>
          <p:nvPr/>
        </p:nvSpPr>
        <p:spPr>
          <a:xfrm>
            <a:off x="4187952" y="5230368"/>
            <a:ext cx="3749040" cy="822960"/>
          </a:xfrm>
          <a:prstGeom prst="chevron">
            <a:avLst/>
          </a:prstGeom>
          <a:solidFill>
            <a:srgbClr val="0A5C63"/>
          </a:solidFill>
          <a:ln w="12700">
            <a:solidFill>
              <a:srgbClr val="0A5C63"/>
            </a:solidFill>
            <a:prstDash val="solid"/>
          </a:ln>
        </p:spPr>
      </p:sp>
      <p:sp>
        <p:nvSpPr>
          <p:cNvPr id="21" name="Text 17"/>
          <p:cNvSpPr/>
          <p:nvPr/>
        </p:nvSpPr>
        <p:spPr>
          <a:xfrm>
            <a:off x="4754880" y="5230368"/>
            <a:ext cx="3017520" cy="82296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2   Bronze to Silver (Spark)</a:t>
            </a:r>
            <a:endParaRPr lang="en-US" sz="1400" dirty="0"/>
          </a:p>
        </p:txBody>
      </p:sp>
      <p:sp>
        <p:nvSpPr>
          <p:cNvPr id="22" name="Shape 18"/>
          <p:cNvSpPr/>
          <p:nvPr/>
        </p:nvSpPr>
        <p:spPr>
          <a:xfrm>
            <a:off x="7827264" y="5230368"/>
            <a:ext cx="3749040" cy="822960"/>
          </a:xfrm>
          <a:prstGeom prst="chevron">
            <a:avLst/>
          </a:prstGeom>
          <a:solidFill>
            <a:srgbClr val="0B1F33"/>
          </a:solidFill>
          <a:ln w="12700">
            <a:solidFill>
              <a:srgbClr val="0B1F33"/>
            </a:solidFill>
            <a:prstDash val="solid"/>
          </a:ln>
        </p:spPr>
      </p:sp>
      <p:sp>
        <p:nvSpPr>
          <p:cNvPr id="23" name="Text 19"/>
          <p:cNvSpPr/>
          <p:nvPr/>
        </p:nvSpPr>
        <p:spPr>
          <a:xfrm>
            <a:off x="8394192" y="5230368"/>
            <a:ext cx="3017520" cy="822960"/>
          </a:xfrm>
          <a:prstGeom prst="rect">
            <a:avLst/>
          </a:prstGeom>
          <a:noFill/>
          <a:ln/>
        </p:spPr>
        <p:txBody>
          <a:bodyPr wrap="square" lIns="0" tIns="0" rIns="0" bIns="0"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3   Silver to Gold (T-SQL)</a:t>
            </a:r>
            <a:endParaRPr lang="en-US" sz="1400" dirty="0"/>
          </a:p>
        </p:txBody>
      </p:sp>
      <p:sp>
        <p:nvSpPr>
          <p:cNvPr id="24" name="Text 20"/>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25" name="Text 21"/>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2 · 15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Delta Lake: reliability on open files</a:t>
            </a:r>
            <a:endParaRPr lang="en-US" sz="3000" dirty="0"/>
          </a:p>
        </p:txBody>
      </p:sp>
      <p:sp>
        <p:nvSpPr>
          <p:cNvPr id="5" name="Text 3"/>
          <p:cNvSpPr/>
          <p:nvPr/>
        </p:nvSpPr>
        <p:spPr>
          <a:xfrm>
            <a:off x="548640" y="1691640"/>
            <a:ext cx="5577840" cy="3383280"/>
          </a:xfrm>
          <a:prstGeom prst="rect">
            <a:avLst/>
          </a:prstGeom>
          <a:noFill/>
          <a:ln/>
        </p:spPr>
        <p:txBody>
          <a:bodyPr wrap="square" lIns="0" tIns="0" rIns="0" bIns="0" rtlCol="0" anchor="t"/>
          <a:lstStyle/>
          <a:p>
            <a:pPr marL="203200" indent="-203200">
              <a:spcAft>
                <a:spcPts val="1000"/>
              </a:spcAft>
              <a:buSzPct val="100000"/>
              <a:buChar char="•"/>
            </a:pPr>
            <a:r>
              <a:rPr lang="en-US" sz="1550" b="1" dirty="0">
                <a:solidFill>
                  <a:srgbClr val="0B1F33"/>
                </a:solidFill>
                <a:latin typeface="Segoe UI" pitchFamily="34" charset="0"/>
                <a:ea typeface="Segoe UI" pitchFamily="34" charset="-122"/>
                <a:cs typeface="Segoe UI" pitchFamily="34" charset="-120"/>
              </a:rPr>
              <a:t>ACID commits: </a:t>
            </a:r>
            <a:pPr indent="0" marL="0">
              <a:buNone/>
            </a:pPr>
            <a:r>
              <a:rPr lang="en-US" sz="1550" dirty="0">
                <a:solidFill>
                  <a:srgbClr val="1B2733"/>
                </a:solidFill>
                <a:latin typeface="Segoe UI" pitchFamily="34" charset="0"/>
                <a:ea typeface="Segoe UI" pitchFamily="34" charset="-122"/>
                <a:cs typeface="Segoe UI" pitchFamily="34" charset="-120"/>
              </a:rPr>
              <a:t>readers see whole table versions, never partial writes</a:t>
            </a:r>
            <a:endParaRPr lang="en-US" sz="1550" dirty="0"/>
          </a:p>
          <a:p>
            <a:pPr marL="203200" indent="-203200">
              <a:spcAft>
                <a:spcPts val="1000"/>
              </a:spcAft>
              <a:buSzPct val="100000"/>
              <a:buChar char="•"/>
            </a:pPr>
            <a:r>
              <a:rPr lang="en-US" sz="1550" b="1" dirty="0">
                <a:solidFill>
                  <a:srgbClr val="0B1F33"/>
                </a:solidFill>
                <a:latin typeface="Segoe UI" pitchFamily="34" charset="0"/>
                <a:ea typeface="Segoe UI" pitchFamily="34" charset="-122"/>
                <a:cs typeface="Segoe UI" pitchFamily="34" charset="-120"/>
              </a:rPr>
              <a:t>History and time travel: </a:t>
            </a:r>
            <a:pPr indent="0" marL="0">
              <a:buNone/>
            </a:pPr>
            <a:r>
              <a:rPr lang="en-US" sz="1550" dirty="0">
                <a:solidFill>
                  <a:srgbClr val="1B2733"/>
                </a:solidFill>
                <a:latin typeface="Segoe UI" pitchFamily="34" charset="0"/>
                <a:ea typeface="Segoe UI" pitchFamily="34" charset="-122"/>
                <a:cs typeface="Segoe UI" pitchFamily="34" charset="-120"/>
              </a:rPr>
              <a:t>DESCRIBE HISTORY and versionAsOf</a:t>
            </a:r>
            <a:endParaRPr lang="en-US" sz="1550" dirty="0"/>
          </a:p>
          <a:p>
            <a:pPr marL="203200" indent="-203200">
              <a:spcAft>
                <a:spcPts val="1000"/>
              </a:spcAft>
              <a:buSzPct val="100000"/>
              <a:buChar char="•"/>
            </a:pPr>
            <a:r>
              <a:rPr lang="en-US" sz="1550" b="1" dirty="0">
                <a:solidFill>
                  <a:srgbClr val="0B1F33"/>
                </a:solidFill>
                <a:latin typeface="Segoe UI" pitchFamily="34" charset="0"/>
                <a:ea typeface="Segoe UI" pitchFamily="34" charset="-122"/>
                <a:cs typeface="Segoe UI" pitchFamily="34" charset="-120"/>
              </a:rPr>
              <a:t>Upserts: </a:t>
            </a:r>
            <a:pPr indent="0" marL="0">
              <a:buNone/>
            </a:pPr>
            <a:r>
              <a:rPr lang="en-US" sz="1550" dirty="0">
                <a:solidFill>
                  <a:srgbClr val="1B2733"/>
                </a:solidFill>
                <a:latin typeface="Segoe UI" pitchFamily="34" charset="0"/>
                <a:ea typeface="Segoe UI" pitchFamily="34" charset="-122"/>
                <a:cs typeface="Segoe UI" pitchFamily="34" charset="-120"/>
              </a:rPr>
              <a:t>MERGE applies updates and deletes in one statement</a:t>
            </a:r>
            <a:endParaRPr lang="en-US" sz="1550" dirty="0"/>
          </a:p>
          <a:p>
            <a:pPr marL="203200" indent="-203200">
              <a:spcAft>
                <a:spcPts val="1000"/>
              </a:spcAft>
              <a:buSzPct val="100000"/>
              <a:buChar char="•"/>
            </a:pPr>
            <a:r>
              <a:rPr lang="en-US" sz="1550" b="1" dirty="0">
                <a:solidFill>
                  <a:srgbClr val="0B1F33"/>
                </a:solidFill>
                <a:latin typeface="Segoe UI" pitchFamily="34" charset="0"/>
                <a:ea typeface="Segoe UI" pitchFamily="34" charset="-122"/>
                <a:cs typeface="Segoe UI" pitchFamily="34" charset="-120"/>
              </a:rPr>
              <a:t>Schema evolution: </a:t>
            </a:r>
            <a:pPr indent="0" marL="0">
              <a:buNone/>
            </a:pPr>
            <a:r>
              <a:rPr lang="en-US" sz="1550" dirty="0">
                <a:solidFill>
                  <a:srgbClr val="1B2733"/>
                </a:solidFill>
                <a:latin typeface="Segoe UI" pitchFamily="34" charset="0"/>
                <a:ea typeface="Segoe UI" pitchFamily="34" charset="-122"/>
                <a:cs typeface="Segoe UI" pitchFamily="34" charset="-120"/>
              </a:rPr>
              <a:t>mergeSchema adds a column on purpose</a:t>
            </a:r>
            <a:endParaRPr lang="en-US" sz="1550" dirty="0"/>
          </a:p>
          <a:p>
            <a:pPr marL="203200" indent="-203200">
              <a:spcAft>
                <a:spcPts val="1000"/>
              </a:spcAft>
              <a:buSzPct val="100000"/>
              <a:buChar char="•"/>
            </a:pPr>
            <a:r>
              <a:rPr lang="en-US" sz="1550" b="1" dirty="0">
                <a:solidFill>
                  <a:srgbClr val="0B1F33"/>
                </a:solidFill>
                <a:latin typeface="Segoe UI" pitchFamily="34" charset="0"/>
                <a:ea typeface="Segoe UI" pitchFamily="34" charset="-122"/>
                <a:cs typeface="Segoe UI" pitchFamily="34" charset="-120"/>
              </a:rPr>
              <a:t>Maintenance: </a:t>
            </a:r>
            <a:pPr indent="0" marL="0">
              <a:buNone/>
            </a:pPr>
            <a:r>
              <a:rPr lang="en-US" sz="1550" dirty="0">
                <a:solidFill>
                  <a:srgbClr val="1B2733"/>
                </a:solidFill>
                <a:latin typeface="Segoe UI" pitchFamily="34" charset="0"/>
                <a:ea typeface="Segoe UI" pitchFamily="34" charset="-122"/>
                <a:cs typeface="Segoe UI" pitchFamily="34" charset="-120"/>
              </a:rPr>
              <a:t>OPTIMIZE compacts files; VACUUM DRY RUN previews cleanup</a:t>
            </a:r>
            <a:endParaRPr lang="en-US" sz="1550" dirty="0"/>
          </a:p>
          <a:p>
            <a:pPr marL="203200" indent="-203200">
              <a:spcAft>
                <a:spcPts val="1000"/>
              </a:spcAft>
              <a:buSzPct val="100000"/>
              <a:buChar char="•"/>
            </a:pPr>
            <a:r>
              <a:rPr lang="en-US" sz="1550" b="1" dirty="0">
                <a:solidFill>
                  <a:srgbClr val="0B1F33"/>
                </a:solidFill>
                <a:latin typeface="Segoe UI" pitchFamily="34" charset="0"/>
                <a:ea typeface="Segoe UI" pitchFamily="34" charset="-122"/>
                <a:cs typeface="Segoe UI" pitchFamily="34" charset="-120"/>
              </a:rPr>
              <a:t>Open format: </a:t>
            </a:r>
            <a:pPr indent="0" marL="0">
              <a:buNone/>
            </a:pPr>
            <a:r>
              <a:rPr lang="en-US" sz="1550" dirty="0">
                <a:solidFill>
                  <a:srgbClr val="1B2733"/>
                </a:solidFill>
                <a:latin typeface="Segoe UI" pitchFamily="34" charset="0"/>
                <a:ea typeface="Segoe UI" pitchFamily="34" charset="-122"/>
                <a:cs typeface="Segoe UI" pitchFamily="34" charset="-120"/>
              </a:rPr>
              <a:t>Spark and the SQL endpoint read the same table</a:t>
            </a:r>
            <a:endParaRPr lang="en-US" sz="1550" dirty="0"/>
          </a:p>
        </p:txBody>
      </p:sp>
      <p:sp>
        <p:nvSpPr>
          <p:cNvPr id="6" name="Shape 4"/>
          <p:cNvSpPr/>
          <p:nvPr/>
        </p:nvSpPr>
        <p:spPr>
          <a:xfrm>
            <a:off x="548640" y="5257800"/>
            <a:ext cx="5577840" cy="868680"/>
          </a:xfrm>
          <a:prstGeom prst="rect">
            <a:avLst/>
          </a:prstGeom>
          <a:solidFill>
            <a:srgbClr val="DDF0F2"/>
          </a:solidFill>
          <a:ln w="12700">
            <a:solidFill>
              <a:srgbClr val="DDF0F2"/>
            </a:solidFill>
            <a:prstDash val="solid"/>
          </a:ln>
        </p:spPr>
      </p:sp>
      <p:sp>
        <p:nvSpPr>
          <p:cNvPr id="7" name="Text 5"/>
          <p:cNvSpPr/>
          <p:nvPr/>
        </p:nvSpPr>
        <p:spPr>
          <a:xfrm>
            <a:off x="777240" y="5257800"/>
            <a:ext cx="5212080" cy="868680"/>
          </a:xfrm>
          <a:prstGeom prst="rect">
            <a:avLst/>
          </a:prstGeom>
          <a:noFill/>
          <a:ln/>
        </p:spPr>
        <p:txBody>
          <a:bodyPr wrap="square" lIns="0" tIns="0" rIns="0" bIns="0" rtlCol="0" anchor="ctr"/>
          <a:lstStyle/>
          <a:p>
            <a:pPr indent="0" marL="0">
              <a:buNone/>
            </a:pPr>
            <a:r>
              <a:rPr lang="en-US" sz="1400" dirty="0">
                <a:solidFill>
                  <a:srgbClr val="0B1F33"/>
                </a:solidFill>
                <a:latin typeface="Segoe UI" pitchFamily="34" charset="0"/>
                <a:ea typeface="Segoe UI" pitchFamily="34" charset="-122"/>
                <a:cs typeface="Segoe UI" pitchFamily="34" charset="-120"/>
              </a:rPr>
              <a:t>Demo cue: nb_03 writes only to silver.demo_customers, a scratch copy. Production tables stay unchanged.</a:t>
            </a:r>
            <a:endParaRPr lang="en-US" sz="1400" dirty="0"/>
          </a:p>
        </p:txBody>
      </p:sp>
      <p:sp>
        <p:nvSpPr>
          <p:cNvPr id="8" name="Text 6"/>
          <p:cNvSpPr/>
          <p:nvPr/>
        </p:nvSpPr>
        <p:spPr>
          <a:xfrm>
            <a:off x="6583680" y="1691640"/>
            <a:ext cx="5029200" cy="320040"/>
          </a:xfrm>
          <a:prstGeom prst="rect">
            <a:avLst/>
          </a:prstGeom>
          <a:noFill/>
          <a:ln/>
        </p:spPr>
        <p:txBody>
          <a:bodyPr wrap="square" lIns="0" tIns="0" rIns="0" bIns="0" rtlCol="0" anchor="ctr"/>
          <a:lstStyle/>
          <a:p>
            <a:pPr indent="0" marL="0">
              <a:buNone/>
            </a:pPr>
            <a:r>
              <a:rPr lang="en-US" sz="1400" b="1" dirty="0">
                <a:solidFill>
                  <a:srgbClr val="5B6B7A"/>
                </a:solidFill>
                <a:latin typeface="Segoe UI" pitchFamily="34" charset="0"/>
                <a:ea typeface="Segoe UI" pitchFamily="34" charset="-122"/>
                <a:cs typeface="Segoe UI" pitchFamily="34" charset="-120"/>
              </a:rPr>
              <a:t>Example history from a demo run</a:t>
            </a:r>
            <a:endParaRPr lang="en-US" sz="1400" dirty="0"/>
          </a:p>
        </p:txBody>
      </p:sp>
      <p:sp>
        <p:nvSpPr>
          <p:cNvPr id="9" name="Shape 7"/>
          <p:cNvSpPr/>
          <p:nvPr/>
        </p:nvSpPr>
        <p:spPr>
          <a:xfrm>
            <a:off x="6583680" y="2148840"/>
            <a:ext cx="5056632" cy="82296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0" name="Shape 8"/>
          <p:cNvSpPr/>
          <p:nvPr/>
        </p:nvSpPr>
        <p:spPr>
          <a:xfrm>
            <a:off x="6583680" y="2148840"/>
            <a:ext cx="73152" cy="822960"/>
          </a:xfrm>
          <a:prstGeom prst="rect">
            <a:avLst/>
          </a:prstGeom>
          <a:solidFill>
            <a:srgbClr val="0E7C86"/>
          </a:solidFill>
          <a:ln w="12700">
            <a:solidFill>
              <a:srgbClr val="0E7C86"/>
            </a:solidFill>
            <a:prstDash val="solid"/>
          </a:ln>
        </p:spPr>
      </p:sp>
      <p:sp>
        <p:nvSpPr>
          <p:cNvPr id="11" name="Shape 9"/>
          <p:cNvSpPr/>
          <p:nvPr/>
        </p:nvSpPr>
        <p:spPr>
          <a:xfrm>
            <a:off x="6812280" y="2350008"/>
            <a:ext cx="685800" cy="420624"/>
          </a:xfrm>
          <a:prstGeom prst="roundRect">
            <a:avLst>
              <a:gd name="adj" fmla="val 13043"/>
            </a:avLst>
          </a:prstGeom>
          <a:solidFill>
            <a:srgbClr val="0E7C86"/>
          </a:solidFill>
          <a:ln w="12700">
            <a:solidFill>
              <a:srgbClr val="0E7C86"/>
            </a:solidFill>
            <a:prstDash val="solid"/>
          </a:ln>
        </p:spPr>
      </p:sp>
      <p:sp>
        <p:nvSpPr>
          <p:cNvPr id="12" name="Text 10"/>
          <p:cNvSpPr/>
          <p:nvPr/>
        </p:nvSpPr>
        <p:spPr>
          <a:xfrm>
            <a:off x="6812280" y="2350008"/>
            <a:ext cx="685800"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v0</a:t>
            </a:r>
            <a:endParaRPr lang="en-US" sz="1400" dirty="0"/>
          </a:p>
        </p:txBody>
      </p:sp>
      <p:sp>
        <p:nvSpPr>
          <p:cNvPr id="13" name="Text 11"/>
          <p:cNvSpPr/>
          <p:nvPr/>
        </p:nvSpPr>
        <p:spPr>
          <a:xfrm>
            <a:off x="7726680" y="2148840"/>
            <a:ext cx="3749040" cy="822960"/>
          </a:xfrm>
          <a:prstGeom prst="rect">
            <a:avLst/>
          </a:prstGeom>
          <a:noFill/>
          <a:ln/>
        </p:spPr>
        <p:txBody>
          <a:bodyPr wrap="square" lIns="0" tIns="0" rIns="0" bIns="0" rtlCol="0" anchor="ctr"/>
          <a:lstStyle/>
          <a:p>
            <a:pPr indent="0" marL="0">
              <a:buNone/>
            </a:pPr>
            <a:r>
              <a:rPr lang="en-US" sz="1450" dirty="0">
                <a:solidFill>
                  <a:srgbClr val="1B2733"/>
                </a:solidFill>
                <a:latin typeface="Segoe UI" pitchFamily="34" charset="0"/>
                <a:ea typeface="Segoe UI" pitchFamily="34" charset="-122"/>
                <a:cs typeface="Segoe UI" pitchFamily="34" charset="-120"/>
              </a:rPr>
              <a:t>Create a scratch copy of silver.customers</a:t>
            </a:r>
            <a:endParaRPr lang="en-US" sz="1450" dirty="0"/>
          </a:p>
        </p:txBody>
      </p:sp>
      <p:sp>
        <p:nvSpPr>
          <p:cNvPr id="14" name="Shape 12"/>
          <p:cNvSpPr/>
          <p:nvPr/>
        </p:nvSpPr>
        <p:spPr>
          <a:xfrm>
            <a:off x="6583680" y="3200400"/>
            <a:ext cx="5056632" cy="82296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5" name="Shape 13"/>
          <p:cNvSpPr/>
          <p:nvPr/>
        </p:nvSpPr>
        <p:spPr>
          <a:xfrm>
            <a:off x="6583680" y="3200400"/>
            <a:ext cx="73152" cy="822960"/>
          </a:xfrm>
          <a:prstGeom prst="rect">
            <a:avLst/>
          </a:prstGeom>
          <a:solidFill>
            <a:srgbClr val="0E7C86"/>
          </a:solidFill>
          <a:ln w="12700">
            <a:solidFill>
              <a:srgbClr val="0E7C86"/>
            </a:solidFill>
            <a:prstDash val="solid"/>
          </a:ln>
        </p:spPr>
      </p:sp>
      <p:sp>
        <p:nvSpPr>
          <p:cNvPr id="16" name="Shape 14"/>
          <p:cNvSpPr/>
          <p:nvPr/>
        </p:nvSpPr>
        <p:spPr>
          <a:xfrm>
            <a:off x="6812280" y="3401568"/>
            <a:ext cx="685800" cy="420624"/>
          </a:xfrm>
          <a:prstGeom prst="roundRect">
            <a:avLst>
              <a:gd name="adj" fmla="val 13043"/>
            </a:avLst>
          </a:prstGeom>
          <a:solidFill>
            <a:srgbClr val="0E7C86"/>
          </a:solidFill>
          <a:ln w="12700">
            <a:solidFill>
              <a:srgbClr val="0E7C86"/>
            </a:solidFill>
            <a:prstDash val="solid"/>
          </a:ln>
        </p:spPr>
      </p:sp>
      <p:sp>
        <p:nvSpPr>
          <p:cNvPr id="17" name="Text 15"/>
          <p:cNvSpPr/>
          <p:nvPr/>
        </p:nvSpPr>
        <p:spPr>
          <a:xfrm>
            <a:off x="6812280" y="3401568"/>
            <a:ext cx="685800"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v1</a:t>
            </a:r>
            <a:endParaRPr lang="en-US" sz="1400" dirty="0"/>
          </a:p>
        </p:txBody>
      </p:sp>
      <p:sp>
        <p:nvSpPr>
          <p:cNvPr id="18" name="Text 16"/>
          <p:cNvSpPr/>
          <p:nvPr/>
        </p:nvSpPr>
        <p:spPr>
          <a:xfrm>
            <a:off x="7726680" y="3200400"/>
            <a:ext cx="3749040" cy="822960"/>
          </a:xfrm>
          <a:prstGeom prst="rect">
            <a:avLst/>
          </a:prstGeom>
          <a:noFill/>
          <a:ln/>
        </p:spPr>
        <p:txBody>
          <a:bodyPr wrap="square" lIns="0" tIns="0" rIns="0" bIns="0" rtlCol="0" anchor="ctr"/>
          <a:lstStyle/>
          <a:p>
            <a:pPr indent="0" marL="0">
              <a:buNone/>
            </a:pPr>
            <a:r>
              <a:rPr lang="en-US" sz="1450" dirty="0">
                <a:solidFill>
                  <a:srgbClr val="1B2733"/>
                </a:solidFill>
                <a:latin typeface="Segoe UI" pitchFamily="34" charset="0"/>
                <a:ea typeface="Segoe UI" pitchFamily="34" charset="-122"/>
                <a:cs typeface="Segoe UI" pitchFamily="34" charset="-120"/>
              </a:rPr>
              <a:t>MERGE: one row updated, one row deleted</a:t>
            </a:r>
            <a:endParaRPr lang="en-US" sz="1450" dirty="0"/>
          </a:p>
        </p:txBody>
      </p:sp>
      <p:sp>
        <p:nvSpPr>
          <p:cNvPr id="19" name="Shape 17"/>
          <p:cNvSpPr/>
          <p:nvPr/>
        </p:nvSpPr>
        <p:spPr>
          <a:xfrm>
            <a:off x="6583680" y="4251960"/>
            <a:ext cx="5056632" cy="82296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20" name="Shape 18"/>
          <p:cNvSpPr/>
          <p:nvPr/>
        </p:nvSpPr>
        <p:spPr>
          <a:xfrm>
            <a:off x="6583680" y="4251960"/>
            <a:ext cx="73152" cy="822960"/>
          </a:xfrm>
          <a:prstGeom prst="rect">
            <a:avLst/>
          </a:prstGeom>
          <a:solidFill>
            <a:srgbClr val="0E7C86"/>
          </a:solidFill>
          <a:ln w="12700">
            <a:solidFill>
              <a:srgbClr val="0E7C86"/>
            </a:solidFill>
            <a:prstDash val="solid"/>
          </a:ln>
        </p:spPr>
      </p:sp>
      <p:sp>
        <p:nvSpPr>
          <p:cNvPr id="21" name="Shape 19"/>
          <p:cNvSpPr/>
          <p:nvPr/>
        </p:nvSpPr>
        <p:spPr>
          <a:xfrm>
            <a:off x="6812280" y="4453128"/>
            <a:ext cx="685800" cy="420624"/>
          </a:xfrm>
          <a:prstGeom prst="roundRect">
            <a:avLst>
              <a:gd name="adj" fmla="val 13043"/>
            </a:avLst>
          </a:prstGeom>
          <a:solidFill>
            <a:srgbClr val="0E7C86"/>
          </a:solidFill>
          <a:ln w="12700">
            <a:solidFill>
              <a:srgbClr val="0E7C86"/>
            </a:solidFill>
            <a:prstDash val="solid"/>
          </a:ln>
        </p:spPr>
      </p:sp>
      <p:sp>
        <p:nvSpPr>
          <p:cNvPr id="22" name="Text 20"/>
          <p:cNvSpPr/>
          <p:nvPr/>
        </p:nvSpPr>
        <p:spPr>
          <a:xfrm>
            <a:off x="6812280" y="4453128"/>
            <a:ext cx="685800"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v2</a:t>
            </a:r>
            <a:endParaRPr lang="en-US" sz="1400" dirty="0"/>
          </a:p>
        </p:txBody>
      </p:sp>
      <p:sp>
        <p:nvSpPr>
          <p:cNvPr id="23" name="Text 21"/>
          <p:cNvSpPr/>
          <p:nvPr/>
        </p:nvSpPr>
        <p:spPr>
          <a:xfrm>
            <a:off x="7726680" y="4251960"/>
            <a:ext cx="3749040" cy="822960"/>
          </a:xfrm>
          <a:prstGeom prst="rect">
            <a:avLst/>
          </a:prstGeom>
          <a:noFill/>
          <a:ln/>
        </p:spPr>
        <p:txBody>
          <a:bodyPr wrap="square" lIns="0" tIns="0" rIns="0" bIns="0" rtlCol="0" anchor="ctr"/>
          <a:lstStyle/>
          <a:p>
            <a:pPr indent="0" marL="0">
              <a:buNone/>
            </a:pPr>
            <a:r>
              <a:rPr lang="en-US" sz="1450" dirty="0">
                <a:solidFill>
                  <a:srgbClr val="1B2733"/>
                </a:solidFill>
                <a:latin typeface="Segoe UI" pitchFamily="34" charset="0"/>
                <a:ea typeface="Segoe UI" pitchFamily="34" charset="-122"/>
                <a:cs typeface="Segoe UI" pitchFamily="34" charset="-120"/>
              </a:rPr>
              <a:t>Append with mergeSchema: new risk_band column</a:t>
            </a:r>
            <a:endParaRPr lang="en-US" sz="1450" dirty="0"/>
          </a:p>
        </p:txBody>
      </p:sp>
      <p:sp>
        <p:nvSpPr>
          <p:cNvPr id="24" name="Shape 22"/>
          <p:cNvSpPr/>
          <p:nvPr/>
        </p:nvSpPr>
        <p:spPr>
          <a:xfrm>
            <a:off x="6583680" y="5303520"/>
            <a:ext cx="5056632" cy="82296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25" name="Shape 23"/>
          <p:cNvSpPr/>
          <p:nvPr/>
        </p:nvSpPr>
        <p:spPr>
          <a:xfrm>
            <a:off x="6583680" y="5303520"/>
            <a:ext cx="73152" cy="822960"/>
          </a:xfrm>
          <a:prstGeom prst="rect">
            <a:avLst/>
          </a:prstGeom>
          <a:solidFill>
            <a:srgbClr val="0E7C86"/>
          </a:solidFill>
          <a:ln w="12700">
            <a:solidFill>
              <a:srgbClr val="0E7C86"/>
            </a:solidFill>
            <a:prstDash val="solid"/>
          </a:ln>
        </p:spPr>
      </p:sp>
      <p:sp>
        <p:nvSpPr>
          <p:cNvPr id="26" name="Shape 24"/>
          <p:cNvSpPr/>
          <p:nvPr/>
        </p:nvSpPr>
        <p:spPr>
          <a:xfrm>
            <a:off x="6812280" y="5504688"/>
            <a:ext cx="685800" cy="420624"/>
          </a:xfrm>
          <a:prstGeom prst="roundRect">
            <a:avLst>
              <a:gd name="adj" fmla="val 13043"/>
            </a:avLst>
          </a:prstGeom>
          <a:solidFill>
            <a:srgbClr val="0E7C86"/>
          </a:solidFill>
          <a:ln w="12700">
            <a:solidFill>
              <a:srgbClr val="0E7C86"/>
            </a:solidFill>
            <a:prstDash val="solid"/>
          </a:ln>
        </p:spPr>
      </p:sp>
      <p:sp>
        <p:nvSpPr>
          <p:cNvPr id="27" name="Text 25"/>
          <p:cNvSpPr/>
          <p:nvPr/>
        </p:nvSpPr>
        <p:spPr>
          <a:xfrm>
            <a:off x="6812280" y="5504688"/>
            <a:ext cx="685800" cy="420624"/>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v3</a:t>
            </a:r>
            <a:endParaRPr lang="en-US" sz="1400" dirty="0"/>
          </a:p>
        </p:txBody>
      </p:sp>
      <p:sp>
        <p:nvSpPr>
          <p:cNvPr id="28" name="Text 26"/>
          <p:cNvSpPr/>
          <p:nvPr/>
        </p:nvSpPr>
        <p:spPr>
          <a:xfrm>
            <a:off x="7726680" y="5303520"/>
            <a:ext cx="3749040" cy="822960"/>
          </a:xfrm>
          <a:prstGeom prst="rect">
            <a:avLst/>
          </a:prstGeom>
          <a:noFill/>
          <a:ln/>
        </p:spPr>
        <p:txBody>
          <a:bodyPr wrap="square" lIns="0" tIns="0" rIns="0" bIns="0" rtlCol="0" anchor="ctr"/>
          <a:lstStyle/>
          <a:p>
            <a:pPr indent="0" marL="0">
              <a:buNone/>
            </a:pPr>
            <a:r>
              <a:rPr lang="en-US" sz="1450" dirty="0">
                <a:solidFill>
                  <a:srgbClr val="1B2733"/>
                </a:solidFill>
                <a:latin typeface="Segoe UI" pitchFamily="34" charset="0"/>
                <a:ea typeface="Segoe UI" pitchFamily="34" charset="-122"/>
                <a:cs typeface="Segoe UI" pitchFamily="34" charset="-120"/>
              </a:rPr>
              <a:t>OPTIMIZE: compact small files, ZORDER by province</a:t>
            </a:r>
            <a:endParaRPr lang="en-US" sz="1450" dirty="0"/>
          </a:p>
        </p:txBody>
      </p:sp>
      <p:sp>
        <p:nvSpPr>
          <p:cNvPr id="29" name="Text 27"/>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30" name="Text 28"/>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2 · 15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Notebooks: PySpark where engineers work</a:t>
            </a:r>
            <a:endParaRPr lang="en-US" sz="3000" dirty="0"/>
          </a:p>
        </p:txBody>
      </p:sp>
      <p:sp>
        <p:nvSpPr>
          <p:cNvPr id="5" name="Shape 3"/>
          <p:cNvSpPr/>
          <p:nvPr/>
        </p:nvSpPr>
        <p:spPr>
          <a:xfrm>
            <a:off x="548640" y="1691640"/>
            <a:ext cx="566928" cy="566928"/>
          </a:xfrm>
          <a:prstGeom prst="ellipse">
            <a:avLst/>
          </a:prstGeom>
          <a:solidFill>
            <a:srgbClr val="0E7C86"/>
          </a:solidFill>
          <a:ln w="12700">
            <a:solidFill>
              <a:srgbClr val="0E7C86"/>
            </a:solidFill>
            <a:prstDash val="solid"/>
          </a:ln>
        </p:spPr>
      </p:sp>
      <p:pic>
        <p:nvPicPr>
          <p:cNvPr id="6" name="Image 0" descr="preencoded.png">    </p:cNvPr>
          <p:cNvPicPr>
            <a:picLocks noChangeAspect="1"/>
          </p:cNvPicPr>
          <p:nvPr/>
        </p:nvPicPr>
        <p:blipFill>
          <a:blip r:embed="rId1"/>
          <a:stretch>
            <a:fillRect/>
          </a:stretch>
        </p:blipFill>
        <p:spPr>
          <a:xfrm>
            <a:off x="690372" y="1833372"/>
            <a:ext cx="283464" cy="283464"/>
          </a:xfrm>
          <a:prstGeom prst="rect">
            <a:avLst/>
          </a:prstGeom>
        </p:spPr>
      </p:pic>
      <p:sp>
        <p:nvSpPr>
          <p:cNvPr id="7" name="Text 4"/>
          <p:cNvSpPr/>
          <p:nvPr/>
        </p:nvSpPr>
        <p:spPr>
          <a:xfrm>
            <a:off x="1325880" y="1618488"/>
            <a:ext cx="4526280" cy="786384"/>
          </a:xfrm>
          <a:prstGeom prst="rect">
            <a:avLst/>
          </a:prstGeom>
          <a:noFill/>
          <a:ln/>
        </p:spPr>
        <p:txBody>
          <a:bodyPr wrap="square" lIns="0" tIns="0" rIns="0" bIns="0" rtlCol="0" anchor="ctr"/>
          <a:lstStyle/>
          <a:p>
            <a:pPr indent="0" marL="0">
              <a:buNone/>
            </a:pPr>
            <a:r>
              <a:rPr lang="en-US" sz="1500" b="1" dirty="0">
                <a:solidFill>
                  <a:srgbClr val="0B1F33"/>
                </a:solidFill>
                <a:latin typeface="Segoe UI" pitchFamily="34" charset="0"/>
                <a:ea typeface="Segoe UI" pitchFamily="34" charset="-122"/>
                <a:cs typeface="Segoe UI" pitchFamily="34" charset="-120"/>
              </a:rPr>
              <a:t>Git-friendly. </a:t>
            </a:r>
            <a:pPr indent="0" marL="0">
              <a:buNone/>
            </a:pPr>
            <a:r>
              <a:rPr lang="en-US" sz="1500" dirty="0">
                <a:solidFill>
                  <a:srgbClr val="1B2733"/>
                </a:solidFill>
                <a:latin typeface="Segoe UI" pitchFamily="34" charset="0"/>
                <a:ea typeface="Segoe UI" pitchFamily="34" charset="-122"/>
                <a:cs typeface="Segoe UI" pitchFamily="34" charset="-120"/>
              </a:rPr>
              <a:t>Notebooks are .py files in Fabric Git format, so diffs and reviews work.</a:t>
            </a:r>
            <a:endParaRPr lang="en-US" sz="1500" dirty="0"/>
          </a:p>
        </p:txBody>
      </p:sp>
      <p:sp>
        <p:nvSpPr>
          <p:cNvPr id="8" name="Shape 5"/>
          <p:cNvSpPr/>
          <p:nvPr/>
        </p:nvSpPr>
        <p:spPr>
          <a:xfrm>
            <a:off x="548640" y="2606040"/>
            <a:ext cx="566928" cy="566928"/>
          </a:xfrm>
          <a:prstGeom prst="ellipse">
            <a:avLst/>
          </a:prstGeom>
          <a:solidFill>
            <a:srgbClr val="0E7C86"/>
          </a:solidFill>
          <a:ln w="12700">
            <a:solidFill>
              <a:srgbClr val="0E7C86"/>
            </a:solidFill>
            <a:prstDash val="solid"/>
          </a:ln>
        </p:spPr>
      </p:sp>
      <p:pic>
        <p:nvPicPr>
          <p:cNvPr id="9" name="Image 1" descr="preencoded.png">    </p:cNvPr>
          <p:cNvPicPr>
            <a:picLocks noChangeAspect="1"/>
          </p:cNvPicPr>
          <p:nvPr/>
        </p:nvPicPr>
        <p:blipFill>
          <a:blip r:embed="rId2"/>
          <a:stretch>
            <a:fillRect/>
          </a:stretch>
        </p:blipFill>
        <p:spPr>
          <a:xfrm>
            <a:off x="690372" y="2747772"/>
            <a:ext cx="283464" cy="283464"/>
          </a:xfrm>
          <a:prstGeom prst="rect">
            <a:avLst/>
          </a:prstGeom>
        </p:spPr>
      </p:pic>
      <p:sp>
        <p:nvSpPr>
          <p:cNvPr id="10" name="Text 6"/>
          <p:cNvSpPr/>
          <p:nvPr/>
        </p:nvSpPr>
        <p:spPr>
          <a:xfrm>
            <a:off x="1325880" y="2532888"/>
            <a:ext cx="4526280" cy="786384"/>
          </a:xfrm>
          <a:prstGeom prst="rect">
            <a:avLst/>
          </a:prstGeom>
          <a:noFill/>
          <a:ln/>
        </p:spPr>
        <p:txBody>
          <a:bodyPr wrap="square" lIns="0" tIns="0" rIns="0" bIns="0" rtlCol="0" anchor="ctr"/>
          <a:lstStyle/>
          <a:p>
            <a:pPr indent="0" marL="0">
              <a:buNone/>
            </a:pPr>
            <a:r>
              <a:rPr lang="en-US" sz="1500" b="1" dirty="0">
                <a:solidFill>
                  <a:srgbClr val="0B1F33"/>
                </a:solidFill>
                <a:latin typeface="Segoe UI" pitchFamily="34" charset="0"/>
                <a:ea typeface="Segoe UI" pitchFamily="34" charset="-122"/>
                <a:cs typeface="Segoe UI" pitchFamily="34" charset="-120"/>
              </a:rPr>
              <a:t>Parallel by design. </a:t>
            </a:r>
            <a:pPr indent="0" marL="0">
              <a:buNone/>
            </a:pPr>
            <a:r>
              <a:rPr lang="en-US" sz="1500" dirty="0">
                <a:solidFill>
                  <a:srgbClr val="1B2733"/>
                </a:solidFill>
                <a:latin typeface="Segoe UI" pitchFamily="34" charset="0"/>
                <a:ea typeface="Segoe UI" pitchFamily="34" charset="-122"/>
                <a:cs typeface="Segoe UI" pitchFamily="34" charset="-120"/>
              </a:rPr>
              <a:t>Partitioned JDBC reads run across Spark tasks.</a:t>
            </a:r>
            <a:endParaRPr lang="en-US" sz="1500" dirty="0"/>
          </a:p>
        </p:txBody>
      </p:sp>
      <p:sp>
        <p:nvSpPr>
          <p:cNvPr id="11" name="Shape 7"/>
          <p:cNvSpPr/>
          <p:nvPr/>
        </p:nvSpPr>
        <p:spPr>
          <a:xfrm>
            <a:off x="548640" y="3520440"/>
            <a:ext cx="566928" cy="566928"/>
          </a:xfrm>
          <a:prstGeom prst="ellipse">
            <a:avLst/>
          </a:prstGeom>
          <a:solidFill>
            <a:srgbClr val="0E7C86"/>
          </a:solidFill>
          <a:ln w="12700">
            <a:solidFill>
              <a:srgbClr val="0E7C86"/>
            </a:solidFill>
            <a:prstDash val="solid"/>
          </a:ln>
        </p:spPr>
      </p:sp>
      <p:pic>
        <p:nvPicPr>
          <p:cNvPr id="12" name="Image 2" descr="preencoded.png">    </p:cNvPr>
          <p:cNvPicPr>
            <a:picLocks noChangeAspect="1"/>
          </p:cNvPicPr>
          <p:nvPr/>
        </p:nvPicPr>
        <p:blipFill>
          <a:blip r:embed="rId3"/>
          <a:stretch>
            <a:fillRect/>
          </a:stretch>
        </p:blipFill>
        <p:spPr>
          <a:xfrm>
            <a:off x="690372" y="3662172"/>
            <a:ext cx="283464" cy="283464"/>
          </a:xfrm>
          <a:prstGeom prst="rect">
            <a:avLst/>
          </a:prstGeom>
        </p:spPr>
      </p:pic>
      <p:sp>
        <p:nvSpPr>
          <p:cNvPr id="13" name="Text 8"/>
          <p:cNvSpPr/>
          <p:nvPr/>
        </p:nvSpPr>
        <p:spPr>
          <a:xfrm>
            <a:off x="1325880" y="3447288"/>
            <a:ext cx="4526280" cy="786384"/>
          </a:xfrm>
          <a:prstGeom prst="rect">
            <a:avLst/>
          </a:prstGeom>
          <a:noFill/>
          <a:ln/>
        </p:spPr>
        <p:txBody>
          <a:bodyPr wrap="square" lIns="0" tIns="0" rIns="0" bIns="0" rtlCol="0" anchor="ctr"/>
          <a:lstStyle/>
          <a:p>
            <a:pPr indent="0" marL="0">
              <a:buNone/>
            </a:pPr>
            <a:r>
              <a:rPr lang="en-US" sz="1500" b="1" dirty="0">
                <a:solidFill>
                  <a:srgbClr val="0B1F33"/>
                </a:solidFill>
                <a:latin typeface="Segoe UI" pitchFamily="34" charset="0"/>
                <a:ea typeface="Segoe UI" pitchFamily="34" charset="-122"/>
                <a:cs typeface="Segoe UI" pitchFamily="34" charset="-120"/>
              </a:rPr>
              <a:t>Observable. </a:t>
            </a:r>
            <a:pPr indent="0" marL="0">
              <a:buNone/>
            </a:pPr>
            <a:r>
              <a:rPr lang="en-US" sz="1500" dirty="0">
                <a:solidFill>
                  <a:srgbClr val="1B2733"/>
                </a:solidFill>
                <a:latin typeface="Segoe UI" pitchFamily="34" charset="0"/>
                <a:ea typeface="Segoe UI" pitchFamily="34" charset="-122"/>
                <a:cs typeface="Segoe UI" pitchFamily="34" charset="-120"/>
              </a:rPr>
              <a:t>Each stage logs OK or FAILED, with the Java error, to a file.</a:t>
            </a:r>
            <a:endParaRPr lang="en-US" sz="1500" dirty="0"/>
          </a:p>
        </p:txBody>
      </p:sp>
      <p:sp>
        <p:nvSpPr>
          <p:cNvPr id="14" name="Shape 9"/>
          <p:cNvSpPr/>
          <p:nvPr/>
        </p:nvSpPr>
        <p:spPr>
          <a:xfrm>
            <a:off x="548640" y="4434840"/>
            <a:ext cx="566928" cy="566928"/>
          </a:xfrm>
          <a:prstGeom prst="ellipse">
            <a:avLst/>
          </a:prstGeom>
          <a:solidFill>
            <a:srgbClr val="0E7C86"/>
          </a:solidFill>
          <a:ln w="12700">
            <a:solidFill>
              <a:srgbClr val="0E7C86"/>
            </a:solidFill>
            <a:prstDash val="solid"/>
          </a:ln>
        </p:spPr>
      </p:sp>
      <p:pic>
        <p:nvPicPr>
          <p:cNvPr id="15" name="Image 3" descr="preencoded.png">    </p:cNvPr>
          <p:cNvPicPr>
            <a:picLocks noChangeAspect="1"/>
          </p:cNvPicPr>
          <p:nvPr/>
        </p:nvPicPr>
        <p:blipFill>
          <a:blip r:embed="rId4"/>
          <a:stretch>
            <a:fillRect/>
          </a:stretch>
        </p:blipFill>
        <p:spPr>
          <a:xfrm>
            <a:off x="690372" y="4576572"/>
            <a:ext cx="283464" cy="283464"/>
          </a:xfrm>
          <a:prstGeom prst="rect">
            <a:avLst/>
          </a:prstGeom>
        </p:spPr>
      </p:pic>
      <p:sp>
        <p:nvSpPr>
          <p:cNvPr id="16" name="Text 10"/>
          <p:cNvSpPr/>
          <p:nvPr/>
        </p:nvSpPr>
        <p:spPr>
          <a:xfrm>
            <a:off x="1325880" y="4361688"/>
            <a:ext cx="4526280" cy="786384"/>
          </a:xfrm>
          <a:prstGeom prst="rect">
            <a:avLst/>
          </a:prstGeom>
          <a:noFill/>
          <a:ln/>
        </p:spPr>
        <p:txBody>
          <a:bodyPr wrap="square" lIns="0" tIns="0" rIns="0" bIns="0" rtlCol="0" anchor="ctr"/>
          <a:lstStyle/>
          <a:p>
            <a:pPr indent="0" marL="0">
              <a:buNone/>
            </a:pPr>
            <a:r>
              <a:rPr lang="en-US" sz="1500" b="1" dirty="0">
                <a:solidFill>
                  <a:srgbClr val="0B1F33"/>
                </a:solidFill>
                <a:latin typeface="Segoe UI" pitchFamily="34" charset="0"/>
                <a:ea typeface="Segoe UI" pitchFamily="34" charset="-122"/>
                <a:cs typeface="Segoe UI" pitchFamily="34" charset="-120"/>
              </a:rPr>
              <a:t>Orchestrated. </a:t>
            </a:r>
            <a:pPr indent="0" marL="0">
              <a:buNone/>
            </a:pPr>
            <a:r>
              <a:rPr lang="en-US" sz="1500" dirty="0">
                <a:solidFill>
                  <a:srgbClr val="1B2733"/>
                </a:solidFill>
                <a:latin typeface="Segoe UI" pitchFamily="34" charset="0"/>
                <a:ea typeface="Segoe UI" pitchFamily="34" charset="-122"/>
                <a:cs typeface="Segoe UI" pitchFamily="34" charset="-120"/>
              </a:rPr>
              <a:t>Pipelines run notebooks with parameters, such as load_mode.</a:t>
            </a:r>
            <a:endParaRPr lang="en-US" sz="1500" dirty="0"/>
          </a:p>
        </p:txBody>
      </p:sp>
      <p:sp>
        <p:nvSpPr>
          <p:cNvPr id="17" name="Shape 11"/>
          <p:cNvSpPr/>
          <p:nvPr/>
        </p:nvSpPr>
        <p:spPr>
          <a:xfrm>
            <a:off x="6263640" y="1691640"/>
            <a:ext cx="5376672" cy="3383280"/>
          </a:xfrm>
          <a:prstGeom prst="rect">
            <a:avLst/>
          </a:prstGeom>
          <a:solidFill>
            <a:srgbClr val="102A43"/>
          </a:solidFill>
          <a:ln w="12700">
            <a:solidFill>
              <a:srgbClr val="102A43"/>
            </a:solidFill>
            <a:prstDash val="solid"/>
          </a:ln>
        </p:spPr>
      </p:sp>
      <p:sp>
        <p:nvSpPr>
          <p:cNvPr id="18" name="Text 12"/>
          <p:cNvSpPr/>
          <p:nvPr/>
        </p:nvSpPr>
        <p:spPr>
          <a:xfrm>
            <a:off x="6492240" y="1828800"/>
            <a:ext cx="4937760" cy="274320"/>
          </a:xfrm>
          <a:prstGeom prst="rect">
            <a:avLst/>
          </a:prstGeom>
          <a:noFill/>
          <a:ln/>
        </p:spPr>
        <p:txBody>
          <a:bodyPr wrap="square" lIns="0" tIns="0" rIns="0" bIns="0" rtlCol="0" anchor="ctr"/>
          <a:lstStyle/>
          <a:p>
            <a:pPr indent="0" marL="0">
              <a:buNone/>
            </a:pPr>
            <a:r>
              <a:rPr lang="en-US" sz="1100" dirty="0">
                <a:solidFill>
                  <a:srgbClr val="8FA6BD"/>
                </a:solidFill>
                <a:latin typeface="Segoe UI" pitchFamily="34" charset="0"/>
                <a:ea typeface="Segoe UI" pitchFamily="34" charset="-122"/>
                <a:cs typeface="Segoe UI" pitchFamily="34" charset="-120"/>
              </a:rPr>
              <a:t>nb_01_synapse_migration.py  (excerpt)</a:t>
            </a:r>
            <a:endParaRPr lang="en-US" sz="1100" dirty="0"/>
          </a:p>
        </p:txBody>
      </p:sp>
      <p:sp>
        <p:nvSpPr>
          <p:cNvPr id="19" name="Text 13"/>
          <p:cNvSpPr/>
          <p:nvPr/>
        </p:nvSpPr>
        <p:spPr>
          <a:xfrm>
            <a:off x="6492240" y="2148840"/>
            <a:ext cx="5074920" cy="2606040"/>
          </a:xfrm>
          <a:prstGeom prst="rect">
            <a:avLst/>
          </a:prstGeom>
          <a:noFill/>
          <a:ln/>
        </p:spPr>
        <p:txBody>
          <a:bodyPr wrap="square" lIns="0" tIns="0" rIns="0" bIns="0" rtlCol="0" anchor="ctr"/>
          <a:lstStyle/>
          <a:p>
            <a:pPr indent="0" marL="0">
              <a:buNone/>
            </a:pPr>
            <a:r>
              <a:rPr lang="en-US" sz="1350" dirty="0">
                <a:solidFill>
                  <a:srgbClr val="E6EDF3"/>
                </a:solidFill>
                <a:latin typeface="Consolas" pitchFamily="34" charset="0"/>
                <a:ea typeface="Consolas" pitchFamily="34" charset="-122"/>
                <a:cs typeface="Consolas" pitchFamily="34" charset="-120"/>
              </a:rPr>
              <a:t>df = (spark.read.format("jdbc")</a:t>
            </a:r>
            <a:endParaRPr lang="en-US" sz="1350" dirty="0"/>
          </a:p>
          <a:p>
            <a:pPr indent="0" marL="0">
              <a:buNone/>
            </a:pPr>
            <a:r>
              <a:rPr lang="en-US" sz="1350" dirty="0">
                <a:solidFill>
                  <a:srgbClr val="E6EDF3"/>
                </a:solidFill>
                <a:latin typeface="Consolas" pitchFamily="34" charset="0"/>
                <a:ea typeface="Consolas" pitchFamily="34" charset="-122"/>
                <a:cs typeface="Consolas" pitchFamily="34" charset="-120"/>
              </a:rPr>
              <a:t>        .option("url", jdbc_url)</a:t>
            </a:r>
            <a:endParaRPr lang="en-US" sz="1350" dirty="0"/>
          </a:p>
          <a:p>
            <a:pPr indent="0" marL="0">
              <a:buNone/>
            </a:pPr>
            <a:r>
              <a:rPr lang="en-US" sz="1350" dirty="0">
                <a:solidFill>
                  <a:srgbClr val="E6EDF3"/>
                </a:solidFill>
                <a:latin typeface="Consolas" pitchFamily="34" charset="0"/>
                <a:ea typeface="Consolas" pitchFamily="34" charset="-122"/>
                <a:cs typeface="Consolas" pitchFamily="34" charset="-120"/>
              </a:rPr>
              <a:t>        .option("accessToken", token)</a:t>
            </a:r>
            <a:endParaRPr lang="en-US" sz="1350" dirty="0"/>
          </a:p>
          <a:p>
            <a:pPr indent="0" marL="0">
              <a:buNone/>
            </a:pPr>
            <a:r>
              <a:rPr lang="en-US" sz="1350" dirty="0">
                <a:solidFill>
                  <a:srgbClr val="E6EDF3"/>
                </a:solidFill>
                <a:latin typeface="Consolas" pitchFamily="34" charset="0"/>
                <a:ea typeface="Consolas" pitchFamily="34" charset="-122"/>
                <a:cs typeface="Consolas" pitchFamily="34" charset="-120"/>
              </a:rPr>
              <a:t>        .option("dbtable", "dbo.fact_transaction")</a:t>
            </a:r>
            <a:endParaRPr lang="en-US" sz="1350" dirty="0"/>
          </a:p>
          <a:p>
            <a:pPr indent="0" marL="0">
              <a:buNone/>
            </a:pPr>
            <a:r>
              <a:rPr lang="en-US" sz="1350" dirty="0">
                <a:solidFill>
                  <a:srgbClr val="E6EDF3"/>
                </a:solidFill>
                <a:latin typeface="Consolas" pitchFamily="34" charset="0"/>
                <a:ea typeface="Consolas" pitchFamily="34" charset="-122"/>
                <a:cs typeface="Consolas" pitchFamily="34" charset="-120"/>
              </a:rPr>
              <a:t>        .option("partitionColumn", "transaction_id")</a:t>
            </a:r>
            <a:endParaRPr lang="en-US" sz="1350" dirty="0"/>
          </a:p>
          <a:p>
            <a:pPr indent="0" marL="0">
              <a:buNone/>
            </a:pPr>
            <a:r>
              <a:rPr lang="en-US" sz="1350" dirty="0">
                <a:solidFill>
                  <a:srgbClr val="E6EDF3"/>
                </a:solidFill>
                <a:latin typeface="Consolas" pitchFamily="34" charset="0"/>
                <a:ea typeface="Consolas" pitchFamily="34" charset="-122"/>
                <a:cs typeface="Consolas" pitchFamily="34" charset="-120"/>
              </a:rPr>
              <a:t>        .option("lowerBound", "1")</a:t>
            </a:r>
            <a:endParaRPr lang="en-US" sz="1350" dirty="0"/>
          </a:p>
          <a:p>
            <a:pPr indent="0" marL="0">
              <a:buNone/>
            </a:pPr>
            <a:r>
              <a:rPr lang="en-US" sz="1350" dirty="0">
                <a:solidFill>
                  <a:srgbClr val="E6EDF3"/>
                </a:solidFill>
                <a:latin typeface="Consolas" pitchFamily="34" charset="0"/>
                <a:ea typeface="Consolas" pitchFamily="34" charset="-122"/>
                <a:cs typeface="Consolas" pitchFamily="34" charset="-120"/>
              </a:rPr>
              <a:t>        .option("upperBound", "100000001")</a:t>
            </a:r>
            <a:endParaRPr lang="en-US" sz="1350" dirty="0"/>
          </a:p>
          <a:p>
            <a:pPr indent="0" marL="0">
              <a:buNone/>
            </a:pPr>
            <a:r>
              <a:rPr lang="en-US" sz="1350" dirty="0">
                <a:solidFill>
                  <a:srgbClr val="E6EDF3"/>
                </a:solidFill>
                <a:latin typeface="Consolas" pitchFamily="34" charset="0"/>
                <a:ea typeface="Consolas" pitchFamily="34" charset="-122"/>
                <a:cs typeface="Consolas" pitchFamily="34" charset="-120"/>
              </a:rPr>
              <a:t>        .option("numPartitions", "16")</a:t>
            </a:r>
            <a:endParaRPr lang="en-US" sz="1350" dirty="0"/>
          </a:p>
          <a:p>
            <a:pPr indent="0" marL="0">
              <a:buNone/>
            </a:pPr>
            <a:r>
              <a:rPr lang="en-US" sz="1350" dirty="0">
                <a:solidFill>
                  <a:srgbClr val="E6EDF3"/>
                </a:solidFill>
                <a:latin typeface="Consolas" pitchFamily="34" charset="0"/>
                <a:ea typeface="Consolas" pitchFamily="34" charset="-122"/>
                <a:cs typeface="Consolas" pitchFamily="34" charset="-120"/>
              </a:rPr>
              <a:t>        .load())</a:t>
            </a:r>
            <a:endParaRPr lang="en-US" sz="1350" dirty="0"/>
          </a:p>
        </p:txBody>
      </p:sp>
      <p:sp>
        <p:nvSpPr>
          <p:cNvPr id="20" name="Text 14"/>
          <p:cNvSpPr/>
          <p:nvPr/>
        </p:nvSpPr>
        <p:spPr>
          <a:xfrm>
            <a:off x="6263640" y="5166360"/>
            <a:ext cx="5376672" cy="320040"/>
          </a:xfrm>
          <a:prstGeom prst="rect">
            <a:avLst/>
          </a:prstGeom>
          <a:noFill/>
          <a:ln/>
        </p:spPr>
        <p:txBody>
          <a:bodyPr wrap="square" lIns="0" tIns="0" rIns="0" bIns="0" rtlCol="0" anchor="ctr"/>
          <a:lstStyle/>
          <a:p>
            <a:pPr indent="0" marL="0">
              <a:buNone/>
            </a:pPr>
            <a:r>
              <a:rPr lang="en-US" sz="1200" dirty="0">
                <a:solidFill>
                  <a:srgbClr val="5B6B7A"/>
                </a:solidFill>
                <a:latin typeface="Segoe UI" pitchFamily="34" charset="0"/>
                <a:ea typeface="Segoe UI" pitchFamily="34" charset="-122"/>
                <a:cs typeface="Segoe UI" pitchFamily="34" charset="-120"/>
              </a:rPr>
              <a:t>The token comes from notebookutils, so no secret is stored in the notebook.</a:t>
            </a:r>
            <a:endParaRPr lang="en-US" sz="1200" dirty="0"/>
          </a:p>
        </p:txBody>
      </p:sp>
      <p:sp>
        <p:nvSpPr>
          <p:cNvPr id="21" name="Shape 15"/>
          <p:cNvSpPr/>
          <p:nvPr/>
        </p:nvSpPr>
        <p:spPr>
          <a:xfrm>
            <a:off x="548640" y="5577840"/>
            <a:ext cx="11091672" cy="594360"/>
          </a:xfrm>
          <a:prstGeom prst="rect">
            <a:avLst/>
          </a:prstGeom>
          <a:solidFill>
            <a:srgbClr val="F8EFD2"/>
          </a:solidFill>
          <a:ln w="12700">
            <a:solidFill>
              <a:srgbClr val="F8EFD2"/>
            </a:solidFill>
            <a:prstDash val="solid"/>
          </a:ln>
        </p:spPr>
      </p:sp>
      <p:sp>
        <p:nvSpPr>
          <p:cNvPr id="22" name="Text 16"/>
          <p:cNvSpPr/>
          <p:nvPr/>
        </p:nvSpPr>
        <p:spPr>
          <a:xfrm>
            <a:off x="777240" y="5577840"/>
            <a:ext cx="10698480" cy="594360"/>
          </a:xfrm>
          <a:prstGeom prst="rect">
            <a:avLst/>
          </a:prstGeom>
          <a:noFill/>
          <a:ln/>
        </p:spPr>
        <p:txBody>
          <a:bodyPr wrap="square" lIns="0" tIns="0" rIns="0" bIns="0" rtlCol="0" anchor="ctr"/>
          <a:lstStyle/>
          <a:p>
            <a:pPr indent="0" marL="0">
              <a:buNone/>
            </a:pPr>
            <a:r>
              <a:rPr lang="en-US" sz="1400" dirty="0">
                <a:solidFill>
                  <a:srgbClr val="1B2733"/>
                </a:solidFill>
                <a:latin typeface="Segoe UI" pitchFamily="34" charset="0"/>
                <a:ea typeface="Segoe UI" pitchFamily="34" charset="-122"/>
                <a:cs typeface="Segoe UI" pitchFamily="34" charset="-120"/>
              </a:rPr>
              <a:t>Lesson: a markdown first cell dropped the default-lakehouse binding on upload. Start notebooks with a code cell.</a:t>
            </a:r>
            <a:endParaRPr lang="en-US" sz="1400" dirty="0"/>
          </a:p>
        </p:txBody>
      </p:sp>
      <p:sp>
        <p:nvSpPr>
          <p:cNvPr id="23" name="Text 17"/>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24" name="Text 18"/>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3 · 10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Warehouse: T-SQL for analysts and BI</a:t>
            </a:r>
            <a:endParaRPr lang="en-US" sz="3000" dirty="0"/>
          </a:p>
        </p:txBody>
      </p:sp>
      <p:sp>
        <p:nvSpPr>
          <p:cNvPr id="5" name="Text 3"/>
          <p:cNvSpPr/>
          <p:nvPr/>
        </p:nvSpPr>
        <p:spPr>
          <a:xfrm>
            <a:off x="548640" y="1691640"/>
            <a:ext cx="5486400" cy="1691640"/>
          </a:xfrm>
          <a:prstGeom prst="rect">
            <a:avLst/>
          </a:prstGeom>
          <a:noFill/>
          <a:ln/>
        </p:spPr>
        <p:txBody>
          <a:bodyPr wrap="square" lIns="0" tIns="0" rIns="0" bIns="0" rtlCol="0" anchor="t"/>
          <a:lstStyle/>
          <a:p>
            <a:pPr marL="203200" indent="-203200">
              <a:spcAft>
                <a:spcPts val="700"/>
              </a:spcAft>
              <a:buSzPct val="100000"/>
              <a:buChar char="•"/>
            </a:pPr>
            <a:r>
              <a:rPr lang="en-US" sz="1500" b="1" dirty="0">
                <a:solidFill>
                  <a:srgbClr val="0B1F33"/>
                </a:solidFill>
                <a:latin typeface="Segoe UI" pitchFamily="34" charset="0"/>
                <a:ea typeface="Segoe UI" pitchFamily="34" charset="-122"/>
                <a:cs typeface="Segoe UI" pitchFamily="34" charset="-120"/>
              </a:rPr>
              <a:t>Full T-SQL: </a:t>
            </a:r>
            <a:pPr indent="0" marL="0">
              <a:buNone/>
            </a:pPr>
            <a:r>
              <a:rPr lang="en-US" sz="1500" dirty="0">
                <a:solidFill>
                  <a:srgbClr val="1B2733"/>
                </a:solidFill>
                <a:latin typeface="Segoe UI" pitchFamily="34" charset="0"/>
                <a:ea typeface="Segoe UI" pitchFamily="34" charset="-122"/>
                <a:cs typeface="Segoe UI" pitchFamily="34" charset="-120"/>
              </a:rPr>
              <a:t>DDL, DML, stored procedures, and views on managed tables</a:t>
            </a:r>
            <a:endParaRPr lang="en-US" sz="1500" dirty="0"/>
          </a:p>
          <a:p>
            <a:pPr marL="203200" indent="-203200">
              <a:spcAft>
                <a:spcPts val="700"/>
              </a:spcAft>
              <a:buSzPct val="100000"/>
              <a:buChar char="•"/>
            </a:pPr>
            <a:r>
              <a:rPr lang="en-US" sz="1500" b="1" dirty="0">
                <a:solidFill>
                  <a:srgbClr val="0B1F33"/>
                </a:solidFill>
                <a:latin typeface="Segoe UI" pitchFamily="34" charset="0"/>
                <a:ea typeface="Segoe UI" pitchFamily="34" charset="-122"/>
                <a:cs typeface="Segoe UI" pitchFamily="34" charset="-120"/>
              </a:rPr>
              <a:t>Cross-item queries: </a:t>
            </a:r>
            <a:pPr indent="0" marL="0">
              <a:buNone/>
            </a:pPr>
            <a:r>
              <a:rPr lang="en-US" sz="1500" dirty="0">
                <a:solidFill>
                  <a:srgbClr val="1B2733"/>
                </a:solidFill>
                <a:latin typeface="Segoe UI" pitchFamily="34" charset="0"/>
                <a:ea typeface="Segoe UI" pitchFamily="34" charset="-122"/>
                <a:cs typeface="Segoe UI" pitchFamily="34" charset="-120"/>
              </a:rPr>
              <a:t>read lakehouse tables with three-part names, with no copy</a:t>
            </a:r>
            <a:endParaRPr lang="en-US" sz="1500" dirty="0"/>
          </a:p>
          <a:p>
            <a:pPr marL="203200" indent="-203200">
              <a:spcAft>
                <a:spcPts val="700"/>
              </a:spcAft>
              <a:buSzPct val="100000"/>
              <a:buChar char="•"/>
            </a:pPr>
            <a:r>
              <a:rPr lang="en-US" sz="1500" b="1" dirty="0">
                <a:solidFill>
                  <a:srgbClr val="0B1F33"/>
                </a:solidFill>
                <a:latin typeface="Segoe UI" pitchFamily="34" charset="0"/>
                <a:ea typeface="Segoe UI" pitchFamily="34" charset="-122"/>
                <a:cs typeface="Segoe UI" pitchFamily="34" charset="-120"/>
              </a:rPr>
              <a:t>Serving: </a:t>
            </a:r>
            <a:pPr indent="0" marL="0">
              <a:buNone/>
            </a:pPr>
            <a:r>
              <a:rPr lang="en-US" sz="1500" dirty="0">
                <a:solidFill>
                  <a:srgbClr val="1B2733"/>
                </a:solidFill>
                <a:latin typeface="Segoe UI" pitchFamily="34" charset="0"/>
                <a:ea typeface="Segoe UI" pitchFamily="34" charset="-122"/>
                <a:cs typeface="Segoe UI" pitchFamily="34" charset="-120"/>
              </a:rPr>
              <a:t>Power BI reads gold directly</a:t>
            </a:r>
            <a:endParaRPr lang="en-US" sz="1500" dirty="0"/>
          </a:p>
        </p:txBody>
      </p:sp>
      <p:sp>
        <p:nvSpPr>
          <p:cNvPr id="6" name="Shape 4"/>
          <p:cNvSpPr/>
          <p:nvPr/>
        </p:nvSpPr>
        <p:spPr>
          <a:xfrm>
            <a:off x="548640" y="3520440"/>
            <a:ext cx="5486400" cy="2606040"/>
          </a:xfrm>
          <a:prstGeom prst="rect">
            <a:avLst/>
          </a:prstGeom>
          <a:solidFill>
            <a:srgbClr val="102A43"/>
          </a:solidFill>
          <a:ln w="12700">
            <a:solidFill>
              <a:srgbClr val="102A43"/>
            </a:solidFill>
            <a:prstDash val="solid"/>
          </a:ln>
        </p:spPr>
      </p:sp>
      <p:sp>
        <p:nvSpPr>
          <p:cNvPr id="7" name="Text 5"/>
          <p:cNvSpPr/>
          <p:nvPr/>
        </p:nvSpPr>
        <p:spPr>
          <a:xfrm>
            <a:off x="777240" y="3703320"/>
            <a:ext cx="5120640" cy="2286000"/>
          </a:xfrm>
          <a:prstGeom prst="rect">
            <a:avLst/>
          </a:prstGeom>
          <a:noFill/>
          <a:ln/>
        </p:spPr>
        <p:txBody>
          <a:bodyPr wrap="square" lIns="0" tIns="0" rIns="0" bIns="0" rtlCol="0" anchor="ctr"/>
          <a:lstStyle/>
          <a:p>
            <a:pPr indent="0" marL="0">
              <a:buNone/>
            </a:pPr>
            <a:r>
              <a:rPr lang="en-US" sz="1300" dirty="0">
                <a:solidFill>
                  <a:srgbClr val="E6EDF3"/>
                </a:solidFill>
                <a:latin typeface="Consolas" pitchFamily="34" charset="0"/>
                <a:ea typeface="Consolas" pitchFamily="34" charset="-122"/>
                <a:cs typeface="Consolas" pitchFamily="34" charset="-120"/>
              </a:rPr>
              <a:t>-- Gold view that reports read</a:t>
            </a:r>
            <a:endParaRPr lang="en-US" sz="1300" dirty="0"/>
          </a:p>
          <a:p>
            <a:pPr indent="0" marL="0">
              <a:buNone/>
            </a:pPr>
            <a:r>
              <a:rPr lang="en-US" sz="1300" dirty="0">
                <a:solidFill>
                  <a:srgbClr val="E6EDF3"/>
                </a:solidFill>
                <a:latin typeface="Consolas" pitchFamily="34" charset="0"/>
                <a:ea typeface="Consolas" pitchFamily="34" charset="-122"/>
                <a:cs typeface="Consolas" pitchFamily="34" charset="-120"/>
              </a:rPr>
              <a:t>SELECT TOP 5 province_code, year_num, large_cash_flags</a:t>
            </a:r>
            <a:endParaRPr lang="en-US" sz="1300" dirty="0"/>
          </a:p>
          <a:p>
            <a:pPr indent="0" marL="0">
              <a:buNone/>
            </a:pPr>
            <a:r>
              <a:rPr lang="en-US" sz="1300" dirty="0">
                <a:solidFill>
                  <a:srgbClr val="E6EDF3"/>
                </a:solidFill>
                <a:latin typeface="Consolas" pitchFamily="34" charset="0"/>
                <a:ea typeface="Consolas" pitchFamily="34" charset="-122"/>
                <a:cs typeface="Consolas" pitchFamily="34" charset="-120"/>
              </a:rPr>
              <a:t>FROM gold.vw_large_cash_flags_by_province</a:t>
            </a:r>
            <a:endParaRPr lang="en-US" sz="1300" dirty="0"/>
          </a:p>
          <a:p>
            <a:pPr indent="0" marL="0">
              <a:buNone/>
            </a:pPr>
            <a:r>
              <a:rPr lang="en-US" sz="1300" dirty="0">
                <a:solidFill>
                  <a:srgbClr val="E6EDF3"/>
                </a:solidFill>
                <a:latin typeface="Consolas" pitchFamily="34" charset="0"/>
                <a:ea typeface="Consolas" pitchFamily="34" charset="-122"/>
                <a:cs typeface="Consolas" pitchFamily="34" charset="-120"/>
              </a:rPr>
              <a:t>ORDER BY large_cash_flags DESC;</a:t>
            </a:r>
            <a:endParaRPr lang="en-US" sz="1300" dirty="0"/>
          </a:p>
          <a:p>
            <a:pPr indent="0" marL="0">
              <a:buNone/>
            </a:pPr>
            <a:endParaRPr lang="en-US" sz="1300" dirty="0"/>
          </a:p>
          <a:p>
            <a:pPr indent="0" marL="0">
              <a:buNone/>
            </a:pPr>
            <a:r>
              <a:rPr lang="en-US" sz="1300" dirty="0">
                <a:solidFill>
                  <a:srgbClr val="E6EDF3"/>
                </a:solidFill>
                <a:latin typeface="Consolas" pitchFamily="34" charset="0"/>
                <a:ea typeface="Consolas" pitchFamily="34" charset="-122"/>
                <a:cs typeface="Consolas" pitchFamily="34" charset="-120"/>
              </a:rPr>
              <a:t>-- Cross-item: read silver from the warehouse</a:t>
            </a:r>
            <a:endParaRPr lang="en-US" sz="1300" dirty="0"/>
          </a:p>
          <a:p>
            <a:pPr indent="0" marL="0">
              <a:buNone/>
            </a:pPr>
            <a:r>
              <a:rPr lang="en-US" sz="1300" dirty="0">
                <a:solidFill>
                  <a:srgbClr val="E6EDF3"/>
                </a:solidFill>
                <a:latin typeface="Consolas" pitchFamily="34" charset="0"/>
                <a:ea typeface="Consolas" pitchFamily="34" charset="-122"/>
                <a:cs typeface="Consolas" pitchFamily="34" charset="-120"/>
              </a:rPr>
              <a:t>SELECT COUNT_BIG(*) FROM lh_silver.silver.transactions;</a:t>
            </a:r>
            <a:endParaRPr lang="en-US" sz="1300" dirty="0"/>
          </a:p>
        </p:txBody>
      </p:sp>
      <p:sp>
        <p:nvSpPr>
          <p:cNvPr id="8" name="Shape 6"/>
          <p:cNvSpPr/>
          <p:nvPr/>
        </p:nvSpPr>
        <p:spPr>
          <a:xfrm>
            <a:off x="6355080" y="1691640"/>
            <a:ext cx="5285232" cy="443484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9" name="Shape 7"/>
          <p:cNvSpPr/>
          <p:nvPr/>
        </p:nvSpPr>
        <p:spPr>
          <a:xfrm>
            <a:off x="6355080" y="1691640"/>
            <a:ext cx="73152" cy="4434840"/>
          </a:xfrm>
          <a:prstGeom prst="rect">
            <a:avLst/>
          </a:prstGeom>
          <a:solidFill>
            <a:srgbClr val="B42318"/>
          </a:solidFill>
          <a:ln w="12700">
            <a:solidFill>
              <a:srgbClr val="B42318"/>
            </a:solidFill>
            <a:prstDash val="solid"/>
          </a:ln>
        </p:spPr>
      </p:sp>
      <p:sp>
        <p:nvSpPr>
          <p:cNvPr id="10" name="Text 8"/>
          <p:cNvSpPr/>
          <p:nvPr/>
        </p:nvSpPr>
        <p:spPr>
          <a:xfrm>
            <a:off x="6675120" y="1874520"/>
            <a:ext cx="4846320" cy="411480"/>
          </a:xfrm>
          <a:prstGeom prst="rect">
            <a:avLst/>
          </a:prstGeom>
          <a:noFill/>
          <a:ln/>
        </p:spPr>
        <p:txBody>
          <a:bodyPr wrap="square" lIns="0" tIns="0" rIns="0" bIns="0" rtlCol="0" anchor="ctr"/>
          <a:lstStyle/>
          <a:p>
            <a:pPr indent="0" marL="0">
              <a:buNone/>
            </a:pPr>
            <a:r>
              <a:rPr lang="en-US" sz="1800" dirty="0">
                <a:solidFill>
                  <a:srgbClr val="0B1F33"/>
                </a:solidFill>
                <a:latin typeface="Segoe UI Semibold" pitchFamily="34" charset="0"/>
                <a:ea typeface="Segoe UI Semibold" pitchFamily="34" charset="-122"/>
                <a:cs typeface="Segoe UI Semibold" pitchFamily="34" charset="-120"/>
              </a:rPr>
              <a:t>Know these limits before you migrate</a:t>
            </a:r>
            <a:endParaRPr lang="en-US" sz="1800" dirty="0"/>
          </a:p>
        </p:txBody>
      </p:sp>
      <p:sp>
        <p:nvSpPr>
          <p:cNvPr id="11" name="Text 9"/>
          <p:cNvSpPr/>
          <p:nvPr/>
        </p:nvSpPr>
        <p:spPr>
          <a:xfrm>
            <a:off x="6675120" y="2423160"/>
            <a:ext cx="4800600" cy="3566160"/>
          </a:xfrm>
          <a:prstGeom prst="rect">
            <a:avLst/>
          </a:prstGeom>
          <a:noFill/>
          <a:ln/>
        </p:spPr>
        <p:txBody>
          <a:bodyPr wrap="square" lIns="0" tIns="0" rIns="0" bIns="0" rtlCol="0" anchor="t"/>
          <a:lstStyle/>
          <a:p>
            <a:pPr marL="203200" indent="-203200">
              <a:spcAft>
                <a:spcPts val="1400"/>
              </a:spcAft>
              <a:buSzPct val="100000"/>
              <a:buChar char="•"/>
            </a:pPr>
            <a:r>
              <a:rPr lang="en-US" sz="1550" b="1" dirty="0">
                <a:solidFill>
                  <a:srgbClr val="0B1F33"/>
                </a:solidFill>
                <a:latin typeface="Segoe UI" pitchFamily="34" charset="0"/>
                <a:ea typeface="Segoe UI" pitchFamily="34" charset="-122"/>
                <a:cs typeface="Segoe UI" pitchFamily="34" charset="-120"/>
              </a:rPr>
              <a:t>No TINYINT: </a:t>
            </a:r>
            <a:pPr indent="0" marL="0">
              <a:buNone/>
            </a:pPr>
            <a:r>
              <a:rPr lang="en-US" sz="1550" dirty="0">
                <a:solidFill>
                  <a:srgbClr val="1B2733"/>
                </a:solidFill>
                <a:latin typeface="Segoe UI" pitchFamily="34" charset="0"/>
                <a:ea typeface="Segoe UI" pitchFamily="34" charset="-122"/>
                <a:cs typeface="Segoe UI" pitchFamily="34" charset="-120"/>
              </a:rPr>
              <a:t>use SMALLINT (we hit this in the migration)</a:t>
            </a:r>
            <a:endParaRPr lang="en-US" sz="1550" dirty="0"/>
          </a:p>
          <a:p>
            <a:pPr marL="203200" indent="-203200">
              <a:spcAft>
                <a:spcPts val="1400"/>
              </a:spcAft>
              <a:buSzPct val="100000"/>
              <a:buChar char="•"/>
            </a:pPr>
            <a:r>
              <a:rPr lang="en-US" sz="1550" b="1" dirty="0">
                <a:solidFill>
                  <a:srgbClr val="0B1F33"/>
                </a:solidFill>
                <a:latin typeface="Segoe UI" pitchFamily="34" charset="0"/>
                <a:ea typeface="Segoe UI" pitchFamily="34" charset="-122"/>
                <a:cs typeface="Segoe UI" pitchFamily="34" charset="-120"/>
              </a:rPr>
              <a:t>Primary keys: </a:t>
            </a:r>
            <a:pPr indent="0" marL="0">
              <a:buNone/>
            </a:pPr>
            <a:r>
              <a:rPr lang="en-US" sz="1550" dirty="0">
                <a:solidFill>
                  <a:srgbClr val="1B2733"/>
                </a:solidFill>
                <a:latin typeface="Segoe UI" pitchFamily="34" charset="0"/>
                <a:ea typeface="Segoe UI" pitchFamily="34" charset="-122"/>
                <a:cs typeface="Segoe UI" pitchFamily="34" charset="-120"/>
              </a:rPr>
              <a:t>only with ALTER TABLE … NOT ENFORCED</a:t>
            </a:r>
            <a:endParaRPr lang="en-US" sz="1550" dirty="0"/>
          </a:p>
          <a:p>
            <a:pPr marL="203200" indent="-203200">
              <a:spcAft>
                <a:spcPts val="1400"/>
              </a:spcAft>
              <a:buSzPct val="100000"/>
              <a:buChar char="•"/>
            </a:pPr>
            <a:r>
              <a:rPr lang="en-US" sz="1550" b="1" dirty="0">
                <a:solidFill>
                  <a:srgbClr val="0B1F33"/>
                </a:solidFill>
                <a:latin typeface="Segoe UI" pitchFamily="34" charset="0"/>
                <a:ea typeface="Segoe UI" pitchFamily="34" charset="-122"/>
                <a:cs typeface="Segoe UI" pitchFamily="34" charset="-120"/>
              </a:rPr>
              <a:t>Not supported: </a:t>
            </a:r>
            <a:pPr indent="0" marL="0">
              <a:buNone/>
            </a:pPr>
            <a:r>
              <a:rPr lang="en-US" sz="1550" dirty="0">
                <a:solidFill>
                  <a:srgbClr val="1B2733"/>
                </a:solidFill>
                <a:latin typeface="Segoe UI" pitchFamily="34" charset="0"/>
                <a:ea typeface="Segoe UI" pitchFamily="34" charset="-122"/>
                <a:cs typeface="Segoe UI" pitchFamily="34" charset="-120"/>
              </a:rPr>
              <a:t>materialized views, triggers, and synonyms</a:t>
            </a:r>
            <a:endParaRPr lang="en-US" sz="1550" dirty="0"/>
          </a:p>
          <a:p>
            <a:pPr marL="203200" indent="-203200">
              <a:spcAft>
                <a:spcPts val="1400"/>
              </a:spcAft>
              <a:buSzPct val="100000"/>
              <a:buChar char="•"/>
            </a:pPr>
            <a:r>
              <a:rPr lang="en-US" sz="1550" b="1" dirty="0">
                <a:solidFill>
                  <a:srgbClr val="0B1F33"/>
                </a:solidFill>
                <a:latin typeface="Segoe UI" pitchFamily="34" charset="0"/>
                <a:ea typeface="Segoe UI" pitchFamily="34" charset="-122"/>
                <a:cs typeface="Segoe UI" pitchFamily="34" charset="-120"/>
              </a:rPr>
              <a:t>BULK LOAD: </a:t>
            </a:r>
            <a:pPr indent="0" marL="0">
              <a:buNone/>
            </a:pPr>
            <a:r>
              <a:rPr lang="en-US" sz="1550" dirty="0">
                <a:solidFill>
                  <a:srgbClr val="1B2733"/>
                </a:solidFill>
                <a:latin typeface="Segoe UI" pitchFamily="34" charset="0"/>
                <a:ea typeface="Segoe UI" pitchFamily="34" charset="-122"/>
                <a:cs typeface="Segoe UI" pitchFamily="34" charset="-120"/>
              </a:rPr>
              <a:t>not supported; bcp is a preview feature</a:t>
            </a:r>
            <a:endParaRPr lang="en-US" sz="1550" dirty="0"/>
          </a:p>
          <a:p>
            <a:pPr marL="203200" indent="-203200">
              <a:spcAft>
                <a:spcPts val="1400"/>
              </a:spcAft>
              <a:buSzPct val="100000"/>
              <a:buChar char="•"/>
            </a:pPr>
            <a:r>
              <a:rPr lang="en-US" sz="1550" b="1" dirty="0">
                <a:solidFill>
                  <a:srgbClr val="0B1F33"/>
                </a:solidFill>
                <a:latin typeface="Segoe UI" pitchFamily="34" charset="0"/>
                <a:ea typeface="Segoe UI" pitchFamily="34" charset="-122"/>
                <a:cs typeface="Segoe UI" pitchFamily="34" charset="-120"/>
              </a:rPr>
              <a:t>Lakehouse SQL endpoint: </a:t>
            </a:r>
            <a:pPr indent="0" marL="0">
              <a:buNone/>
            </a:pPr>
            <a:r>
              <a:rPr lang="en-US" sz="1550" dirty="0">
                <a:solidFill>
                  <a:srgbClr val="1B2733"/>
                </a:solidFill>
                <a:latin typeface="Segoe UI" pitchFamily="34" charset="0"/>
                <a:ea typeface="Segoe UI" pitchFamily="34" charset="-122"/>
                <a:cs typeface="Segoe UI" pitchFamily="34" charset="-120"/>
              </a:rPr>
              <a:t>read-only; writes go through Spark or the Warehouse</a:t>
            </a:r>
            <a:endParaRPr lang="en-US" sz="1550" dirty="0"/>
          </a:p>
          <a:p>
            <a:pPr marL="203200" indent="-203200">
              <a:spcAft>
                <a:spcPts val="1400"/>
              </a:spcAft>
              <a:buSzPct val="100000"/>
              <a:buChar char="•"/>
            </a:pPr>
            <a:r>
              <a:rPr lang="en-US" sz="1550" b="1" dirty="0">
                <a:solidFill>
                  <a:srgbClr val="0B1F33"/>
                </a:solidFill>
                <a:latin typeface="Segoe UI" pitchFamily="34" charset="0"/>
                <a:ea typeface="Segoe UI" pitchFamily="34" charset="-122"/>
                <a:cs typeface="Segoe UI" pitchFamily="34" charset="-120"/>
              </a:rPr>
              <a:t>Sync lag: </a:t>
            </a:r>
            <a:pPr indent="0" marL="0">
              <a:buNone/>
            </a:pPr>
            <a:r>
              <a:rPr lang="en-US" sz="1550" dirty="0">
                <a:solidFill>
                  <a:srgbClr val="1B2733"/>
                </a:solidFill>
                <a:latin typeface="Segoe UI" pitchFamily="34" charset="0"/>
                <a:ea typeface="Segoe UI" pitchFamily="34" charset="-122"/>
                <a:cs typeface="Segoe UI" pitchFamily="34" charset="-120"/>
              </a:rPr>
              <a:t>refresh the endpoint before a cross-item load</a:t>
            </a:r>
            <a:endParaRPr lang="en-US" sz="1550" dirty="0"/>
          </a:p>
        </p:txBody>
      </p:sp>
      <p:sp>
        <p:nvSpPr>
          <p:cNvPr id="12" name="Text 10"/>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13" name="Text 11"/>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3 · 10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Choose by persona, then combine in one Medallion</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377440"/>
                <a:gridCol w="4357116"/>
                <a:gridCol w="4357116"/>
              </a:tblGrid>
              <a:tr h="548640">
                <a:tc>
                  <a:txBody>
                    <a:bodyPr/>
                    <a:lstStyle/>
                    <a:p>
                      <a:pPr indent="0" marL="0">
                        <a:buNone/>
                      </a:pP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Lakehouse</a:t>
                      </a:r>
                      <a:endParaRPr lang="en-US" sz="1500" dirty="0">
                        <a:latin typeface="Segoe UI Semibold" charset="0"/>
                        <a:ea typeface="Segoe UI Semibold" charset="0"/>
                        <a:cs typeface="Segoe UI Semibold"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0E7C86"/>
                    </a:solidFill>
                  </a:tcPr>
                </a:tc>
                <a:tc>
                  <a:txBody>
                    <a:bodyP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Warehouse</a:t>
                      </a:r>
                      <a:endParaRPr lang="en-US" sz="1500" dirty="0">
                        <a:latin typeface="Segoe UI Semibold" charset="0"/>
                        <a:ea typeface="Segoe UI Semibold" charset="0"/>
                        <a:cs typeface="Segoe UI Semibold"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0B1F33"/>
                    </a:solidFill>
                  </a:tcPr>
                </a:tc>
              </a:tr>
              <a:tr h="548640">
                <a:tc>
                  <a:txBody>
                    <a:bodyPr/>
                    <a:lstStyle/>
                    <a:p>
                      <a:pPr indent="0" marL="0">
                        <a:buNone/>
                      </a:pPr>
                      <a:r>
                        <a:rPr lang="en-US" sz="1450" b="1" dirty="0">
                          <a:solidFill>
                            <a:srgbClr val="0B1F33"/>
                          </a:solidFill>
                          <a:latin typeface="Segoe UI" pitchFamily="34" charset="0"/>
                          <a:ea typeface="Segoe UI" pitchFamily="34" charset="-122"/>
                          <a:cs typeface="Segoe UI" pitchFamily="34" charset="-120"/>
                        </a:rPr>
                        <a:t>Primary users</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450" dirty="0">
                          <a:solidFill>
                            <a:srgbClr val="1B2733"/>
                          </a:solidFill>
                          <a:latin typeface="Segoe UI" pitchFamily="34" charset="0"/>
                          <a:ea typeface="Segoe UI" pitchFamily="34" charset="-122"/>
                          <a:cs typeface="Segoe UI" pitchFamily="34" charset="-120"/>
                        </a:rPr>
                        <a:t>Data engineers, data scientists</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450" dirty="0">
                          <a:solidFill>
                            <a:srgbClr val="1B2733"/>
                          </a:solidFill>
                          <a:latin typeface="Segoe UI" pitchFamily="34" charset="0"/>
                          <a:ea typeface="Segoe UI" pitchFamily="34" charset="-122"/>
                          <a:cs typeface="Segoe UI" pitchFamily="34" charset="-120"/>
                        </a:rPr>
                        <a:t>Analysts, BI developers, DBAs</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r>
              <a:tr h="548640">
                <a:tc>
                  <a:txBody>
                    <a:bodyPr/>
                    <a:lstStyle/>
                    <a:p>
                      <a:pPr indent="0" marL="0">
                        <a:buNone/>
                      </a:pPr>
                      <a:r>
                        <a:rPr lang="en-US" sz="1450" b="1" dirty="0">
                          <a:solidFill>
                            <a:srgbClr val="0B1F33"/>
                          </a:solidFill>
                          <a:latin typeface="Segoe UI" pitchFamily="34" charset="0"/>
                          <a:ea typeface="Segoe UI" pitchFamily="34" charset="-122"/>
                          <a:cs typeface="Segoe UI" pitchFamily="34" charset="-120"/>
                        </a:rPr>
                        <a:t>Engine</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450" dirty="0">
                          <a:solidFill>
                            <a:srgbClr val="1B2733"/>
                          </a:solidFill>
                          <a:latin typeface="Segoe UI" pitchFamily="34" charset="0"/>
                          <a:ea typeface="Segoe UI" pitchFamily="34" charset="-122"/>
                          <a:cs typeface="Segoe UI" pitchFamily="34" charset="-120"/>
                        </a:rPr>
                        <a:t>Spark: PySpark and Spark SQL</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450" dirty="0">
                          <a:solidFill>
                            <a:srgbClr val="1B2733"/>
                          </a:solidFill>
                          <a:latin typeface="Segoe UI" pitchFamily="34" charset="0"/>
                          <a:ea typeface="Segoe UI" pitchFamily="34" charset="-122"/>
                          <a:cs typeface="Segoe UI" pitchFamily="34" charset="-120"/>
                        </a:rPr>
                        <a:t>T-SQL</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r>
              <a:tr h="548640">
                <a:tc>
                  <a:txBody>
                    <a:bodyPr/>
                    <a:lstStyle/>
                    <a:p>
                      <a:pPr indent="0" marL="0">
                        <a:buNone/>
                      </a:pPr>
                      <a:r>
                        <a:rPr lang="en-US" sz="1450" b="1" dirty="0">
                          <a:solidFill>
                            <a:srgbClr val="0B1F33"/>
                          </a:solidFill>
                          <a:latin typeface="Segoe UI" pitchFamily="34" charset="0"/>
                          <a:ea typeface="Segoe UI" pitchFamily="34" charset="-122"/>
                          <a:cs typeface="Segoe UI" pitchFamily="34" charset="-120"/>
                        </a:rPr>
                        <a:t>Storage</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450" dirty="0">
                          <a:solidFill>
                            <a:srgbClr val="1B2733"/>
                          </a:solidFill>
                          <a:latin typeface="Segoe UI" pitchFamily="34" charset="0"/>
                          <a:ea typeface="Segoe UI" pitchFamily="34" charset="-122"/>
                          <a:cs typeface="Segoe UI" pitchFamily="34" charset="-120"/>
                        </a:rPr>
                        <a:t>Files and Delta tables</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450" dirty="0">
                          <a:solidFill>
                            <a:srgbClr val="1B2733"/>
                          </a:solidFill>
                          <a:latin typeface="Segoe UI" pitchFamily="34" charset="0"/>
                          <a:ea typeface="Segoe UI" pitchFamily="34" charset="-122"/>
                          <a:cs typeface="Segoe UI" pitchFamily="34" charset="-120"/>
                        </a:rPr>
                        <a:t>Managed tables stored in OneLake</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r>
              <a:tr h="548640">
                <a:tc>
                  <a:txBody>
                    <a:bodyPr/>
                    <a:lstStyle/>
                    <a:p>
                      <a:pPr indent="0" marL="0">
                        <a:buNone/>
                      </a:pPr>
                      <a:r>
                        <a:rPr lang="en-US" sz="1450" b="1" dirty="0">
                          <a:solidFill>
                            <a:srgbClr val="0B1F33"/>
                          </a:solidFill>
                          <a:latin typeface="Segoe UI" pitchFamily="34" charset="0"/>
                          <a:ea typeface="Segoe UI" pitchFamily="34" charset="-122"/>
                          <a:cs typeface="Segoe UI" pitchFamily="34" charset="-120"/>
                        </a:rPr>
                        <a:t>Writes</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450" dirty="0">
                          <a:solidFill>
                            <a:srgbClr val="1B2733"/>
                          </a:solidFill>
                          <a:latin typeface="Segoe UI" pitchFamily="34" charset="0"/>
                          <a:ea typeface="Segoe UI" pitchFamily="34" charset="-122"/>
                          <a:cs typeface="Segoe UI" pitchFamily="34" charset="-120"/>
                        </a:rPr>
                        <a:t>Spark, notebooks, and pipelines</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450" dirty="0">
                          <a:solidFill>
                            <a:srgbClr val="1B2733"/>
                          </a:solidFill>
                          <a:latin typeface="Segoe UI" pitchFamily="34" charset="0"/>
                          <a:ea typeface="Segoe UI" pitchFamily="34" charset="-122"/>
                          <a:cs typeface="Segoe UI" pitchFamily="34" charset="-120"/>
                        </a:rPr>
                        <a:t>T-SQL DDL and DML, stored procedures</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r>
              <a:tr h="548640">
                <a:tc>
                  <a:txBody>
                    <a:bodyPr/>
                    <a:lstStyle/>
                    <a:p>
                      <a:pPr indent="0" marL="0">
                        <a:buNone/>
                      </a:pPr>
                      <a:r>
                        <a:rPr lang="en-US" sz="1450" b="1" dirty="0">
                          <a:solidFill>
                            <a:srgbClr val="0B1F33"/>
                          </a:solidFill>
                          <a:latin typeface="Segoe UI" pitchFamily="34" charset="0"/>
                          <a:ea typeface="Segoe UI" pitchFamily="34" charset="-122"/>
                          <a:cs typeface="Segoe UI" pitchFamily="34" charset="-120"/>
                        </a:rPr>
                        <a:t>Typical layer</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450" dirty="0">
                          <a:solidFill>
                            <a:srgbClr val="1B2733"/>
                          </a:solidFill>
                          <a:latin typeface="Segoe UI" pitchFamily="34" charset="0"/>
                          <a:ea typeface="Segoe UI" pitchFamily="34" charset="-122"/>
                          <a:cs typeface="Segoe UI" pitchFamily="34" charset="-120"/>
                        </a:rPr>
                        <a:t>Bronze and silver</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450" dirty="0">
                          <a:solidFill>
                            <a:srgbClr val="1B2733"/>
                          </a:solidFill>
                          <a:latin typeface="Segoe UI" pitchFamily="34" charset="0"/>
                          <a:ea typeface="Segoe UI" pitchFamily="34" charset="-122"/>
                          <a:cs typeface="Segoe UI" pitchFamily="34" charset="-120"/>
                        </a:rPr>
                        <a:t>Gold and serving</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r>
              <a:tr h="548640">
                <a:tc>
                  <a:txBody>
                    <a:bodyPr/>
                    <a:lstStyle/>
                    <a:p>
                      <a:pPr indent="0" marL="0">
                        <a:buNone/>
                      </a:pPr>
                      <a:r>
                        <a:rPr lang="en-US" sz="1450" b="1" dirty="0">
                          <a:solidFill>
                            <a:srgbClr val="0B1F33"/>
                          </a:solidFill>
                          <a:latin typeface="Segoe UI" pitchFamily="34" charset="0"/>
                          <a:ea typeface="Segoe UI" pitchFamily="34" charset="-122"/>
                          <a:cs typeface="Segoe UI" pitchFamily="34" charset="-120"/>
                        </a:rPr>
                        <a:t>In this build</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450" dirty="0">
                          <a:solidFill>
                            <a:srgbClr val="1B2733"/>
                          </a:solidFill>
                          <a:latin typeface="Segoe UI" pitchFamily="34" charset="0"/>
                          <a:ea typeface="Segoe UI" pitchFamily="34" charset="-122"/>
                          <a:cs typeface="Segoe UI" pitchFamily="34" charset="-120"/>
                        </a:rPr>
                        <a:t>lh_bronze, lh_silver</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450" dirty="0">
                          <a:solidFill>
                            <a:srgbClr val="1B2733"/>
                          </a:solidFill>
                          <a:latin typeface="Segoe UI" pitchFamily="34" charset="0"/>
                          <a:ea typeface="Segoe UI" pitchFamily="34" charset="-122"/>
                          <a:cs typeface="Segoe UI" pitchFamily="34" charset="-120"/>
                        </a:rPr>
                        <a:t>wh_gold, wh_migrated_synapse</a:t>
                      </a:r>
                      <a:endParaRPr lang="en-US" sz="14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r>
            </a:tbl>
          </a:graphicData>
        </a:graphic>
      </p:graphicFrame>
      <p:sp>
        <p:nvSpPr>
          <p:cNvPr id="6" name="Shape 3"/>
          <p:cNvSpPr/>
          <p:nvPr/>
        </p:nvSpPr>
        <p:spPr>
          <a:xfrm>
            <a:off x="548640" y="5715000"/>
            <a:ext cx="11091672" cy="457200"/>
          </a:xfrm>
          <a:prstGeom prst="rect">
            <a:avLst/>
          </a:prstGeom>
          <a:solidFill>
            <a:srgbClr val="DDF0F2"/>
          </a:solidFill>
          <a:ln w="12700">
            <a:solidFill>
              <a:srgbClr val="DDF0F2"/>
            </a:solidFill>
            <a:prstDash val="solid"/>
          </a:ln>
        </p:spPr>
      </p:sp>
      <p:sp>
        <p:nvSpPr>
          <p:cNvPr id="7" name="Text 4"/>
          <p:cNvSpPr/>
          <p:nvPr/>
        </p:nvSpPr>
        <p:spPr>
          <a:xfrm>
            <a:off x="777240" y="5715000"/>
            <a:ext cx="10698480" cy="457200"/>
          </a:xfrm>
          <a:prstGeom prst="rect">
            <a:avLst/>
          </a:prstGeom>
          <a:noFill/>
          <a:ln/>
        </p:spPr>
        <p:txBody>
          <a:bodyPr wrap="square" lIns="0" tIns="0" rIns="0" bIns="0" rtlCol="0" anchor="ctr"/>
          <a:lstStyle/>
          <a:p>
            <a:pPr indent="0" marL="0">
              <a:buNone/>
            </a:pPr>
            <a:r>
              <a:rPr lang="en-US" sz="1350" dirty="0">
                <a:solidFill>
                  <a:srgbClr val="0B1F33"/>
                </a:solidFill>
                <a:latin typeface="Segoe UI" pitchFamily="34" charset="0"/>
                <a:ea typeface="Segoe UI" pitchFamily="34" charset="-122"/>
                <a:cs typeface="Segoe UI" pitchFamily="34" charset="-120"/>
              </a:rPr>
              <a:t>Both read the same Delta data. A warehouse can join lakehouse tables with cross-item queries, without copying them.</a:t>
            </a:r>
            <a:endParaRPr lang="en-US" sz="1350" dirty="0"/>
          </a:p>
        </p:txBody>
      </p:sp>
      <p:sp>
        <p:nvSpPr>
          <p:cNvPr id="8" name="Text 5"/>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9" name="Text 6"/>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4 · 12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Synapse concepts map to Fabric, with fewer knobs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3017520"/>
                <a:gridCol w="3657600"/>
                <a:gridCol w="4416552"/>
              </a:tblGrid>
              <a:tr h="457200">
                <a:tc>
                  <a:txBody>
                    <a:bodyPr/>
                    <a:lstStyle/>
                    <a:p>
                      <a:pPr indent="0" marL="0">
                        <a:buNone/>
                      </a:pPr>
                      <a:r>
                        <a:rPr lang="en-US" sz="1400" b="1" dirty="0">
                          <a:solidFill>
                            <a:srgbClr val="FFFFFF"/>
                          </a:solidFill>
                          <a:latin typeface="Segoe UI Semibold" pitchFamily="34" charset="0"/>
                          <a:ea typeface="Segoe UI Semibold" pitchFamily="34" charset="-122"/>
                          <a:cs typeface="Segoe UI Semibold" pitchFamily="34" charset="-120"/>
                        </a:rPr>
                        <a:t>Synapse</a:t>
                      </a:r>
                      <a:endParaRPr lang="en-US" sz="1400" dirty="0">
                        <a:latin typeface="Segoe UI Semibold" charset="0"/>
                        <a:ea typeface="Segoe UI Semibold" charset="0"/>
                        <a:cs typeface="Segoe UI Semibold"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0B1F33"/>
                    </a:solidFill>
                  </a:tcPr>
                </a:tc>
                <a:tc>
                  <a:txBody>
                    <a:bodyPr/>
                    <a:lstStyle/>
                    <a:p>
                      <a:pPr indent="0" marL="0">
                        <a:buNone/>
                      </a:pPr>
                      <a:r>
                        <a:rPr lang="en-US" sz="1400" b="1" dirty="0">
                          <a:solidFill>
                            <a:srgbClr val="FFFFFF"/>
                          </a:solidFill>
                          <a:latin typeface="Segoe UI Semibold" pitchFamily="34" charset="0"/>
                          <a:ea typeface="Segoe UI Semibold" pitchFamily="34" charset="-122"/>
                          <a:cs typeface="Segoe UI Semibold" pitchFamily="34" charset="-120"/>
                        </a:rPr>
                        <a:t>Fabric</a:t>
                      </a:r>
                      <a:endParaRPr lang="en-US" sz="1400" dirty="0">
                        <a:latin typeface="Segoe UI Semibold" charset="0"/>
                        <a:ea typeface="Segoe UI Semibold" charset="0"/>
                        <a:cs typeface="Segoe UI Semibold"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0B1F33"/>
                    </a:solidFill>
                  </a:tcPr>
                </a:tc>
                <a:tc>
                  <a:txBody>
                    <a:bodyPr/>
                    <a:lstStyle/>
                    <a:p>
                      <a:pPr indent="0" marL="0">
                        <a:buNone/>
                      </a:pPr>
                      <a:r>
                        <a:rPr lang="en-US" sz="1400" b="1" dirty="0">
                          <a:solidFill>
                            <a:srgbClr val="FFFFFF"/>
                          </a:solidFill>
                          <a:latin typeface="Segoe UI Semibold" pitchFamily="34" charset="0"/>
                          <a:ea typeface="Segoe UI Semibold" pitchFamily="34" charset="-122"/>
                          <a:cs typeface="Segoe UI Semibold" pitchFamily="34" charset="-120"/>
                        </a:rPr>
                        <a:t>What changes for you</a:t>
                      </a:r>
                      <a:endParaRPr lang="en-US" sz="1400" dirty="0">
                        <a:latin typeface="Segoe UI Semibold" charset="0"/>
                        <a:ea typeface="Segoe UI Semibold" charset="0"/>
                        <a:cs typeface="Segoe UI Semibold"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0B1F33"/>
                    </a:solidFill>
                  </a:tcPr>
                </a:tc>
              </a:tr>
              <a:tr h="457200">
                <a:tc>
                  <a:txBody>
                    <a:bodyPr/>
                    <a:lstStyle/>
                    <a:p>
                      <a:pPr indent="0" marL="0">
                        <a:buNone/>
                      </a:pPr>
                      <a:r>
                        <a:rPr lang="en-US" sz="1350" b="1" dirty="0">
                          <a:solidFill>
                            <a:srgbClr val="0B1F33"/>
                          </a:solidFill>
                          <a:latin typeface="Segoe UI" pitchFamily="34" charset="0"/>
                          <a:ea typeface="Segoe UI" pitchFamily="34" charset="-122"/>
                          <a:cs typeface="Segoe UI" pitchFamily="34" charset="-120"/>
                        </a:rPr>
                        <a:t>Dedicated SQL pool (DWU)</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Warehouse on an F-SKU capacity</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Size the capacity, not DWUs</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0B1F33"/>
                          </a:solidFill>
                          <a:latin typeface="Segoe UI" pitchFamily="34" charset="0"/>
                          <a:ea typeface="Segoe UI" pitchFamily="34" charset="-122"/>
                          <a:cs typeface="Segoe UI" pitchFamily="34" charset="-120"/>
                        </a:rPr>
                        <a:t>Distribution and columnstore</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Not used</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Remove from DDL; Fabric manages layout</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r>
              <a:tr h="457200">
                <a:tc>
                  <a:txBody>
                    <a:bodyPr/>
                    <a:lstStyle/>
                    <a:p>
                      <a:pPr indent="0" marL="0">
                        <a:buNone/>
                      </a:pPr>
                      <a:r>
                        <a:rPr lang="en-US" sz="1350" b="1" dirty="0">
                          <a:solidFill>
                            <a:srgbClr val="0B1F33"/>
                          </a:solidFill>
                          <a:latin typeface="Segoe UI" pitchFamily="34" charset="0"/>
                          <a:ea typeface="Segoe UI" pitchFamily="34" charset="-122"/>
                          <a:cs typeface="Segoe UI" pitchFamily="34" charset="-120"/>
                        </a:rPr>
                        <a:t>Spark pool</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Spark in Fabric (Lakehouse, notebooks)</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Delta is the default table format</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0B1F33"/>
                          </a:solidFill>
                          <a:latin typeface="Segoe UI" pitchFamily="34" charset="0"/>
                          <a:ea typeface="Segoe UI" pitchFamily="34" charset="-122"/>
                          <a:cs typeface="Segoe UI" pitchFamily="34" charset="-120"/>
                        </a:rPr>
                        <a:t>Synapse pipelines</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Fabric pipelines</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Similar JSON; notebook and dataflow activities</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r>
              <a:tr h="457200">
                <a:tc>
                  <a:txBody>
                    <a:bodyPr/>
                    <a:lstStyle/>
                    <a:p>
                      <a:pPr indent="0" marL="0">
                        <a:buNone/>
                      </a:pPr>
                      <a:r>
                        <a:rPr lang="en-US" sz="1350" b="1" dirty="0">
                          <a:solidFill>
                            <a:srgbClr val="0B1F33"/>
                          </a:solidFill>
                          <a:latin typeface="Segoe UI" pitchFamily="34" charset="0"/>
                          <a:ea typeface="Segoe UI" pitchFamily="34" charset="-122"/>
                          <a:cs typeface="Segoe UI" pitchFamily="34" charset="-120"/>
                        </a:rPr>
                        <a:t>Mapping data flows</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Dataflow Gen2 (Power Query)</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Low-code transforms; choose destinations in the editor</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0B1F33"/>
                          </a:solidFill>
                          <a:latin typeface="Segoe UI" pitchFamily="34" charset="0"/>
                          <a:ea typeface="Segoe UI" pitchFamily="34" charset="-122"/>
                          <a:cs typeface="Segoe UI" pitchFamily="34" charset="-120"/>
                        </a:rPr>
                        <a:t>Linked ADLS Gen2 datasets</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OneLake shortcuts</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Reference data without copying it</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r>
              <a:tr h="457200">
                <a:tc>
                  <a:txBody>
                    <a:bodyPr/>
                    <a:lstStyle/>
                    <a:p>
                      <a:pPr indent="0" marL="0">
                        <a:buNone/>
                      </a:pPr>
                      <a:r>
                        <a:rPr lang="en-US" sz="1350" b="1" dirty="0">
                          <a:solidFill>
                            <a:srgbClr val="0B1F33"/>
                          </a:solidFill>
                          <a:latin typeface="Segoe UI" pitchFamily="34" charset="0"/>
                          <a:ea typeface="Segoe UI" pitchFamily="34" charset="-122"/>
                          <a:cs typeface="Segoe UI" pitchFamily="34" charset="-120"/>
                        </a:rPr>
                        <a:t>Synapse Link</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Mirroring</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Source tables replicated to OneLake as Delta</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r>
              <a:tr h="457200">
                <a:tc>
                  <a:txBody>
                    <a:bodyPr/>
                    <a:lstStyle/>
                    <a:p>
                      <a:pPr indent="0" marL="0">
                        <a:buNone/>
                      </a:pPr>
                      <a:r>
                        <a:rPr lang="en-US" sz="1350" b="1" dirty="0">
                          <a:solidFill>
                            <a:srgbClr val="0B1F33"/>
                          </a:solidFill>
                          <a:latin typeface="Segoe UI" pitchFamily="34" charset="0"/>
                          <a:ea typeface="Segoe UI" pitchFamily="34" charset="-122"/>
                          <a:cs typeface="Segoe UI" pitchFamily="34" charset="-120"/>
                        </a:rPr>
                        <a:t>Synapse Git integration</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Fabric Git integration</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350" dirty="0">
                          <a:solidFill>
                            <a:srgbClr val="1B2733"/>
                          </a:solidFill>
                          <a:latin typeface="Segoe UI" pitchFamily="34" charset="0"/>
                          <a:ea typeface="Segoe UI" pitchFamily="34" charset="-122"/>
                          <a:cs typeface="Segoe UI" pitchFamily="34" charset="-120"/>
                        </a:rPr>
                        <a:t>Connect Dev to a folder in a repository</a:t>
                      </a:r>
                      <a:endParaRPr lang="en-US" sz="135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r>
            </a:tbl>
          </a:graphicData>
        </a:graphic>
      </p:graphicFrame>
      <p:sp>
        <p:nvSpPr>
          <p:cNvPr id="6" name="Text 3"/>
          <p:cNvSpPr/>
          <p:nvPr/>
        </p:nvSpPr>
        <p:spPr>
          <a:xfrm>
            <a:off x="548640" y="5943600"/>
            <a:ext cx="11091672" cy="274320"/>
          </a:xfrm>
          <a:prstGeom prst="rect">
            <a:avLst/>
          </a:prstGeom>
          <a:noFill/>
          <a:ln/>
        </p:spPr>
        <p:txBody>
          <a:bodyPr wrap="square" lIns="0" tIns="0" rIns="0" bIns="0" rtlCol="0" anchor="ctr"/>
          <a:lstStyle/>
          <a:p>
            <a:pPr indent="0" marL="0">
              <a:buNone/>
            </a:pPr>
            <a:r>
              <a:rPr lang="en-US" sz="1100" dirty="0">
                <a:solidFill>
                  <a:srgbClr val="5B6B7A"/>
                </a:solidFill>
                <a:latin typeface="Segoe UI" pitchFamily="34" charset="0"/>
                <a:ea typeface="Segoe UI" pitchFamily="34" charset="-122"/>
                <a:cs typeface="Segoe UI" pitchFamily="34" charset="-120"/>
              </a:rPr>
              <a:t>Feature status changes by release. Confirm current status on Microsoft Learn before each session.</a:t>
            </a:r>
            <a:endParaRPr lang="en-US" sz="1100" dirty="0"/>
          </a:p>
        </p:txBody>
      </p:sp>
      <p:sp>
        <p:nvSpPr>
          <p:cNvPr id="7" name="Text 4"/>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8" name="Text 5"/>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4 · 12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Five migration paths; the demo uses one</a:t>
            </a:r>
            <a:endParaRPr lang="en-US" sz="3000" dirty="0"/>
          </a:p>
        </p:txBody>
      </p:sp>
      <p:sp>
        <p:nvSpPr>
          <p:cNvPr id="5" name="Shape 3"/>
          <p:cNvSpPr/>
          <p:nvPr/>
        </p:nvSpPr>
        <p:spPr>
          <a:xfrm>
            <a:off x="548640" y="1691640"/>
            <a:ext cx="11091672" cy="64008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6" name="Shape 4"/>
          <p:cNvSpPr/>
          <p:nvPr/>
        </p:nvSpPr>
        <p:spPr>
          <a:xfrm>
            <a:off x="548640" y="1691640"/>
            <a:ext cx="73152" cy="640080"/>
          </a:xfrm>
          <a:prstGeom prst="rect">
            <a:avLst/>
          </a:prstGeom>
          <a:solidFill>
            <a:srgbClr val="5F6B7A"/>
          </a:solidFill>
          <a:ln w="12700">
            <a:solidFill>
              <a:srgbClr val="5F6B7A"/>
            </a:solidFill>
            <a:prstDash val="solid"/>
          </a:ln>
        </p:spPr>
      </p:sp>
      <p:sp>
        <p:nvSpPr>
          <p:cNvPr id="7" name="Text 5"/>
          <p:cNvSpPr/>
          <p:nvPr/>
        </p:nvSpPr>
        <p:spPr>
          <a:xfrm>
            <a:off x="822960" y="1691640"/>
            <a:ext cx="3931920" cy="640080"/>
          </a:xfrm>
          <a:prstGeom prst="rect">
            <a:avLst/>
          </a:prstGeom>
          <a:noFill/>
          <a:ln/>
        </p:spPr>
        <p:txBody>
          <a:bodyPr wrap="square" lIns="0" tIns="0" rIns="0" bIns="0" rtlCol="0" anchor="ctr"/>
          <a:lstStyle/>
          <a:p>
            <a:pPr indent="0" marL="0">
              <a:buNone/>
            </a:pPr>
            <a:r>
              <a:rPr lang="en-US" sz="1600" dirty="0">
                <a:solidFill>
                  <a:srgbClr val="0B1F33"/>
                </a:solidFill>
                <a:latin typeface="Segoe UI Semibold" pitchFamily="34" charset="0"/>
                <a:ea typeface="Segoe UI Semibold" pitchFamily="34" charset="-122"/>
                <a:cs typeface="Segoe UI Semibold" pitchFamily="34" charset="-120"/>
              </a:rPr>
              <a:t>Fabric Migration Assistant</a:t>
            </a:r>
            <a:endParaRPr lang="en-US" sz="1600" dirty="0"/>
          </a:p>
        </p:txBody>
      </p:sp>
      <p:sp>
        <p:nvSpPr>
          <p:cNvPr id="8" name="Text 6"/>
          <p:cNvSpPr/>
          <p:nvPr/>
        </p:nvSpPr>
        <p:spPr>
          <a:xfrm>
            <a:off x="4800600" y="1691640"/>
            <a:ext cx="4206240" cy="640080"/>
          </a:xfrm>
          <a:prstGeom prst="rect">
            <a:avLst/>
          </a:prstGeom>
          <a:noFill/>
          <a:ln/>
        </p:spPr>
        <p:txBody>
          <a:bodyPr wrap="square" lIns="0" tIns="0" rIns="0" bIns="0" rtlCol="0" anchor="ctr"/>
          <a:lstStyle/>
          <a:p>
            <a:pPr indent="0" marL="0">
              <a:buNone/>
            </a:pPr>
            <a:r>
              <a:rPr lang="en-US" sz="1350" dirty="0">
                <a:solidFill>
                  <a:srgbClr val="5B6B7A"/>
                </a:solidFill>
                <a:latin typeface="Segoe UI" pitchFamily="34" charset="0"/>
                <a:ea typeface="Segoe UI" pitchFamily="34" charset="-122"/>
                <a:cs typeface="Segoe UI" pitchFamily="34" charset="-120"/>
              </a:rPr>
              <a:t>Automated and portal-driven, from a connected dedicated pool</a:t>
            </a:r>
            <a:endParaRPr lang="en-US" sz="1350" dirty="0"/>
          </a:p>
        </p:txBody>
      </p:sp>
      <p:sp>
        <p:nvSpPr>
          <p:cNvPr id="9" name="Shape 7"/>
          <p:cNvSpPr/>
          <p:nvPr/>
        </p:nvSpPr>
        <p:spPr>
          <a:xfrm>
            <a:off x="9189720" y="1828800"/>
            <a:ext cx="2286000" cy="365760"/>
          </a:xfrm>
          <a:prstGeom prst="roundRect">
            <a:avLst>
              <a:gd name="adj" fmla="val 15000"/>
            </a:avLst>
          </a:prstGeom>
          <a:solidFill>
            <a:srgbClr val="E4E9EF"/>
          </a:solidFill>
          <a:ln w="9525">
            <a:solidFill>
              <a:srgbClr val="5F6B7A"/>
            </a:solidFill>
            <a:prstDash val="solid"/>
          </a:ln>
        </p:spPr>
      </p:sp>
      <p:sp>
        <p:nvSpPr>
          <p:cNvPr id="10" name="Text 8"/>
          <p:cNvSpPr/>
          <p:nvPr/>
        </p:nvSpPr>
        <p:spPr>
          <a:xfrm>
            <a:off x="9189720" y="1828800"/>
            <a:ext cx="2286000" cy="365760"/>
          </a:xfrm>
          <a:prstGeom prst="rect">
            <a:avLst/>
          </a:prstGeom>
          <a:noFill/>
          <a:ln/>
        </p:spPr>
        <p:txBody>
          <a:bodyPr wrap="square" lIns="0" tIns="0" rIns="0" bIns="0" rtlCol="0" anchor="ctr"/>
          <a:lstStyle/>
          <a:p>
            <a:pPr algn="ctr" indent="0" marL="0">
              <a:buNone/>
            </a:pPr>
            <a:r>
              <a:rPr lang="en-US" sz="1050" b="1" dirty="0">
                <a:solidFill>
                  <a:srgbClr val="1B2733"/>
                </a:solidFill>
                <a:latin typeface="Segoe UI" pitchFamily="34" charset="0"/>
                <a:ea typeface="Segoe UI" pitchFamily="34" charset="-122"/>
                <a:cs typeface="Segoe UI" pitchFamily="34" charset="-120"/>
              </a:rPr>
              <a:t>DOCUMENTED</a:t>
            </a:r>
            <a:endParaRPr lang="en-US" sz="1050" dirty="0"/>
          </a:p>
        </p:txBody>
      </p:sp>
      <p:sp>
        <p:nvSpPr>
          <p:cNvPr id="11" name="Shape 9"/>
          <p:cNvSpPr/>
          <p:nvPr/>
        </p:nvSpPr>
        <p:spPr>
          <a:xfrm>
            <a:off x="548640" y="2514600"/>
            <a:ext cx="11091672" cy="64008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2" name="Shape 10"/>
          <p:cNvSpPr/>
          <p:nvPr/>
        </p:nvSpPr>
        <p:spPr>
          <a:xfrm>
            <a:off x="548640" y="2514600"/>
            <a:ext cx="73152" cy="640080"/>
          </a:xfrm>
          <a:prstGeom prst="rect">
            <a:avLst/>
          </a:prstGeom>
          <a:solidFill>
            <a:srgbClr val="B42318"/>
          </a:solidFill>
          <a:ln w="12700">
            <a:solidFill>
              <a:srgbClr val="B42318"/>
            </a:solidFill>
            <a:prstDash val="solid"/>
          </a:ln>
        </p:spPr>
      </p:sp>
      <p:sp>
        <p:nvSpPr>
          <p:cNvPr id="13" name="Text 11"/>
          <p:cNvSpPr/>
          <p:nvPr/>
        </p:nvSpPr>
        <p:spPr>
          <a:xfrm>
            <a:off x="822960" y="2514600"/>
            <a:ext cx="3931920" cy="640080"/>
          </a:xfrm>
          <a:prstGeom prst="rect">
            <a:avLst/>
          </a:prstGeom>
          <a:noFill/>
          <a:ln/>
        </p:spPr>
        <p:txBody>
          <a:bodyPr wrap="square" lIns="0" tIns="0" rIns="0" bIns="0" rtlCol="0" anchor="ctr"/>
          <a:lstStyle/>
          <a:p>
            <a:pPr indent="0" marL="0">
              <a:buNone/>
            </a:pPr>
            <a:r>
              <a:rPr lang="en-US" sz="1600" dirty="0">
                <a:solidFill>
                  <a:srgbClr val="0B1F33"/>
                </a:solidFill>
                <a:latin typeface="Segoe UI Semibold" pitchFamily="34" charset="0"/>
                <a:ea typeface="Segoe UI Semibold" pitchFamily="34" charset="-122"/>
                <a:cs typeface="Segoe UI Semibold" pitchFamily="34" charset="-120"/>
              </a:rPr>
              <a:t>Data Factory copy with ADLS staging</a:t>
            </a:r>
            <a:endParaRPr lang="en-US" sz="1600" dirty="0"/>
          </a:p>
        </p:txBody>
      </p:sp>
      <p:sp>
        <p:nvSpPr>
          <p:cNvPr id="14" name="Text 12"/>
          <p:cNvSpPr/>
          <p:nvPr/>
        </p:nvSpPr>
        <p:spPr>
          <a:xfrm>
            <a:off x="4800600" y="2514600"/>
            <a:ext cx="4206240" cy="640080"/>
          </a:xfrm>
          <a:prstGeom prst="rect">
            <a:avLst/>
          </a:prstGeom>
          <a:noFill/>
          <a:ln/>
        </p:spPr>
        <p:txBody>
          <a:bodyPr wrap="square" lIns="0" tIns="0" rIns="0" bIns="0" rtlCol="0" anchor="ctr"/>
          <a:lstStyle/>
          <a:p>
            <a:pPr indent="0" marL="0">
              <a:buNone/>
            </a:pPr>
            <a:r>
              <a:rPr lang="en-US" sz="1350" dirty="0">
                <a:solidFill>
                  <a:srgbClr val="5B6B7A"/>
                </a:solidFill>
                <a:latin typeface="Segoe UI" pitchFamily="34" charset="0"/>
                <a:ea typeface="Segoe UI" pitchFamily="34" charset="-122"/>
                <a:cs typeface="Segoe UI" pitchFamily="34" charset="-120"/>
              </a:rPr>
              <a:t>Managed copy for large tables; needs a reachable ADLS Gen2 account</a:t>
            </a:r>
            <a:endParaRPr lang="en-US" sz="1350" dirty="0"/>
          </a:p>
        </p:txBody>
      </p:sp>
      <p:sp>
        <p:nvSpPr>
          <p:cNvPr id="15" name="Shape 13"/>
          <p:cNvSpPr/>
          <p:nvPr/>
        </p:nvSpPr>
        <p:spPr>
          <a:xfrm>
            <a:off x="9189720" y="2651760"/>
            <a:ext cx="2286000" cy="365760"/>
          </a:xfrm>
          <a:prstGeom prst="roundRect">
            <a:avLst>
              <a:gd name="adj" fmla="val 15000"/>
            </a:avLst>
          </a:prstGeom>
          <a:solidFill>
            <a:srgbClr val="FDECEA"/>
          </a:solidFill>
          <a:ln w="9525">
            <a:solidFill>
              <a:srgbClr val="B42318"/>
            </a:solidFill>
            <a:prstDash val="solid"/>
          </a:ln>
        </p:spPr>
      </p:sp>
      <p:sp>
        <p:nvSpPr>
          <p:cNvPr id="16" name="Text 14"/>
          <p:cNvSpPr/>
          <p:nvPr/>
        </p:nvSpPr>
        <p:spPr>
          <a:xfrm>
            <a:off x="9189720" y="2651760"/>
            <a:ext cx="2286000" cy="365760"/>
          </a:xfrm>
          <a:prstGeom prst="rect">
            <a:avLst/>
          </a:prstGeom>
          <a:noFill/>
          <a:ln/>
        </p:spPr>
        <p:txBody>
          <a:bodyPr wrap="square" lIns="0" tIns="0" rIns="0" bIns="0" rtlCol="0" anchor="ctr"/>
          <a:lstStyle/>
          <a:p>
            <a:pPr algn="ctr" indent="0" marL="0">
              <a:buNone/>
            </a:pPr>
            <a:r>
              <a:rPr lang="en-US" sz="1050" b="1" dirty="0">
                <a:solidFill>
                  <a:srgbClr val="B42318"/>
                </a:solidFill>
                <a:latin typeface="Segoe UI" pitchFamily="34" charset="0"/>
                <a:ea typeface="Segoe UI" pitchFamily="34" charset="-122"/>
                <a:cs typeface="Segoe UI" pitchFamily="34" charset="-120"/>
              </a:rPr>
              <a:t>BLOCKED IN SANDBOX</a:t>
            </a:r>
            <a:endParaRPr lang="en-US" sz="1050" dirty="0"/>
          </a:p>
        </p:txBody>
      </p:sp>
      <p:sp>
        <p:nvSpPr>
          <p:cNvPr id="17" name="Shape 15"/>
          <p:cNvSpPr/>
          <p:nvPr/>
        </p:nvSpPr>
        <p:spPr>
          <a:xfrm>
            <a:off x="548640" y="3337560"/>
            <a:ext cx="11091672" cy="64008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8" name="Shape 16"/>
          <p:cNvSpPr/>
          <p:nvPr/>
        </p:nvSpPr>
        <p:spPr>
          <a:xfrm>
            <a:off x="548640" y="3337560"/>
            <a:ext cx="73152" cy="640080"/>
          </a:xfrm>
          <a:prstGeom prst="rect">
            <a:avLst/>
          </a:prstGeom>
          <a:solidFill>
            <a:srgbClr val="5F6B7A"/>
          </a:solidFill>
          <a:ln w="12700">
            <a:solidFill>
              <a:srgbClr val="5F6B7A"/>
            </a:solidFill>
            <a:prstDash val="solid"/>
          </a:ln>
        </p:spPr>
      </p:sp>
      <p:sp>
        <p:nvSpPr>
          <p:cNvPr id="19" name="Text 17"/>
          <p:cNvSpPr/>
          <p:nvPr/>
        </p:nvSpPr>
        <p:spPr>
          <a:xfrm>
            <a:off x="822960" y="3337560"/>
            <a:ext cx="3931920" cy="640080"/>
          </a:xfrm>
          <a:prstGeom prst="rect">
            <a:avLst/>
          </a:prstGeom>
          <a:noFill/>
          <a:ln/>
        </p:spPr>
        <p:txBody>
          <a:bodyPr wrap="square" lIns="0" tIns="0" rIns="0" bIns="0" rtlCol="0" anchor="ctr"/>
          <a:lstStyle/>
          <a:p>
            <a:pPr indent="0" marL="0">
              <a:buNone/>
            </a:pPr>
            <a:r>
              <a:rPr lang="en-US" sz="1600" dirty="0">
                <a:solidFill>
                  <a:srgbClr val="0B1F33"/>
                </a:solidFill>
                <a:latin typeface="Segoe UI Semibold" pitchFamily="34" charset="0"/>
                <a:ea typeface="Segoe UI Semibold" pitchFamily="34" charset="-122"/>
                <a:cs typeface="Segoe UI Semibold" pitchFamily="34" charset="-120"/>
              </a:rPr>
              <a:t>CETAS to ADLS, then COPY INTO</a:t>
            </a:r>
            <a:endParaRPr lang="en-US" sz="1600" dirty="0"/>
          </a:p>
        </p:txBody>
      </p:sp>
      <p:sp>
        <p:nvSpPr>
          <p:cNvPr id="20" name="Text 18"/>
          <p:cNvSpPr/>
          <p:nvPr/>
        </p:nvSpPr>
        <p:spPr>
          <a:xfrm>
            <a:off x="4800600" y="3337560"/>
            <a:ext cx="4206240" cy="640080"/>
          </a:xfrm>
          <a:prstGeom prst="rect">
            <a:avLst/>
          </a:prstGeom>
          <a:noFill/>
          <a:ln/>
        </p:spPr>
        <p:txBody>
          <a:bodyPr wrap="square" lIns="0" tIns="0" rIns="0" bIns="0" rtlCol="0" anchor="ctr"/>
          <a:lstStyle/>
          <a:p>
            <a:pPr indent="0" marL="0">
              <a:buNone/>
            </a:pPr>
            <a:r>
              <a:rPr lang="en-US" sz="1350" dirty="0">
                <a:solidFill>
                  <a:srgbClr val="5B6B7A"/>
                </a:solidFill>
                <a:latin typeface="Segoe UI" pitchFamily="34" charset="0"/>
                <a:ea typeface="Segoe UI" pitchFamily="34" charset="-122"/>
                <a:cs typeface="Segoe UI" pitchFamily="34" charset="-120"/>
              </a:rPr>
              <a:t>High-throughput extract and load through storage</a:t>
            </a:r>
            <a:endParaRPr lang="en-US" sz="1350" dirty="0"/>
          </a:p>
        </p:txBody>
      </p:sp>
      <p:sp>
        <p:nvSpPr>
          <p:cNvPr id="21" name="Shape 19"/>
          <p:cNvSpPr/>
          <p:nvPr/>
        </p:nvSpPr>
        <p:spPr>
          <a:xfrm>
            <a:off x="9189720" y="3474720"/>
            <a:ext cx="2286000" cy="365760"/>
          </a:xfrm>
          <a:prstGeom prst="roundRect">
            <a:avLst>
              <a:gd name="adj" fmla="val 15000"/>
            </a:avLst>
          </a:prstGeom>
          <a:solidFill>
            <a:srgbClr val="E4E9EF"/>
          </a:solidFill>
          <a:ln w="9525">
            <a:solidFill>
              <a:srgbClr val="5F6B7A"/>
            </a:solidFill>
            <a:prstDash val="solid"/>
          </a:ln>
        </p:spPr>
      </p:sp>
      <p:sp>
        <p:nvSpPr>
          <p:cNvPr id="22" name="Text 20"/>
          <p:cNvSpPr/>
          <p:nvPr/>
        </p:nvSpPr>
        <p:spPr>
          <a:xfrm>
            <a:off x="9189720" y="3474720"/>
            <a:ext cx="2286000" cy="365760"/>
          </a:xfrm>
          <a:prstGeom prst="rect">
            <a:avLst/>
          </a:prstGeom>
          <a:noFill/>
          <a:ln/>
        </p:spPr>
        <p:txBody>
          <a:bodyPr wrap="square" lIns="0" tIns="0" rIns="0" bIns="0" rtlCol="0" anchor="ctr"/>
          <a:lstStyle/>
          <a:p>
            <a:pPr algn="ctr" indent="0" marL="0">
              <a:buNone/>
            </a:pPr>
            <a:r>
              <a:rPr lang="en-US" sz="1050" b="1" dirty="0">
                <a:solidFill>
                  <a:srgbClr val="1B2733"/>
                </a:solidFill>
                <a:latin typeface="Segoe UI" pitchFamily="34" charset="0"/>
                <a:ea typeface="Segoe UI" pitchFamily="34" charset="-122"/>
                <a:cs typeface="Segoe UI" pitchFamily="34" charset="-120"/>
              </a:rPr>
              <a:t>DOCUMENTED</a:t>
            </a:r>
            <a:endParaRPr lang="en-US" sz="1050" dirty="0"/>
          </a:p>
        </p:txBody>
      </p:sp>
      <p:sp>
        <p:nvSpPr>
          <p:cNvPr id="23" name="Shape 21"/>
          <p:cNvSpPr/>
          <p:nvPr/>
        </p:nvSpPr>
        <p:spPr>
          <a:xfrm>
            <a:off x="548640" y="4160520"/>
            <a:ext cx="11091672" cy="64008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24" name="Shape 22"/>
          <p:cNvSpPr/>
          <p:nvPr/>
        </p:nvSpPr>
        <p:spPr>
          <a:xfrm>
            <a:off x="548640" y="4160520"/>
            <a:ext cx="73152" cy="640080"/>
          </a:xfrm>
          <a:prstGeom prst="rect">
            <a:avLst/>
          </a:prstGeom>
          <a:solidFill>
            <a:srgbClr val="0E7C86"/>
          </a:solidFill>
          <a:ln w="12700">
            <a:solidFill>
              <a:srgbClr val="0E7C86"/>
            </a:solidFill>
            <a:prstDash val="solid"/>
          </a:ln>
        </p:spPr>
      </p:sp>
      <p:sp>
        <p:nvSpPr>
          <p:cNvPr id="25" name="Text 23"/>
          <p:cNvSpPr/>
          <p:nvPr/>
        </p:nvSpPr>
        <p:spPr>
          <a:xfrm>
            <a:off x="822960" y="4160520"/>
            <a:ext cx="3931920" cy="640080"/>
          </a:xfrm>
          <a:prstGeom prst="rect">
            <a:avLst/>
          </a:prstGeom>
          <a:noFill/>
          <a:ln/>
        </p:spPr>
        <p:txBody>
          <a:bodyPr wrap="square" lIns="0" tIns="0" rIns="0" bIns="0" rtlCol="0" anchor="ctr"/>
          <a:lstStyle/>
          <a:p>
            <a:pPr indent="0" marL="0">
              <a:buNone/>
            </a:pPr>
            <a:r>
              <a:rPr lang="en-US" sz="1600" dirty="0">
                <a:solidFill>
                  <a:srgbClr val="0B1F33"/>
                </a:solidFill>
                <a:latin typeface="Segoe UI Semibold" pitchFamily="34" charset="0"/>
                <a:ea typeface="Segoe UI Semibold" pitchFamily="34" charset="-122"/>
                <a:cs typeface="Segoe UI Semibold" pitchFamily="34" charset="-120"/>
              </a:rPr>
              <a:t>Spark JDBC, Delta, then T-SQL</a:t>
            </a:r>
            <a:endParaRPr lang="en-US" sz="1600" dirty="0"/>
          </a:p>
        </p:txBody>
      </p:sp>
      <p:sp>
        <p:nvSpPr>
          <p:cNvPr id="26" name="Text 24"/>
          <p:cNvSpPr/>
          <p:nvPr/>
        </p:nvSpPr>
        <p:spPr>
          <a:xfrm>
            <a:off x="4800600" y="4160520"/>
            <a:ext cx="4206240" cy="640080"/>
          </a:xfrm>
          <a:prstGeom prst="rect">
            <a:avLst/>
          </a:prstGeom>
          <a:noFill/>
          <a:ln/>
        </p:spPr>
        <p:txBody>
          <a:bodyPr wrap="square" lIns="0" tIns="0" rIns="0" bIns="0" rtlCol="0" anchor="ctr"/>
          <a:lstStyle/>
          <a:p>
            <a:pPr indent="0" marL="0">
              <a:buNone/>
            </a:pPr>
            <a:r>
              <a:rPr lang="en-US" sz="1350" dirty="0">
                <a:solidFill>
                  <a:srgbClr val="5B6B7A"/>
                </a:solidFill>
                <a:latin typeface="Segoe UI" pitchFamily="34" charset="0"/>
                <a:ea typeface="Segoe UI" pitchFamily="34" charset="-122"/>
                <a:cs typeface="Segoe UI" pitchFamily="34" charset="-120"/>
              </a:rPr>
              <a:t>No staging storage; partitioned reads and full control of transforms</a:t>
            </a:r>
            <a:endParaRPr lang="en-US" sz="1350" dirty="0"/>
          </a:p>
        </p:txBody>
      </p:sp>
      <p:sp>
        <p:nvSpPr>
          <p:cNvPr id="27" name="Shape 25"/>
          <p:cNvSpPr/>
          <p:nvPr/>
        </p:nvSpPr>
        <p:spPr>
          <a:xfrm>
            <a:off x="9189720" y="4297680"/>
            <a:ext cx="2286000" cy="365760"/>
          </a:xfrm>
          <a:prstGeom prst="roundRect">
            <a:avLst>
              <a:gd name="adj" fmla="val 15000"/>
            </a:avLst>
          </a:prstGeom>
          <a:solidFill>
            <a:srgbClr val="0E7C86"/>
          </a:solidFill>
          <a:ln w="9525">
            <a:solidFill>
              <a:srgbClr val="0E7C86"/>
            </a:solidFill>
            <a:prstDash val="solid"/>
          </a:ln>
        </p:spPr>
      </p:sp>
      <p:sp>
        <p:nvSpPr>
          <p:cNvPr id="28" name="Text 26"/>
          <p:cNvSpPr/>
          <p:nvPr/>
        </p:nvSpPr>
        <p:spPr>
          <a:xfrm>
            <a:off x="9189720" y="4297680"/>
            <a:ext cx="22860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USED IN DEMO</a:t>
            </a:r>
            <a:endParaRPr lang="en-US" sz="1050" dirty="0"/>
          </a:p>
        </p:txBody>
      </p:sp>
      <p:sp>
        <p:nvSpPr>
          <p:cNvPr id="29" name="Shape 27"/>
          <p:cNvSpPr/>
          <p:nvPr/>
        </p:nvSpPr>
        <p:spPr>
          <a:xfrm>
            <a:off x="548640" y="4983480"/>
            <a:ext cx="11091672" cy="64008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30" name="Shape 28"/>
          <p:cNvSpPr/>
          <p:nvPr/>
        </p:nvSpPr>
        <p:spPr>
          <a:xfrm>
            <a:off x="548640" y="4983480"/>
            <a:ext cx="73152" cy="640080"/>
          </a:xfrm>
          <a:prstGeom prst="rect">
            <a:avLst/>
          </a:prstGeom>
          <a:solidFill>
            <a:srgbClr val="5F6B7A"/>
          </a:solidFill>
          <a:ln w="12700">
            <a:solidFill>
              <a:srgbClr val="5F6B7A"/>
            </a:solidFill>
            <a:prstDash val="solid"/>
          </a:ln>
        </p:spPr>
      </p:sp>
      <p:sp>
        <p:nvSpPr>
          <p:cNvPr id="31" name="Text 29"/>
          <p:cNvSpPr/>
          <p:nvPr/>
        </p:nvSpPr>
        <p:spPr>
          <a:xfrm>
            <a:off x="822960" y="4983480"/>
            <a:ext cx="3931920" cy="640080"/>
          </a:xfrm>
          <a:prstGeom prst="rect">
            <a:avLst/>
          </a:prstGeom>
          <a:noFill/>
          <a:ln/>
        </p:spPr>
        <p:txBody>
          <a:bodyPr wrap="square" lIns="0" tIns="0" rIns="0" bIns="0" rtlCol="0" anchor="ctr"/>
          <a:lstStyle/>
          <a:p>
            <a:pPr indent="0" marL="0">
              <a:buNone/>
            </a:pPr>
            <a:r>
              <a:rPr lang="en-US" sz="1600" dirty="0">
                <a:solidFill>
                  <a:srgbClr val="0B1F33"/>
                </a:solidFill>
                <a:latin typeface="Segoe UI Semibold" pitchFamily="34" charset="0"/>
                <a:ea typeface="Segoe UI Semibold" pitchFamily="34" charset="-122"/>
                <a:cs typeface="Segoe UI Semibold" pitchFamily="34" charset="-120"/>
              </a:rPr>
              <a:t>SQL Database Projects or dbt</a:t>
            </a:r>
            <a:endParaRPr lang="en-US" sz="1600" dirty="0"/>
          </a:p>
        </p:txBody>
      </p:sp>
      <p:sp>
        <p:nvSpPr>
          <p:cNvPr id="32" name="Text 30"/>
          <p:cNvSpPr/>
          <p:nvPr/>
        </p:nvSpPr>
        <p:spPr>
          <a:xfrm>
            <a:off x="4800600" y="4983480"/>
            <a:ext cx="4206240" cy="640080"/>
          </a:xfrm>
          <a:prstGeom prst="rect">
            <a:avLst/>
          </a:prstGeom>
          <a:noFill/>
          <a:ln/>
        </p:spPr>
        <p:txBody>
          <a:bodyPr wrap="square" lIns="0" tIns="0" rIns="0" bIns="0" rtlCol="0" anchor="ctr"/>
          <a:lstStyle/>
          <a:p>
            <a:pPr indent="0" marL="0">
              <a:buNone/>
            </a:pPr>
            <a:r>
              <a:rPr lang="en-US" sz="1350" dirty="0">
                <a:solidFill>
                  <a:srgbClr val="5B6B7A"/>
                </a:solidFill>
                <a:latin typeface="Segoe UI" pitchFamily="34" charset="0"/>
                <a:ea typeface="Segoe UI" pitchFamily="34" charset="-122"/>
                <a:cs typeface="Segoe UI" pitchFamily="34" charset="-120"/>
              </a:rPr>
              <a:t>Schema as code, for teams that already use these tools</a:t>
            </a:r>
            <a:endParaRPr lang="en-US" sz="1350" dirty="0"/>
          </a:p>
        </p:txBody>
      </p:sp>
      <p:sp>
        <p:nvSpPr>
          <p:cNvPr id="33" name="Shape 31"/>
          <p:cNvSpPr/>
          <p:nvPr/>
        </p:nvSpPr>
        <p:spPr>
          <a:xfrm>
            <a:off x="9189720" y="5120640"/>
            <a:ext cx="2286000" cy="365760"/>
          </a:xfrm>
          <a:prstGeom prst="roundRect">
            <a:avLst>
              <a:gd name="adj" fmla="val 15000"/>
            </a:avLst>
          </a:prstGeom>
          <a:solidFill>
            <a:srgbClr val="E4E9EF"/>
          </a:solidFill>
          <a:ln w="9525">
            <a:solidFill>
              <a:srgbClr val="5F6B7A"/>
            </a:solidFill>
            <a:prstDash val="solid"/>
          </a:ln>
        </p:spPr>
      </p:sp>
      <p:sp>
        <p:nvSpPr>
          <p:cNvPr id="34" name="Text 32"/>
          <p:cNvSpPr/>
          <p:nvPr/>
        </p:nvSpPr>
        <p:spPr>
          <a:xfrm>
            <a:off x="9189720" y="5120640"/>
            <a:ext cx="2286000" cy="365760"/>
          </a:xfrm>
          <a:prstGeom prst="rect">
            <a:avLst/>
          </a:prstGeom>
          <a:noFill/>
          <a:ln/>
        </p:spPr>
        <p:txBody>
          <a:bodyPr wrap="square" lIns="0" tIns="0" rIns="0" bIns="0" rtlCol="0" anchor="ctr"/>
          <a:lstStyle/>
          <a:p>
            <a:pPr algn="ctr" indent="0" marL="0">
              <a:buNone/>
            </a:pPr>
            <a:r>
              <a:rPr lang="en-US" sz="1050" b="1" dirty="0">
                <a:solidFill>
                  <a:srgbClr val="1B2733"/>
                </a:solidFill>
                <a:latin typeface="Segoe UI" pitchFamily="34" charset="0"/>
                <a:ea typeface="Segoe UI" pitchFamily="34" charset="-122"/>
                <a:cs typeface="Segoe UI" pitchFamily="34" charset="-120"/>
              </a:rPr>
              <a:t>DOCUMENTED</a:t>
            </a:r>
            <a:endParaRPr lang="en-US" sz="1050" dirty="0"/>
          </a:p>
        </p:txBody>
      </p:sp>
      <p:sp>
        <p:nvSpPr>
          <p:cNvPr id="35" name="Shape 33"/>
          <p:cNvSpPr/>
          <p:nvPr/>
        </p:nvSpPr>
        <p:spPr>
          <a:xfrm>
            <a:off x="548640" y="5760720"/>
            <a:ext cx="11091672" cy="457200"/>
          </a:xfrm>
          <a:prstGeom prst="rect">
            <a:avLst/>
          </a:prstGeom>
          <a:solidFill>
            <a:srgbClr val="DDF0F2"/>
          </a:solidFill>
          <a:ln w="12700">
            <a:solidFill>
              <a:srgbClr val="DDF0F2"/>
            </a:solidFill>
            <a:prstDash val="solid"/>
          </a:ln>
        </p:spPr>
      </p:sp>
      <p:sp>
        <p:nvSpPr>
          <p:cNvPr id="36" name="Text 34"/>
          <p:cNvSpPr/>
          <p:nvPr/>
        </p:nvSpPr>
        <p:spPr>
          <a:xfrm>
            <a:off x="777240" y="5760720"/>
            <a:ext cx="10698480" cy="457200"/>
          </a:xfrm>
          <a:prstGeom prst="rect">
            <a:avLst/>
          </a:prstGeom>
          <a:noFill/>
          <a:ln/>
        </p:spPr>
        <p:txBody>
          <a:bodyPr wrap="square" lIns="0" tIns="0" rIns="0" bIns="0" rtlCol="0" anchor="ctr"/>
          <a:lstStyle/>
          <a:p>
            <a:pPr indent="0" marL="0">
              <a:buNone/>
            </a:pPr>
            <a:r>
              <a:rPr lang="en-US" sz="1300" dirty="0">
                <a:solidFill>
                  <a:srgbClr val="0B1F33"/>
                </a:solidFill>
                <a:latin typeface="Segoe UI" pitchFamily="34" charset="0"/>
                <a:ea typeface="Segoe UI" pitchFamily="34" charset="-122"/>
                <a:cs typeface="Segoe UI" pitchFamily="34" charset="-120"/>
              </a:rPr>
              <a:t>Converted DDL: drop DISTRIBUTION and columnstore · primary keys via ALTER TABLE … NOT ENFORCED · TINYINT becomes SMALLINT</a:t>
            </a:r>
            <a:endParaRPr lang="en-US" sz="1300" dirty="0"/>
          </a:p>
        </p:txBody>
      </p:sp>
      <p:sp>
        <p:nvSpPr>
          <p:cNvPr id="37" name="Text 35"/>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38" name="Text 36"/>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4 · 12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Prove the migration with control totals</a:t>
            </a:r>
            <a:endParaRPr lang="en-US" sz="3000" dirty="0"/>
          </a:p>
        </p:txBody>
      </p:sp>
      <p:sp>
        <p:nvSpPr>
          <p:cNvPr id="5" name="Shape 3"/>
          <p:cNvSpPr/>
          <p:nvPr/>
        </p:nvSpPr>
        <p:spPr>
          <a:xfrm>
            <a:off x="548640" y="1691640"/>
            <a:ext cx="3575304" cy="1874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6" name="Shape 4"/>
          <p:cNvSpPr/>
          <p:nvPr/>
        </p:nvSpPr>
        <p:spPr>
          <a:xfrm>
            <a:off x="548640" y="1691640"/>
            <a:ext cx="73152" cy="1874520"/>
          </a:xfrm>
          <a:prstGeom prst="rect">
            <a:avLst/>
          </a:prstGeom>
          <a:solidFill>
            <a:srgbClr val="0E7C86"/>
          </a:solidFill>
          <a:ln w="12700">
            <a:solidFill>
              <a:srgbClr val="0E7C86"/>
            </a:solidFill>
            <a:prstDash val="solid"/>
          </a:ln>
        </p:spPr>
      </p:sp>
      <p:sp>
        <p:nvSpPr>
          <p:cNvPr id="7" name="Text 5"/>
          <p:cNvSpPr/>
          <p:nvPr/>
        </p:nvSpPr>
        <p:spPr>
          <a:xfrm>
            <a:off x="868680" y="1920240"/>
            <a:ext cx="3026664" cy="822960"/>
          </a:xfrm>
          <a:prstGeom prst="rect">
            <a:avLst/>
          </a:prstGeom>
          <a:noFill/>
          <a:ln/>
        </p:spPr>
        <p:txBody>
          <a:bodyPr wrap="square" lIns="0" tIns="0" rIns="0" bIns="0" rtlCol="0" anchor="ctr"/>
          <a:lstStyle/>
          <a:p>
            <a:pPr indent="0" marL="0">
              <a:buNone/>
            </a:pPr>
            <a:r>
              <a:rPr lang="en-US" sz="3400" dirty="0">
                <a:solidFill>
                  <a:srgbClr val="0E7C86"/>
                </a:solidFill>
                <a:latin typeface="Segoe UI Semibold" pitchFamily="34" charset="0"/>
                <a:ea typeface="Segoe UI Semibold" pitchFamily="34" charset="-122"/>
                <a:cs typeface="Segoe UI Semibold" pitchFamily="34" charset="-120"/>
              </a:rPr>
              <a:t>100,000,000</a:t>
            </a:r>
            <a:endParaRPr lang="en-US" sz="3400" dirty="0"/>
          </a:p>
        </p:txBody>
      </p:sp>
      <p:sp>
        <p:nvSpPr>
          <p:cNvPr id="8" name="Text 6"/>
          <p:cNvSpPr/>
          <p:nvPr/>
        </p:nvSpPr>
        <p:spPr>
          <a:xfrm>
            <a:off x="868680" y="2788920"/>
            <a:ext cx="3026664" cy="640080"/>
          </a:xfrm>
          <a:prstGeom prst="rect">
            <a:avLst/>
          </a:prstGeom>
          <a:noFill/>
          <a:ln/>
        </p:spPr>
        <p:txBody>
          <a:bodyPr wrap="square" lIns="0" tIns="0" rIns="0" bIns="0" rtlCol="0" anchor="t"/>
          <a:lstStyle/>
          <a:p>
            <a:pPr indent="0" marL="0">
              <a:buNone/>
            </a:pPr>
            <a:r>
              <a:rPr lang="en-US" sz="1400" dirty="0">
                <a:solidFill>
                  <a:srgbClr val="1B2733"/>
                </a:solidFill>
                <a:latin typeface="Segoe UI" pitchFamily="34" charset="0"/>
                <a:ea typeface="Segoe UI" pitchFamily="34" charset="-122"/>
                <a:cs typeface="Segoe UI" pitchFamily="34" charset="-120"/>
              </a:rPr>
              <a:t>fact_transaction rows, identical in Synapse and the warehouse</a:t>
            </a:r>
            <a:endParaRPr lang="en-US" sz="1400" dirty="0"/>
          </a:p>
        </p:txBody>
      </p:sp>
      <p:sp>
        <p:nvSpPr>
          <p:cNvPr id="9" name="Shape 7"/>
          <p:cNvSpPr/>
          <p:nvPr/>
        </p:nvSpPr>
        <p:spPr>
          <a:xfrm>
            <a:off x="4306824" y="1691640"/>
            <a:ext cx="3575304" cy="1874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0" name="Shape 8"/>
          <p:cNvSpPr/>
          <p:nvPr/>
        </p:nvSpPr>
        <p:spPr>
          <a:xfrm>
            <a:off x="4306824" y="1691640"/>
            <a:ext cx="73152" cy="1874520"/>
          </a:xfrm>
          <a:prstGeom prst="rect">
            <a:avLst/>
          </a:prstGeom>
          <a:solidFill>
            <a:srgbClr val="0E7C86"/>
          </a:solidFill>
          <a:ln w="12700">
            <a:solidFill>
              <a:srgbClr val="0E7C86"/>
            </a:solidFill>
            <a:prstDash val="solid"/>
          </a:ln>
        </p:spPr>
      </p:sp>
      <p:sp>
        <p:nvSpPr>
          <p:cNvPr id="11" name="Text 9"/>
          <p:cNvSpPr/>
          <p:nvPr/>
        </p:nvSpPr>
        <p:spPr>
          <a:xfrm>
            <a:off x="4626864" y="1920240"/>
            <a:ext cx="3026664" cy="822960"/>
          </a:xfrm>
          <a:prstGeom prst="rect">
            <a:avLst/>
          </a:prstGeom>
          <a:noFill/>
          <a:ln/>
        </p:spPr>
        <p:txBody>
          <a:bodyPr wrap="square" lIns="0" tIns="0" rIns="0" bIns="0" rtlCol="0" anchor="ctr"/>
          <a:lstStyle/>
          <a:p>
            <a:pPr indent="0" marL="0">
              <a:buNone/>
            </a:pPr>
            <a:r>
              <a:rPr lang="en-US" sz="3400" dirty="0">
                <a:solidFill>
                  <a:srgbClr val="0E7C86"/>
                </a:solidFill>
                <a:latin typeface="Segoe UI Semibold" pitchFamily="34" charset="0"/>
                <a:ea typeface="Segoe UI Semibold" pitchFamily="34" charset="-122"/>
                <a:cs typeface="Segoe UI Semibold" pitchFamily="34" charset="-120"/>
              </a:rPr>
              <a:t>2,000,000</a:t>
            </a:r>
            <a:endParaRPr lang="en-US" sz="3400" dirty="0"/>
          </a:p>
        </p:txBody>
      </p:sp>
      <p:sp>
        <p:nvSpPr>
          <p:cNvPr id="12" name="Text 10"/>
          <p:cNvSpPr/>
          <p:nvPr/>
        </p:nvSpPr>
        <p:spPr>
          <a:xfrm>
            <a:off x="4626864" y="2788920"/>
            <a:ext cx="3026664" cy="640080"/>
          </a:xfrm>
          <a:prstGeom prst="rect">
            <a:avLst/>
          </a:prstGeom>
          <a:noFill/>
          <a:ln/>
        </p:spPr>
        <p:txBody>
          <a:bodyPr wrap="square" lIns="0" tIns="0" rIns="0" bIns="0" rtlCol="0" anchor="t"/>
          <a:lstStyle/>
          <a:p>
            <a:pPr indent="0" marL="0">
              <a:buNone/>
            </a:pPr>
            <a:r>
              <a:rPr lang="en-US" sz="1400" dirty="0">
                <a:solidFill>
                  <a:srgbClr val="1B2733"/>
                </a:solidFill>
                <a:latin typeface="Segoe UI" pitchFamily="34" charset="0"/>
                <a:ea typeface="Segoe UI" pitchFamily="34" charset="-122"/>
                <a:cs typeface="Segoe UI" pitchFamily="34" charset="-120"/>
              </a:rPr>
              <a:t>large cash-flag transactions, identical in both systems</a:t>
            </a:r>
            <a:endParaRPr lang="en-US" sz="1400" dirty="0"/>
          </a:p>
        </p:txBody>
      </p:sp>
      <p:sp>
        <p:nvSpPr>
          <p:cNvPr id="13" name="Shape 11"/>
          <p:cNvSpPr/>
          <p:nvPr/>
        </p:nvSpPr>
        <p:spPr>
          <a:xfrm>
            <a:off x="8065008" y="1691640"/>
            <a:ext cx="3575304" cy="1874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4" name="Shape 12"/>
          <p:cNvSpPr/>
          <p:nvPr/>
        </p:nvSpPr>
        <p:spPr>
          <a:xfrm>
            <a:off x="8065008" y="1691640"/>
            <a:ext cx="73152" cy="1874520"/>
          </a:xfrm>
          <a:prstGeom prst="rect">
            <a:avLst/>
          </a:prstGeom>
          <a:solidFill>
            <a:srgbClr val="0E7C86"/>
          </a:solidFill>
          <a:ln w="12700">
            <a:solidFill>
              <a:srgbClr val="0E7C86"/>
            </a:solidFill>
            <a:prstDash val="solid"/>
          </a:ln>
        </p:spPr>
      </p:sp>
      <p:sp>
        <p:nvSpPr>
          <p:cNvPr id="15" name="Text 13"/>
          <p:cNvSpPr/>
          <p:nvPr/>
        </p:nvSpPr>
        <p:spPr>
          <a:xfrm>
            <a:off x="8385048" y="1920240"/>
            <a:ext cx="3026664" cy="822960"/>
          </a:xfrm>
          <a:prstGeom prst="rect">
            <a:avLst/>
          </a:prstGeom>
          <a:noFill/>
          <a:ln/>
        </p:spPr>
        <p:txBody>
          <a:bodyPr wrap="square" lIns="0" tIns="0" rIns="0" bIns="0" rtlCol="0" anchor="ctr"/>
          <a:lstStyle/>
          <a:p>
            <a:pPr indent="0" marL="0">
              <a:buNone/>
            </a:pPr>
            <a:r>
              <a:rPr lang="en-US" sz="3400" dirty="0">
                <a:solidFill>
                  <a:srgbClr val="0E7C86"/>
                </a:solidFill>
                <a:latin typeface="Segoe UI Semibold" pitchFamily="34" charset="0"/>
                <a:ea typeface="Segoe UI Semibold" pitchFamily="34" charset="-122"/>
                <a:cs typeface="Segoe UI Semibold" pitchFamily="34" charset="-120"/>
              </a:rPr>
              <a:t>4 of 4</a:t>
            </a:r>
            <a:endParaRPr lang="en-US" sz="3400" dirty="0"/>
          </a:p>
        </p:txBody>
      </p:sp>
      <p:sp>
        <p:nvSpPr>
          <p:cNvPr id="16" name="Text 14"/>
          <p:cNvSpPr/>
          <p:nvPr/>
        </p:nvSpPr>
        <p:spPr>
          <a:xfrm>
            <a:off x="8385048" y="2788920"/>
            <a:ext cx="3026664" cy="640080"/>
          </a:xfrm>
          <a:prstGeom prst="rect">
            <a:avLst/>
          </a:prstGeom>
          <a:noFill/>
          <a:ln/>
        </p:spPr>
        <p:txBody>
          <a:bodyPr wrap="square" lIns="0" tIns="0" rIns="0" bIns="0" rtlCol="0" anchor="t"/>
          <a:lstStyle/>
          <a:p>
            <a:pPr indent="0" marL="0">
              <a:buNone/>
            </a:pPr>
            <a:r>
              <a:rPr lang="en-US" sz="1400" dirty="0">
                <a:solidFill>
                  <a:srgbClr val="1B2733"/>
                </a:solidFill>
                <a:latin typeface="Segoe UI" pitchFamily="34" charset="0"/>
                <a:ea typeface="Segoe UI" pitchFamily="34" charset="-122"/>
                <a:cs typeface="Segoe UI" pitchFamily="34" charset="-120"/>
              </a:rPr>
              <a:t>dimension tables match on row count</a:t>
            </a:r>
            <a:endParaRPr lang="en-US" sz="1400" dirty="0"/>
          </a:p>
        </p:txBody>
      </p:sp>
      <p:sp>
        <p:nvSpPr>
          <p:cNvPr id="17" name="Shape 15"/>
          <p:cNvSpPr/>
          <p:nvPr/>
        </p:nvSpPr>
        <p:spPr>
          <a:xfrm>
            <a:off x="548640" y="3794760"/>
            <a:ext cx="11091672" cy="14173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8" name="Shape 16"/>
          <p:cNvSpPr/>
          <p:nvPr/>
        </p:nvSpPr>
        <p:spPr>
          <a:xfrm>
            <a:off x="548640" y="3794760"/>
            <a:ext cx="73152" cy="1417320"/>
          </a:xfrm>
          <a:prstGeom prst="rect">
            <a:avLst/>
          </a:prstGeom>
          <a:solidFill>
            <a:srgbClr val="0E7C86"/>
          </a:solidFill>
          <a:ln w="12700">
            <a:solidFill>
              <a:srgbClr val="0E7C86"/>
            </a:solidFill>
            <a:prstDash val="solid"/>
          </a:ln>
        </p:spPr>
      </p:sp>
      <p:sp>
        <p:nvSpPr>
          <p:cNvPr id="19" name="Shape 17"/>
          <p:cNvSpPr/>
          <p:nvPr/>
        </p:nvSpPr>
        <p:spPr>
          <a:xfrm>
            <a:off x="868680" y="4087368"/>
            <a:ext cx="640080" cy="640080"/>
          </a:xfrm>
          <a:prstGeom prst="ellipse">
            <a:avLst/>
          </a:prstGeom>
          <a:solidFill>
            <a:srgbClr val="0E7C86"/>
          </a:solidFill>
          <a:ln w="12700">
            <a:solidFill>
              <a:srgbClr val="0E7C86"/>
            </a:solidFill>
            <a:prstDash val="solid"/>
          </a:ln>
        </p:spPr>
      </p:sp>
      <p:pic>
        <p:nvPicPr>
          <p:cNvPr id="20" name="Image 0" descr="preencoded.png">    </p:cNvPr>
          <p:cNvPicPr>
            <a:picLocks noChangeAspect="1"/>
          </p:cNvPicPr>
          <p:nvPr/>
        </p:nvPicPr>
        <p:blipFill>
          <a:blip r:embed="rId1"/>
          <a:stretch>
            <a:fillRect/>
          </a:stretch>
        </p:blipFill>
        <p:spPr>
          <a:xfrm>
            <a:off x="1028700" y="4247388"/>
            <a:ext cx="320040" cy="320040"/>
          </a:xfrm>
          <a:prstGeom prst="rect">
            <a:avLst/>
          </a:prstGeom>
        </p:spPr>
      </p:pic>
      <p:sp>
        <p:nvSpPr>
          <p:cNvPr id="21" name="Text 18"/>
          <p:cNvSpPr/>
          <p:nvPr/>
        </p:nvSpPr>
        <p:spPr>
          <a:xfrm>
            <a:off x="1783080" y="3913632"/>
            <a:ext cx="9601200" cy="731520"/>
          </a:xfrm>
          <a:prstGeom prst="rect">
            <a:avLst/>
          </a:prstGeom>
          <a:noFill/>
          <a:ln/>
        </p:spPr>
        <p:txBody>
          <a:bodyPr wrap="square" lIns="0" tIns="0" rIns="0" bIns="0" rtlCol="0" anchor="ctr"/>
          <a:lstStyle/>
          <a:p>
            <a:pPr indent="0" marL="0">
              <a:buNone/>
            </a:pPr>
            <a:r>
              <a:rPr lang="en-US" sz="3400" dirty="0">
                <a:solidFill>
                  <a:srgbClr val="0E7C86"/>
                </a:solidFill>
                <a:latin typeface="Segoe UI Semibold" pitchFamily="34" charset="0"/>
                <a:ea typeface="Segoe UI Semibold" pitchFamily="34" charset="-122"/>
                <a:cs typeface="Segoe UI Semibold" pitchFamily="34" charset="-120"/>
              </a:rPr>
              <a:t>284,999,500,000.00</a:t>
            </a:r>
            <a:endParaRPr lang="en-US" sz="3400" dirty="0"/>
          </a:p>
        </p:txBody>
      </p:sp>
      <p:sp>
        <p:nvSpPr>
          <p:cNvPr id="22" name="Text 19"/>
          <p:cNvSpPr/>
          <p:nvPr/>
        </p:nvSpPr>
        <p:spPr>
          <a:xfrm>
            <a:off x="1783080" y="4617720"/>
            <a:ext cx="9601200" cy="411480"/>
          </a:xfrm>
          <a:prstGeom prst="rect">
            <a:avLst/>
          </a:prstGeom>
          <a:noFill/>
          <a:ln/>
        </p:spPr>
        <p:txBody>
          <a:bodyPr wrap="square" lIns="0" tIns="0" rIns="0" bIns="0" rtlCol="0" anchor="t"/>
          <a:lstStyle/>
          <a:p>
            <a:pPr indent="0" marL="0">
              <a:buNone/>
            </a:pPr>
            <a:r>
              <a:rPr lang="en-US" sz="1500" dirty="0">
                <a:solidFill>
                  <a:srgbClr val="1B2733"/>
                </a:solidFill>
                <a:latin typeface="Segoe UI" pitchFamily="34" charset="0"/>
                <a:ea typeface="Segoe UI" pitchFamily="34" charset="-122"/>
                <a:cs typeface="Segoe UI" pitchFamily="34" charset="-120"/>
              </a:rPr>
              <a:t>Total of the amount column, identical in both systems, to the cent</a:t>
            </a:r>
            <a:endParaRPr lang="en-US" sz="1500" dirty="0"/>
          </a:p>
        </p:txBody>
      </p:sp>
      <p:sp>
        <p:nvSpPr>
          <p:cNvPr id="23" name="Shape 20"/>
          <p:cNvSpPr/>
          <p:nvPr/>
        </p:nvSpPr>
        <p:spPr>
          <a:xfrm>
            <a:off x="548640" y="5440680"/>
            <a:ext cx="11091672" cy="731520"/>
          </a:xfrm>
          <a:prstGeom prst="rect">
            <a:avLst/>
          </a:prstGeom>
          <a:solidFill>
            <a:srgbClr val="DDF0F2"/>
          </a:solidFill>
          <a:ln w="12700">
            <a:solidFill>
              <a:srgbClr val="DDF0F2"/>
            </a:solidFill>
            <a:prstDash val="solid"/>
          </a:ln>
        </p:spPr>
      </p:sp>
      <p:sp>
        <p:nvSpPr>
          <p:cNvPr id="24" name="Text 21"/>
          <p:cNvSpPr/>
          <p:nvPr/>
        </p:nvSpPr>
        <p:spPr>
          <a:xfrm>
            <a:off x="777240" y="5440680"/>
            <a:ext cx="10698480" cy="731520"/>
          </a:xfrm>
          <a:prstGeom prst="rect">
            <a:avLst/>
          </a:prstGeom>
          <a:noFill/>
          <a:ln/>
        </p:spPr>
        <p:txBody>
          <a:bodyPr wrap="square" lIns="0" tIns="0" rIns="0" bIns="0" rtlCol="0" anchor="ctr"/>
          <a:lstStyle/>
          <a:p>
            <a:pPr indent="0" marL="0">
              <a:buNone/>
            </a:pPr>
            <a:r>
              <a:rPr lang="en-US" sz="1400" dirty="0">
                <a:solidFill>
                  <a:srgbClr val="0B1F33"/>
                </a:solidFill>
                <a:latin typeface="Segoe UI" pitchFamily="34" charset="0"/>
                <a:ea typeface="Segoe UI" pitchFamily="34" charset="-122"/>
                <a:cs typeface="Segoe UI" pitchFamily="34" charset="-120"/>
              </a:rPr>
              <a:t>Demo cue: run the same three queries on dwpool and on wh_migrated_synapse. Keep the output in your change record.</a:t>
            </a:r>
            <a:endParaRPr lang="en-US" sz="1400" dirty="0"/>
          </a:p>
        </p:txBody>
      </p:sp>
      <p:sp>
        <p:nvSpPr>
          <p:cNvPr id="25" name="Text 22"/>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26" name="Text 23"/>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5 · 8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Shortcuts reference data where it lives</a:t>
            </a:r>
            <a:endParaRPr lang="en-US" sz="3000" dirty="0"/>
          </a:p>
        </p:txBody>
      </p:sp>
      <p:sp>
        <p:nvSpPr>
          <p:cNvPr id="5" name="Shape 3"/>
          <p:cNvSpPr/>
          <p:nvPr/>
        </p:nvSpPr>
        <p:spPr>
          <a:xfrm>
            <a:off x="548640" y="1828800"/>
            <a:ext cx="3200400" cy="1234440"/>
          </a:xfrm>
          <a:prstGeom prst="roundRect">
            <a:avLst>
              <a:gd name="adj" fmla="val 5926"/>
            </a:avLst>
          </a:prstGeom>
          <a:solidFill>
            <a:srgbClr val="0B1F33"/>
          </a:solidFill>
          <a:ln w="12700">
            <a:solidFill>
              <a:srgbClr val="0B1F33"/>
            </a:solidFill>
            <a:prstDash val="solid"/>
          </a:ln>
        </p:spPr>
      </p:sp>
      <p:sp>
        <p:nvSpPr>
          <p:cNvPr id="6" name="Text 4"/>
          <p:cNvSpPr/>
          <p:nvPr/>
        </p:nvSpPr>
        <p:spPr>
          <a:xfrm>
            <a:off x="731520" y="1828800"/>
            <a:ext cx="2834640" cy="1234440"/>
          </a:xfrm>
          <a:prstGeom prst="rect">
            <a:avLst/>
          </a:prstGeom>
          <a:noFill/>
          <a:ln/>
        </p:spPr>
        <p:txBody>
          <a:bodyPr wrap="square" lIns="0" tIns="0" rIns="0" bIns="0" rtlCol="0" anchor="ctr"/>
          <a:lstStyle/>
          <a:p>
            <a:pPr indent="0" marL="0">
              <a:buNone/>
            </a:pPr>
            <a:r>
              <a:rPr lang="en-US" sz="1700" dirty="0">
                <a:solidFill>
                  <a:srgbClr val="FFFFFF"/>
                </a:solidFill>
                <a:latin typeface="Segoe UI Semibold" pitchFamily="34" charset="0"/>
                <a:ea typeface="Segoe UI Semibold" pitchFamily="34" charset="-122"/>
                <a:cs typeface="Segoe UI Semibold" pitchFamily="34" charset="-120"/>
              </a:rPr>
              <a:t>SQL database mirror</a:t>
            </a:r>
            <a:endParaRPr lang="en-US" sz="1700" dirty="0"/>
          </a:p>
          <a:p>
            <a:pPr indent="0" marL="0">
              <a:buNone/>
            </a:pPr>
            <a:r>
              <a:rPr lang="en-US" sz="1250" dirty="0">
                <a:solidFill>
                  <a:srgbClr val="FFFFFF"/>
                </a:solidFill>
                <a:latin typeface="Segoe UI" pitchFamily="34" charset="0"/>
                <a:ea typeface="Segoe UI" pitchFamily="34" charset="-122"/>
                <a:cs typeface="Segoe UI" pitchFamily="34" charset="-120"/>
              </a:rPr>
              <a:t>sqldb_core_banking · core.payments</a:t>
            </a:r>
            <a:endParaRPr lang="en-US" sz="1700" dirty="0"/>
          </a:p>
        </p:txBody>
      </p:sp>
      <p:sp>
        <p:nvSpPr>
          <p:cNvPr id="7" name="Shape 5"/>
          <p:cNvSpPr/>
          <p:nvPr/>
        </p:nvSpPr>
        <p:spPr>
          <a:xfrm>
            <a:off x="4480560" y="1828800"/>
            <a:ext cx="3200400" cy="1234440"/>
          </a:xfrm>
          <a:prstGeom prst="roundRect">
            <a:avLst>
              <a:gd name="adj" fmla="val 5926"/>
            </a:avLst>
          </a:prstGeom>
          <a:solidFill>
            <a:srgbClr val="A65E2E"/>
          </a:solidFill>
          <a:ln w="12700">
            <a:solidFill>
              <a:srgbClr val="A65E2E"/>
            </a:solidFill>
            <a:prstDash val="solid"/>
          </a:ln>
        </p:spPr>
      </p:sp>
      <p:sp>
        <p:nvSpPr>
          <p:cNvPr id="8" name="Text 6"/>
          <p:cNvSpPr/>
          <p:nvPr/>
        </p:nvSpPr>
        <p:spPr>
          <a:xfrm>
            <a:off x="4663440" y="1828800"/>
            <a:ext cx="2834640" cy="1234440"/>
          </a:xfrm>
          <a:prstGeom prst="rect">
            <a:avLst/>
          </a:prstGeom>
          <a:noFill/>
          <a:ln/>
        </p:spPr>
        <p:txBody>
          <a:bodyPr wrap="square" lIns="0" tIns="0" rIns="0" bIns="0" rtlCol="0" anchor="ctr"/>
          <a:lstStyle/>
          <a:p>
            <a:pPr indent="0" marL="0">
              <a:buNone/>
            </a:pPr>
            <a:r>
              <a:rPr lang="en-US" sz="1700" dirty="0">
                <a:solidFill>
                  <a:srgbClr val="FFFFFF"/>
                </a:solidFill>
                <a:latin typeface="Segoe UI Semibold" pitchFamily="34" charset="0"/>
                <a:ea typeface="Segoe UI Semibold" pitchFamily="34" charset="-122"/>
                <a:cs typeface="Segoe UI Semibold" pitchFamily="34" charset="-120"/>
              </a:rPr>
              <a:t>lh_bronze</a:t>
            </a:r>
            <a:endParaRPr lang="en-US" sz="1700" dirty="0"/>
          </a:p>
          <a:p>
            <a:pPr indent="0" marL="0">
              <a:buNone/>
            </a:pPr>
            <a:r>
              <a:rPr lang="en-US" sz="1250" dirty="0">
                <a:solidFill>
                  <a:srgbClr val="FFFFFF"/>
                </a:solidFill>
                <a:latin typeface="Segoe UI" pitchFamily="34" charset="0"/>
                <a:ea typeface="Segoe UI" pitchFamily="34" charset="-122"/>
                <a:cs typeface="Segoe UI" pitchFamily="34" charset="-120"/>
              </a:rPr>
              <a:t>Tables/bronze/core_payments</a:t>
            </a:r>
            <a:endParaRPr lang="en-US" sz="1700" dirty="0"/>
          </a:p>
        </p:txBody>
      </p:sp>
      <p:sp>
        <p:nvSpPr>
          <p:cNvPr id="9" name="Shape 7"/>
          <p:cNvSpPr/>
          <p:nvPr/>
        </p:nvSpPr>
        <p:spPr>
          <a:xfrm>
            <a:off x="8412480" y="1828800"/>
            <a:ext cx="3227832" cy="1234440"/>
          </a:xfrm>
          <a:prstGeom prst="roundRect">
            <a:avLst>
              <a:gd name="adj" fmla="val 5926"/>
            </a:avLst>
          </a:prstGeom>
          <a:solidFill>
            <a:srgbClr val="5F6B7A"/>
          </a:solidFill>
          <a:ln w="12700">
            <a:solidFill>
              <a:srgbClr val="5F6B7A"/>
            </a:solidFill>
            <a:prstDash val="solid"/>
          </a:ln>
        </p:spPr>
      </p:sp>
      <p:sp>
        <p:nvSpPr>
          <p:cNvPr id="10" name="Text 8"/>
          <p:cNvSpPr/>
          <p:nvPr/>
        </p:nvSpPr>
        <p:spPr>
          <a:xfrm>
            <a:off x="8595360" y="1828800"/>
            <a:ext cx="2862072" cy="1234440"/>
          </a:xfrm>
          <a:prstGeom prst="rect">
            <a:avLst/>
          </a:prstGeom>
          <a:noFill/>
          <a:ln/>
        </p:spPr>
        <p:txBody>
          <a:bodyPr wrap="square" lIns="0" tIns="0" rIns="0" bIns="0" rtlCol="0" anchor="ctr"/>
          <a:lstStyle/>
          <a:p>
            <a:pPr indent="0" marL="0">
              <a:buNone/>
            </a:pPr>
            <a:r>
              <a:rPr lang="en-US" sz="1700" dirty="0">
                <a:solidFill>
                  <a:srgbClr val="FFFFFF"/>
                </a:solidFill>
                <a:latin typeface="Segoe UI Semibold" pitchFamily="34" charset="0"/>
                <a:ea typeface="Segoe UI Semibold" pitchFamily="34" charset="-122"/>
                <a:cs typeface="Segoe UI Semibold" pitchFamily="34" charset="-120"/>
              </a:rPr>
              <a:t>lh_silver</a:t>
            </a:r>
            <a:endParaRPr lang="en-US" sz="1700" dirty="0"/>
          </a:p>
          <a:p>
            <a:pPr indent="0" marL="0">
              <a:buNone/>
            </a:pPr>
            <a:r>
              <a:rPr lang="en-US" sz="1250" dirty="0">
                <a:solidFill>
                  <a:srgbClr val="FFFFFF"/>
                </a:solidFill>
                <a:latin typeface="Segoe UI" pitchFamily="34" charset="0"/>
                <a:ea typeface="Segoe UI" pitchFamily="34" charset="-122"/>
                <a:cs typeface="Segoe UI" pitchFamily="34" charset="-120"/>
              </a:rPr>
              <a:t>Tables/bronze/*, input to silver</a:t>
            </a:r>
            <a:endParaRPr lang="en-US" sz="1700" dirty="0"/>
          </a:p>
        </p:txBody>
      </p:sp>
      <p:sp>
        <p:nvSpPr>
          <p:cNvPr id="11" name="Shape 9"/>
          <p:cNvSpPr/>
          <p:nvPr/>
        </p:nvSpPr>
        <p:spPr>
          <a:xfrm>
            <a:off x="3749040" y="2441448"/>
            <a:ext cx="731520" cy="0"/>
          </a:xfrm>
          <a:prstGeom prst="line">
            <a:avLst/>
          </a:prstGeom>
          <a:noFill/>
          <a:ln w="25400">
            <a:solidFill>
              <a:srgbClr val="0B1F33"/>
            </a:solidFill>
            <a:prstDash val="solid"/>
            <a:tailEnd type="triangle"/>
          </a:ln>
        </p:spPr>
      </p:sp>
      <p:sp>
        <p:nvSpPr>
          <p:cNvPr id="12" name="Shape 10"/>
          <p:cNvSpPr/>
          <p:nvPr/>
        </p:nvSpPr>
        <p:spPr>
          <a:xfrm>
            <a:off x="7680960" y="2441448"/>
            <a:ext cx="731520" cy="0"/>
          </a:xfrm>
          <a:prstGeom prst="line">
            <a:avLst/>
          </a:prstGeom>
          <a:noFill/>
          <a:ln w="25400">
            <a:solidFill>
              <a:srgbClr val="0B1F33"/>
            </a:solidFill>
            <a:prstDash val="solid"/>
            <a:tailEnd type="triangle"/>
          </a:ln>
        </p:spPr>
      </p:sp>
      <p:sp>
        <p:nvSpPr>
          <p:cNvPr id="13" name="Text 11"/>
          <p:cNvSpPr/>
          <p:nvPr/>
        </p:nvSpPr>
        <p:spPr>
          <a:xfrm>
            <a:off x="3749040" y="2103120"/>
            <a:ext cx="731520" cy="274320"/>
          </a:xfrm>
          <a:prstGeom prst="rect">
            <a:avLst/>
          </a:prstGeom>
          <a:noFill/>
          <a:ln/>
        </p:spPr>
        <p:txBody>
          <a:bodyPr wrap="square" lIns="0" tIns="0" rIns="0" bIns="0" rtlCol="0" anchor="ctr"/>
          <a:lstStyle/>
          <a:p>
            <a:pPr algn="ctr" indent="0" marL="0">
              <a:buNone/>
            </a:pPr>
            <a:r>
              <a:rPr lang="en-US" sz="1050" dirty="0">
                <a:solidFill>
                  <a:srgbClr val="5B6B7A"/>
                </a:solidFill>
                <a:latin typeface="Segoe UI" pitchFamily="34" charset="0"/>
                <a:ea typeface="Segoe UI" pitchFamily="34" charset="-122"/>
                <a:cs typeface="Segoe UI" pitchFamily="34" charset="-120"/>
              </a:rPr>
              <a:t>shortcut</a:t>
            </a:r>
            <a:endParaRPr lang="en-US" sz="1050" dirty="0"/>
          </a:p>
        </p:txBody>
      </p:sp>
      <p:sp>
        <p:nvSpPr>
          <p:cNvPr id="14" name="Text 12"/>
          <p:cNvSpPr/>
          <p:nvPr/>
        </p:nvSpPr>
        <p:spPr>
          <a:xfrm>
            <a:off x="7680960" y="2103120"/>
            <a:ext cx="731520" cy="274320"/>
          </a:xfrm>
          <a:prstGeom prst="rect">
            <a:avLst/>
          </a:prstGeom>
          <a:noFill/>
          <a:ln/>
        </p:spPr>
        <p:txBody>
          <a:bodyPr wrap="square" lIns="0" tIns="0" rIns="0" bIns="0" rtlCol="0" anchor="ctr"/>
          <a:lstStyle/>
          <a:p>
            <a:pPr algn="ctr" indent="0" marL="0">
              <a:buNone/>
            </a:pPr>
            <a:r>
              <a:rPr lang="en-US" sz="1050" dirty="0">
                <a:solidFill>
                  <a:srgbClr val="5B6B7A"/>
                </a:solidFill>
                <a:latin typeface="Segoe UI" pitchFamily="34" charset="0"/>
                <a:ea typeface="Segoe UI" pitchFamily="34" charset="-122"/>
                <a:cs typeface="Segoe UI" pitchFamily="34" charset="-120"/>
              </a:rPr>
              <a:t>shortcut</a:t>
            </a:r>
            <a:endParaRPr lang="en-US" sz="1050" dirty="0"/>
          </a:p>
        </p:txBody>
      </p:sp>
      <p:sp>
        <p:nvSpPr>
          <p:cNvPr id="15" name="Text 13"/>
          <p:cNvSpPr/>
          <p:nvPr/>
        </p:nvSpPr>
        <p:spPr>
          <a:xfrm>
            <a:off x="548640" y="3474720"/>
            <a:ext cx="11091672" cy="365760"/>
          </a:xfrm>
          <a:prstGeom prst="rect">
            <a:avLst/>
          </a:prstGeom>
          <a:noFill/>
          <a:ln/>
        </p:spPr>
        <p:txBody>
          <a:bodyPr wrap="square" lIns="0" tIns="0" rIns="0" bIns="0" rtlCol="0" anchor="ctr"/>
          <a:lstStyle/>
          <a:p>
            <a:pPr indent="0" marL="0">
              <a:buNone/>
            </a:pPr>
            <a:r>
              <a:rPr lang="en-US" sz="1600" dirty="0">
                <a:solidFill>
                  <a:srgbClr val="0B1F33"/>
                </a:solidFill>
                <a:latin typeface="Segoe UI Semibold" pitchFamily="34" charset="0"/>
                <a:ea typeface="Segoe UI Semibold" pitchFamily="34" charset="-122"/>
                <a:cs typeface="Segoe UI Semibold" pitchFamily="34" charset="-120"/>
              </a:rPr>
              <a:t>Shortcut sources available in OneLake</a:t>
            </a:r>
            <a:endParaRPr lang="en-US" sz="1600" dirty="0"/>
          </a:p>
        </p:txBody>
      </p:sp>
      <p:sp>
        <p:nvSpPr>
          <p:cNvPr id="16" name="Shape 14"/>
          <p:cNvSpPr/>
          <p:nvPr/>
        </p:nvSpPr>
        <p:spPr>
          <a:xfrm>
            <a:off x="548640" y="3931920"/>
            <a:ext cx="2635758" cy="411480"/>
          </a:xfrm>
          <a:prstGeom prst="roundRect">
            <a:avLst>
              <a:gd name="adj" fmla="val 13333"/>
            </a:avLst>
          </a:prstGeom>
          <a:solidFill>
            <a:srgbClr val="FFFFFF"/>
          </a:solidFill>
          <a:ln w="9525">
            <a:solidFill>
              <a:srgbClr val="D5DDE6"/>
            </a:solidFill>
            <a:prstDash val="solid"/>
          </a:ln>
        </p:spPr>
      </p:sp>
      <p:sp>
        <p:nvSpPr>
          <p:cNvPr id="17" name="Text 15"/>
          <p:cNvSpPr/>
          <p:nvPr/>
        </p:nvSpPr>
        <p:spPr>
          <a:xfrm>
            <a:off x="548640" y="3931920"/>
            <a:ext cx="2635758" cy="411480"/>
          </a:xfrm>
          <a:prstGeom prst="rect">
            <a:avLst/>
          </a:prstGeom>
          <a:noFill/>
          <a:ln/>
        </p:spPr>
        <p:txBody>
          <a:bodyPr wrap="square" lIns="0" tIns="0" rIns="0" bIns="0" rtlCol="0" anchor="ctr"/>
          <a:lstStyle/>
          <a:p>
            <a:pPr algn="ctr" indent="0" marL="0">
              <a:buNone/>
            </a:pPr>
            <a:r>
              <a:rPr lang="en-US" sz="1300" dirty="0">
                <a:solidFill>
                  <a:srgbClr val="0B1F33"/>
                </a:solidFill>
                <a:latin typeface="Segoe UI" pitchFamily="34" charset="0"/>
                <a:ea typeface="Segoe UI" pitchFamily="34" charset="-122"/>
                <a:cs typeface="Segoe UI" pitchFamily="34" charset="-120"/>
              </a:rPr>
              <a:t>ADLS Gen2</a:t>
            </a:r>
            <a:endParaRPr lang="en-US" sz="1300" dirty="0"/>
          </a:p>
        </p:txBody>
      </p:sp>
      <p:sp>
        <p:nvSpPr>
          <p:cNvPr id="18" name="Shape 16"/>
          <p:cNvSpPr/>
          <p:nvPr/>
        </p:nvSpPr>
        <p:spPr>
          <a:xfrm>
            <a:off x="3367278" y="3931920"/>
            <a:ext cx="2635758" cy="411480"/>
          </a:xfrm>
          <a:prstGeom prst="roundRect">
            <a:avLst>
              <a:gd name="adj" fmla="val 13333"/>
            </a:avLst>
          </a:prstGeom>
          <a:solidFill>
            <a:srgbClr val="FFFFFF"/>
          </a:solidFill>
          <a:ln w="9525">
            <a:solidFill>
              <a:srgbClr val="D5DDE6"/>
            </a:solidFill>
            <a:prstDash val="solid"/>
          </a:ln>
        </p:spPr>
      </p:sp>
      <p:sp>
        <p:nvSpPr>
          <p:cNvPr id="19" name="Text 17"/>
          <p:cNvSpPr/>
          <p:nvPr/>
        </p:nvSpPr>
        <p:spPr>
          <a:xfrm>
            <a:off x="3367278" y="3931920"/>
            <a:ext cx="2635758" cy="411480"/>
          </a:xfrm>
          <a:prstGeom prst="rect">
            <a:avLst/>
          </a:prstGeom>
          <a:noFill/>
          <a:ln/>
        </p:spPr>
        <p:txBody>
          <a:bodyPr wrap="square" lIns="0" tIns="0" rIns="0" bIns="0" rtlCol="0" anchor="ctr"/>
          <a:lstStyle/>
          <a:p>
            <a:pPr algn="ctr" indent="0" marL="0">
              <a:buNone/>
            </a:pPr>
            <a:r>
              <a:rPr lang="en-US" sz="1300" dirty="0">
                <a:solidFill>
                  <a:srgbClr val="0B1F33"/>
                </a:solidFill>
                <a:latin typeface="Segoe UI" pitchFamily="34" charset="0"/>
                <a:ea typeface="Segoe UI" pitchFamily="34" charset="-122"/>
                <a:cs typeface="Segoe UI" pitchFamily="34" charset="-120"/>
              </a:rPr>
              <a:t>Azure Blob Storage</a:t>
            </a:r>
            <a:endParaRPr lang="en-US" sz="1300" dirty="0"/>
          </a:p>
        </p:txBody>
      </p:sp>
      <p:sp>
        <p:nvSpPr>
          <p:cNvPr id="20" name="Shape 18"/>
          <p:cNvSpPr/>
          <p:nvPr/>
        </p:nvSpPr>
        <p:spPr>
          <a:xfrm>
            <a:off x="6185916" y="3931920"/>
            <a:ext cx="2635758" cy="411480"/>
          </a:xfrm>
          <a:prstGeom prst="roundRect">
            <a:avLst>
              <a:gd name="adj" fmla="val 13333"/>
            </a:avLst>
          </a:prstGeom>
          <a:solidFill>
            <a:srgbClr val="FFFFFF"/>
          </a:solidFill>
          <a:ln w="9525">
            <a:solidFill>
              <a:srgbClr val="D5DDE6"/>
            </a:solidFill>
            <a:prstDash val="solid"/>
          </a:ln>
        </p:spPr>
      </p:sp>
      <p:sp>
        <p:nvSpPr>
          <p:cNvPr id="21" name="Text 19"/>
          <p:cNvSpPr/>
          <p:nvPr/>
        </p:nvSpPr>
        <p:spPr>
          <a:xfrm>
            <a:off x="6185916" y="3931920"/>
            <a:ext cx="2635758" cy="411480"/>
          </a:xfrm>
          <a:prstGeom prst="rect">
            <a:avLst/>
          </a:prstGeom>
          <a:noFill/>
          <a:ln/>
        </p:spPr>
        <p:txBody>
          <a:bodyPr wrap="square" lIns="0" tIns="0" rIns="0" bIns="0" rtlCol="0" anchor="ctr"/>
          <a:lstStyle/>
          <a:p>
            <a:pPr algn="ctr" indent="0" marL="0">
              <a:buNone/>
            </a:pPr>
            <a:r>
              <a:rPr lang="en-US" sz="1300" dirty="0">
                <a:solidFill>
                  <a:srgbClr val="0B1F33"/>
                </a:solidFill>
                <a:latin typeface="Segoe UI" pitchFamily="34" charset="0"/>
                <a:ea typeface="Segoe UI" pitchFamily="34" charset="-122"/>
                <a:cs typeface="Segoe UI" pitchFamily="34" charset="-120"/>
              </a:rPr>
              <a:t>Amazon S3</a:t>
            </a:r>
            <a:endParaRPr lang="en-US" sz="1300" dirty="0"/>
          </a:p>
        </p:txBody>
      </p:sp>
      <p:sp>
        <p:nvSpPr>
          <p:cNvPr id="22" name="Shape 20"/>
          <p:cNvSpPr/>
          <p:nvPr/>
        </p:nvSpPr>
        <p:spPr>
          <a:xfrm>
            <a:off x="9004554" y="3931920"/>
            <a:ext cx="2635758" cy="411480"/>
          </a:xfrm>
          <a:prstGeom prst="roundRect">
            <a:avLst>
              <a:gd name="adj" fmla="val 13333"/>
            </a:avLst>
          </a:prstGeom>
          <a:solidFill>
            <a:srgbClr val="FFFFFF"/>
          </a:solidFill>
          <a:ln w="9525">
            <a:solidFill>
              <a:srgbClr val="D5DDE6"/>
            </a:solidFill>
            <a:prstDash val="solid"/>
          </a:ln>
        </p:spPr>
      </p:sp>
      <p:sp>
        <p:nvSpPr>
          <p:cNvPr id="23" name="Text 21"/>
          <p:cNvSpPr/>
          <p:nvPr/>
        </p:nvSpPr>
        <p:spPr>
          <a:xfrm>
            <a:off x="9004554" y="3931920"/>
            <a:ext cx="2635758" cy="411480"/>
          </a:xfrm>
          <a:prstGeom prst="rect">
            <a:avLst/>
          </a:prstGeom>
          <a:noFill/>
          <a:ln/>
        </p:spPr>
        <p:txBody>
          <a:bodyPr wrap="square" lIns="0" tIns="0" rIns="0" bIns="0" rtlCol="0" anchor="ctr"/>
          <a:lstStyle/>
          <a:p>
            <a:pPr algn="ctr" indent="0" marL="0">
              <a:buNone/>
            </a:pPr>
            <a:r>
              <a:rPr lang="en-US" sz="1300" dirty="0">
                <a:solidFill>
                  <a:srgbClr val="0B1F33"/>
                </a:solidFill>
                <a:latin typeface="Segoe UI" pitchFamily="34" charset="0"/>
                <a:ea typeface="Segoe UI" pitchFamily="34" charset="-122"/>
                <a:cs typeface="Segoe UI" pitchFamily="34" charset="-120"/>
              </a:rPr>
              <a:t>S3-compatible</a:t>
            </a:r>
            <a:endParaRPr lang="en-US" sz="1300" dirty="0"/>
          </a:p>
        </p:txBody>
      </p:sp>
      <p:sp>
        <p:nvSpPr>
          <p:cNvPr id="24" name="Shape 22"/>
          <p:cNvSpPr/>
          <p:nvPr/>
        </p:nvSpPr>
        <p:spPr>
          <a:xfrm>
            <a:off x="548640" y="4535424"/>
            <a:ext cx="2635758" cy="411480"/>
          </a:xfrm>
          <a:prstGeom prst="roundRect">
            <a:avLst>
              <a:gd name="adj" fmla="val 13333"/>
            </a:avLst>
          </a:prstGeom>
          <a:solidFill>
            <a:srgbClr val="FFFFFF"/>
          </a:solidFill>
          <a:ln w="9525">
            <a:solidFill>
              <a:srgbClr val="D5DDE6"/>
            </a:solidFill>
            <a:prstDash val="solid"/>
          </a:ln>
        </p:spPr>
      </p:sp>
      <p:sp>
        <p:nvSpPr>
          <p:cNvPr id="25" name="Text 23"/>
          <p:cNvSpPr/>
          <p:nvPr/>
        </p:nvSpPr>
        <p:spPr>
          <a:xfrm>
            <a:off x="548640" y="4535424"/>
            <a:ext cx="2635758" cy="411480"/>
          </a:xfrm>
          <a:prstGeom prst="rect">
            <a:avLst/>
          </a:prstGeom>
          <a:noFill/>
          <a:ln/>
        </p:spPr>
        <p:txBody>
          <a:bodyPr wrap="square" lIns="0" tIns="0" rIns="0" bIns="0" rtlCol="0" anchor="ctr"/>
          <a:lstStyle/>
          <a:p>
            <a:pPr algn="ctr" indent="0" marL="0">
              <a:buNone/>
            </a:pPr>
            <a:r>
              <a:rPr lang="en-US" sz="1300" dirty="0">
                <a:solidFill>
                  <a:srgbClr val="0B1F33"/>
                </a:solidFill>
                <a:latin typeface="Segoe UI" pitchFamily="34" charset="0"/>
                <a:ea typeface="Segoe UI" pitchFamily="34" charset="-122"/>
                <a:cs typeface="Segoe UI" pitchFamily="34" charset="-120"/>
              </a:rPr>
              <a:t>Google Cloud Storage</a:t>
            </a:r>
            <a:endParaRPr lang="en-US" sz="1300" dirty="0"/>
          </a:p>
        </p:txBody>
      </p:sp>
      <p:sp>
        <p:nvSpPr>
          <p:cNvPr id="26" name="Shape 24"/>
          <p:cNvSpPr/>
          <p:nvPr/>
        </p:nvSpPr>
        <p:spPr>
          <a:xfrm>
            <a:off x="3367278" y="4535424"/>
            <a:ext cx="2635758" cy="411480"/>
          </a:xfrm>
          <a:prstGeom prst="roundRect">
            <a:avLst>
              <a:gd name="adj" fmla="val 13333"/>
            </a:avLst>
          </a:prstGeom>
          <a:solidFill>
            <a:srgbClr val="FFFFFF"/>
          </a:solidFill>
          <a:ln w="9525">
            <a:solidFill>
              <a:srgbClr val="D5DDE6"/>
            </a:solidFill>
            <a:prstDash val="solid"/>
          </a:ln>
        </p:spPr>
      </p:sp>
      <p:sp>
        <p:nvSpPr>
          <p:cNvPr id="27" name="Text 25"/>
          <p:cNvSpPr/>
          <p:nvPr/>
        </p:nvSpPr>
        <p:spPr>
          <a:xfrm>
            <a:off x="3367278" y="4535424"/>
            <a:ext cx="2635758" cy="411480"/>
          </a:xfrm>
          <a:prstGeom prst="rect">
            <a:avLst/>
          </a:prstGeom>
          <a:noFill/>
          <a:ln/>
        </p:spPr>
        <p:txBody>
          <a:bodyPr wrap="square" lIns="0" tIns="0" rIns="0" bIns="0" rtlCol="0" anchor="ctr"/>
          <a:lstStyle/>
          <a:p>
            <a:pPr algn="ctr" indent="0" marL="0">
              <a:buNone/>
            </a:pPr>
            <a:r>
              <a:rPr lang="en-US" sz="1300" dirty="0">
                <a:solidFill>
                  <a:srgbClr val="0B1F33"/>
                </a:solidFill>
                <a:latin typeface="Segoe UI" pitchFamily="34" charset="0"/>
                <a:ea typeface="Segoe UI" pitchFamily="34" charset="-122"/>
                <a:cs typeface="Segoe UI" pitchFamily="34" charset="-120"/>
              </a:rPr>
              <a:t>OneLake</a:t>
            </a:r>
            <a:endParaRPr lang="en-US" sz="1300" dirty="0"/>
          </a:p>
        </p:txBody>
      </p:sp>
      <p:sp>
        <p:nvSpPr>
          <p:cNvPr id="28" name="Shape 26"/>
          <p:cNvSpPr/>
          <p:nvPr/>
        </p:nvSpPr>
        <p:spPr>
          <a:xfrm>
            <a:off x="6185916" y="4535424"/>
            <a:ext cx="2635758" cy="411480"/>
          </a:xfrm>
          <a:prstGeom prst="roundRect">
            <a:avLst>
              <a:gd name="adj" fmla="val 13333"/>
            </a:avLst>
          </a:prstGeom>
          <a:solidFill>
            <a:srgbClr val="FFFFFF"/>
          </a:solidFill>
          <a:ln w="9525">
            <a:solidFill>
              <a:srgbClr val="D5DDE6"/>
            </a:solidFill>
            <a:prstDash val="solid"/>
          </a:ln>
        </p:spPr>
      </p:sp>
      <p:sp>
        <p:nvSpPr>
          <p:cNvPr id="29" name="Text 27"/>
          <p:cNvSpPr/>
          <p:nvPr/>
        </p:nvSpPr>
        <p:spPr>
          <a:xfrm>
            <a:off x="6185916" y="4535424"/>
            <a:ext cx="2635758" cy="411480"/>
          </a:xfrm>
          <a:prstGeom prst="rect">
            <a:avLst/>
          </a:prstGeom>
          <a:noFill/>
          <a:ln/>
        </p:spPr>
        <p:txBody>
          <a:bodyPr wrap="square" lIns="0" tIns="0" rIns="0" bIns="0" rtlCol="0" anchor="ctr"/>
          <a:lstStyle/>
          <a:p>
            <a:pPr algn="ctr" indent="0" marL="0">
              <a:buNone/>
            </a:pPr>
            <a:r>
              <a:rPr lang="en-US" sz="1300" dirty="0">
                <a:solidFill>
                  <a:srgbClr val="0B1F33"/>
                </a:solidFill>
                <a:latin typeface="Segoe UI" pitchFamily="34" charset="0"/>
                <a:ea typeface="Segoe UI" pitchFamily="34" charset="-122"/>
                <a:cs typeface="Segoe UI" pitchFamily="34" charset="-120"/>
              </a:rPr>
              <a:t>Dataverse</a:t>
            </a:r>
            <a:endParaRPr lang="en-US" sz="1300" dirty="0"/>
          </a:p>
        </p:txBody>
      </p:sp>
      <p:sp>
        <p:nvSpPr>
          <p:cNvPr id="30" name="Shape 28"/>
          <p:cNvSpPr/>
          <p:nvPr/>
        </p:nvSpPr>
        <p:spPr>
          <a:xfrm>
            <a:off x="9004554" y="4535424"/>
            <a:ext cx="2635758" cy="411480"/>
          </a:xfrm>
          <a:prstGeom prst="roundRect">
            <a:avLst>
              <a:gd name="adj" fmla="val 13333"/>
            </a:avLst>
          </a:prstGeom>
          <a:solidFill>
            <a:srgbClr val="FFFFFF"/>
          </a:solidFill>
          <a:ln w="9525">
            <a:solidFill>
              <a:srgbClr val="D5DDE6"/>
            </a:solidFill>
            <a:prstDash val="solid"/>
          </a:ln>
        </p:spPr>
      </p:sp>
      <p:sp>
        <p:nvSpPr>
          <p:cNvPr id="31" name="Text 29"/>
          <p:cNvSpPr/>
          <p:nvPr/>
        </p:nvSpPr>
        <p:spPr>
          <a:xfrm>
            <a:off x="9004554" y="4535424"/>
            <a:ext cx="2635758" cy="411480"/>
          </a:xfrm>
          <a:prstGeom prst="rect">
            <a:avLst/>
          </a:prstGeom>
          <a:noFill/>
          <a:ln/>
        </p:spPr>
        <p:txBody>
          <a:bodyPr wrap="square" lIns="0" tIns="0" rIns="0" bIns="0" rtlCol="0" anchor="ctr"/>
          <a:lstStyle/>
          <a:p>
            <a:pPr algn="ctr" indent="0" marL="0">
              <a:buNone/>
            </a:pPr>
            <a:r>
              <a:rPr lang="en-US" sz="1300" dirty="0">
                <a:solidFill>
                  <a:srgbClr val="0B1F33"/>
                </a:solidFill>
                <a:latin typeface="Segoe UI" pitchFamily="34" charset="0"/>
                <a:ea typeface="Segoe UI" pitchFamily="34" charset="-122"/>
                <a:cs typeface="Segoe UI" pitchFamily="34" charset="-120"/>
              </a:rPr>
              <a:t>OneDrive and SharePoint</a:t>
            </a:r>
            <a:endParaRPr lang="en-US" sz="1300" dirty="0"/>
          </a:p>
        </p:txBody>
      </p:sp>
      <p:sp>
        <p:nvSpPr>
          <p:cNvPr id="32" name="Shape 30"/>
          <p:cNvSpPr/>
          <p:nvPr/>
        </p:nvSpPr>
        <p:spPr>
          <a:xfrm>
            <a:off x="548640" y="5212080"/>
            <a:ext cx="11091672" cy="731520"/>
          </a:xfrm>
          <a:prstGeom prst="rect">
            <a:avLst/>
          </a:prstGeom>
          <a:solidFill>
            <a:srgbClr val="F8EFD2"/>
          </a:solidFill>
          <a:ln w="12700">
            <a:solidFill>
              <a:srgbClr val="F8EFD2"/>
            </a:solidFill>
            <a:prstDash val="solid"/>
          </a:ln>
        </p:spPr>
      </p:sp>
      <p:sp>
        <p:nvSpPr>
          <p:cNvPr id="33" name="Text 31"/>
          <p:cNvSpPr/>
          <p:nvPr/>
        </p:nvSpPr>
        <p:spPr>
          <a:xfrm>
            <a:off x="777240" y="5212080"/>
            <a:ext cx="10698480" cy="731520"/>
          </a:xfrm>
          <a:prstGeom prst="rect">
            <a:avLst/>
          </a:prstGeom>
          <a:noFill/>
          <a:ln/>
        </p:spPr>
        <p:txBody>
          <a:bodyPr wrap="square" lIns="0" tIns="0" rIns="0" bIns="0" rtlCol="0" anchor="ctr"/>
          <a:lstStyle/>
          <a:p>
            <a:pPr indent="0" marL="0">
              <a:buNone/>
            </a:pPr>
            <a:r>
              <a:rPr lang="en-US" sz="1400" dirty="0">
                <a:solidFill>
                  <a:srgbClr val="1B2733"/>
                </a:solidFill>
                <a:latin typeface="Segoe UI" pitchFamily="34" charset="0"/>
                <a:ea typeface="Segoe UI" pitchFamily="34" charset="-122"/>
                <a:cs typeface="Segoe UI" pitchFamily="34" charset="-120"/>
              </a:rPr>
              <a:t>External shortcuts need network and identity paths from Fabric to the source. Test them before the session.</a:t>
            </a:r>
            <a:endParaRPr lang="en-US" sz="1400" dirty="0"/>
          </a:p>
        </p:txBody>
      </p:sp>
      <p:sp>
        <p:nvSpPr>
          <p:cNvPr id="34" name="Text 32"/>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35" name="Text 33"/>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5 · 8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Mirroring lands operational data in OneLake</a:t>
            </a:r>
            <a:endParaRPr lang="en-US" sz="3000" dirty="0"/>
          </a:p>
        </p:txBody>
      </p:sp>
      <p:sp>
        <p:nvSpPr>
          <p:cNvPr id="5" name="Shape 3"/>
          <p:cNvSpPr/>
          <p:nvPr/>
        </p:nvSpPr>
        <p:spPr>
          <a:xfrm>
            <a:off x="548640" y="1737360"/>
            <a:ext cx="2432304" cy="1234440"/>
          </a:xfrm>
          <a:prstGeom prst="roundRect">
            <a:avLst>
              <a:gd name="adj" fmla="val 5926"/>
            </a:avLst>
          </a:prstGeom>
          <a:solidFill>
            <a:srgbClr val="0B1F33"/>
          </a:solidFill>
          <a:ln w="12700">
            <a:solidFill>
              <a:srgbClr val="0B1F33"/>
            </a:solidFill>
            <a:prstDash val="solid"/>
          </a:ln>
        </p:spPr>
      </p:sp>
      <p:sp>
        <p:nvSpPr>
          <p:cNvPr id="6" name="Text 4"/>
          <p:cNvSpPr/>
          <p:nvPr/>
        </p:nvSpPr>
        <p:spPr>
          <a:xfrm>
            <a:off x="713232" y="1737360"/>
            <a:ext cx="2103120" cy="1234440"/>
          </a:xfrm>
          <a:prstGeom prst="rect">
            <a:avLst/>
          </a:prstGeom>
          <a:noFill/>
          <a:ln/>
        </p:spPr>
        <p:txBody>
          <a:bodyPr wrap="square" lIns="0" tIns="0" rIns="0" bIns="0" rtlCol="0" anchor="ctr"/>
          <a:lstStyle/>
          <a:p>
            <a:pPr indent="0" marL="0">
              <a:buNone/>
            </a:pPr>
            <a:r>
              <a:rPr lang="en-US" sz="1600" dirty="0">
                <a:solidFill>
                  <a:srgbClr val="FFFFFF"/>
                </a:solidFill>
                <a:latin typeface="Segoe UI Semibold" pitchFamily="34" charset="0"/>
                <a:ea typeface="Segoe UI Semibold" pitchFamily="34" charset="-122"/>
                <a:cs typeface="Segoe UI Semibold" pitchFamily="34" charset="-120"/>
              </a:rPr>
              <a:t>Operational database</a:t>
            </a:r>
            <a:endParaRPr lang="en-US" sz="1600" dirty="0"/>
          </a:p>
          <a:p>
            <a:pPr indent="0" marL="0">
              <a:buNone/>
            </a:pPr>
            <a:r>
              <a:rPr lang="en-US" sz="1200" dirty="0">
                <a:solidFill>
                  <a:srgbClr val="FFFFFF"/>
                </a:solidFill>
                <a:latin typeface="Segoe UI" pitchFamily="34" charset="0"/>
                <a:ea typeface="Segoe UI" pitchFamily="34" charset="-122"/>
                <a:cs typeface="Segoe UI" pitchFamily="34" charset="-120"/>
              </a:rPr>
              <a:t>Fabric SQL database</a:t>
            </a:r>
            <a:endParaRPr lang="en-US" sz="1600" dirty="0"/>
          </a:p>
        </p:txBody>
      </p:sp>
      <p:sp>
        <p:nvSpPr>
          <p:cNvPr id="7" name="Shape 5"/>
          <p:cNvSpPr/>
          <p:nvPr/>
        </p:nvSpPr>
        <p:spPr>
          <a:xfrm>
            <a:off x="3026664" y="2354580"/>
            <a:ext cx="356616" cy="0"/>
          </a:xfrm>
          <a:prstGeom prst="line">
            <a:avLst/>
          </a:prstGeom>
          <a:noFill/>
          <a:ln w="25400">
            <a:solidFill>
              <a:srgbClr val="0B1F33"/>
            </a:solidFill>
            <a:prstDash val="solid"/>
            <a:tailEnd type="triangle"/>
          </a:ln>
        </p:spPr>
      </p:sp>
      <p:sp>
        <p:nvSpPr>
          <p:cNvPr id="8" name="Shape 6"/>
          <p:cNvSpPr/>
          <p:nvPr/>
        </p:nvSpPr>
        <p:spPr>
          <a:xfrm>
            <a:off x="3429000" y="1737360"/>
            <a:ext cx="2432304" cy="1234440"/>
          </a:xfrm>
          <a:prstGeom prst="roundRect">
            <a:avLst>
              <a:gd name="adj" fmla="val 5926"/>
            </a:avLst>
          </a:prstGeom>
          <a:solidFill>
            <a:srgbClr val="0E7C86"/>
          </a:solidFill>
          <a:ln w="12700">
            <a:solidFill>
              <a:srgbClr val="0E7C86"/>
            </a:solidFill>
            <a:prstDash val="solid"/>
          </a:ln>
        </p:spPr>
      </p:sp>
      <p:sp>
        <p:nvSpPr>
          <p:cNvPr id="9" name="Text 7"/>
          <p:cNvSpPr/>
          <p:nvPr/>
        </p:nvSpPr>
        <p:spPr>
          <a:xfrm>
            <a:off x="3593592" y="1737360"/>
            <a:ext cx="2103120" cy="1234440"/>
          </a:xfrm>
          <a:prstGeom prst="rect">
            <a:avLst/>
          </a:prstGeom>
          <a:noFill/>
          <a:ln/>
        </p:spPr>
        <p:txBody>
          <a:bodyPr wrap="square" lIns="0" tIns="0" rIns="0" bIns="0" rtlCol="0" anchor="ctr"/>
          <a:lstStyle/>
          <a:p>
            <a:pPr indent="0" marL="0">
              <a:buNone/>
            </a:pPr>
            <a:r>
              <a:rPr lang="en-US" sz="1600" dirty="0">
                <a:solidFill>
                  <a:srgbClr val="FFFFFF"/>
                </a:solidFill>
                <a:latin typeface="Segoe UI Semibold" pitchFamily="34" charset="0"/>
                <a:ea typeface="Segoe UI Semibold" pitchFamily="34" charset="-122"/>
                <a:cs typeface="Segoe UI Semibold" pitchFamily="34" charset="-120"/>
              </a:rPr>
              <a:t>Mirrored replica</a:t>
            </a:r>
            <a:endParaRPr lang="en-US" sz="1600" dirty="0"/>
          </a:p>
          <a:p>
            <a:pPr indent="0" marL="0">
              <a:buNone/>
            </a:pPr>
            <a:r>
              <a:rPr lang="en-US" sz="1200" dirty="0">
                <a:solidFill>
                  <a:srgbClr val="FFFFFF"/>
                </a:solidFill>
                <a:latin typeface="Segoe UI" pitchFamily="34" charset="0"/>
                <a:ea typeface="Segoe UI" pitchFamily="34" charset="-122"/>
                <a:cs typeface="Segoe UI" pitchFamily="34" charset="-120"/>
              </a:rPr>
              <a:t>Delta tables in OneLake</a:t>
            </a:r>
            <a:endParaRPr lang="en-US" sz="1600" dirty="0"/>
          </a:p>
        </p:txBody>
      </p:sp>
      <p:sp>
        <p:nvSpPr>
          <p:cNvPr id="10" name="Shape 8"/>
          <p:cNvSpPr/>
          <p:nvPr/>
        </p:nvSpPr>
        <p:spPr>
          <a:xfrm>
            <a:off x="5907024" y="2354580"/>
            <a:ext cx="356616" cy="0"/>
          </a:xfrm>
          <a:prstGeom prst="line">
            <a:avLst/>
          </a:prstGeom>
          <a:noFill/>
          <a:ln w="25400">
            <a:solidFill>
              <a:srgbClr val="0B1F33"/>
            </a:solidFill>
            <a:prstDash val="solid"/>
            <a:tailEnd type="triangle"/>
          </a:ln>
        </p:spPr>
      </p:sp>
      <p:sp>
        <p:nvSpPr>
          <p:cNvPr id="11" name="Shape 9"/>
          <p:cNvSpPr/>
          <p:nvPr/>
        </p:nvSpPr>
        <p:spPr>
          <a:xfrm>
            <a:off x="6309360" y="1737360"/>
            <a:ext cx="2432304" cy="1234440"/>
          </a:xfrm>
          <a:prstGeom prst="roundRect">
            <a:avLst>
              <a:gd name="adj" fmla="val 5926"/>
            </a:avLst>
          </a:prstGeom>
          <a:solidFill>
            <a:srgbClr val="A65E2E"/>
          </a:solidFill>
          <a:ln w="12700">
            <a:solidFill>
              <a:srgbClr val="A65E2E"/>
            </a:solidFill>
            <a:prstDash val="solid"/>
          </a:ln>
        </p:spPr>
      </p:sp>
      <p:sp>
        <p:nvSpPr>
          <p:cNvPr id="12" name="Text 10"/>
          <p:cNvSpPr/>
          <p:nvPr/>
        </p:nvSpPr>
        <p:spPr>
          <a:xfrm>
            <a:off x="6473952" y="1737360"/>
            <a:ext cx="2103120" cy="1234440"/>
          </a:xfrm>
          <a:prstGeom prst="rect">
            <a:avLst/>
          </a:prstGeom>
          <a:noFill/>
          <a:ln/>
        </p:spPr>
        <p:txBody>
          <a:bodyPr wrap="square" lIns="0" tIns="0" rIns="0" bIns="0" rtlCol="0" anchor="ctr"/>
          <a:lstStyle/>
          <a:p>
            <a:pPr indent="0" marL="0">
              <a:buNone/>
            </a:pPr>
            <a:r>
              <a:rPr lang="en-US" sz="1600" dirty="0">
                <a:solidFill>
                  <a:srgbClr val="FFFFFF"/>
                </a:solidFill>
                <a:latin typeface="Segoe UI Semibold" pitchFamily="34" charset="0"/>
                <a:ea typeface="Segoe UI Semibold" pitchFamily="34" charset="-122"/>
                <a:cs typeface="Segoe UI Semibold" pitchFamily="34" charset="-120"/>
              </a:rPr>
              <a:t>Shortcut</a:t>
            </a:r>
            <a:endParaRPr lang="en-US" sz="1600" dirty="0"/>
          </a:p>
          <a:p>
            <a:pPr indent="0" marL="0">
              <a:buNone/>
            </a:pPr>
            <a:r>
              <a:rPr lang="en-US" sz="1200" dirty="0">
                <a:solidFill>
                  <a:srgbClr val="FFFFFF"/>
                </a:solidFill>
                <a:latin typeface="Segoe UI" pitchFamily="34" charset="0"/>
                <a:ea typeface="Segoe UI" pitchFamily="34" charset="-122"/>
                <a:cs typeface="Segoe UI" pitchFamily="34" charset="-120"/>
              </a:rPr>
              <a:t>lh_bronze reads core.payments</a:t>
            </a:r>
            <a:endParaRPr lang="en-US" sz="1600" dirty="0"/>
          </a:p>
        </p:txBody>
      </p:sp>
      <p:sp>
        <p:nvSpPr>
          <p:cNvPr id="13" name="Shape 11"/>
          <p:cNvSpPr/>
          <p:nvPr/>
        </p:nvSpPr>
        <p:spPr>
          <a:xfrm>
            <a:off x="8787384" y="2354580"/>
            <a:ext cx="356616" cy="0"/>
          </a:xfrm>
          <a:prstGeom prst="line">
            <a:avLst/>
          </a:prstGeom>
          <a:noFill/>
          <a:ln w="25400">
            <a:solidFill>
              <a:srgbClr val="0B1F33"/>
            </a:solidFill>
            <a:prstDash val="solid"/>
            <a:tailEnd type="triangle"/>
          </a:ln>
        </p:spPr>
      </p:sp>
      <p:sp>
        <p:nvSpPr>
          <p:cNvPr id="14" name="Shape 12"/>
          <p:cNvSpPr/>
          <p:nvPr/>
        </p:nvSpPr>
        <p:spPr>
          <a:xfrm>
            <a:off x="9189720" y="1737360"/>
            <a:ext cx="2432304" cy="1234440"/>
          </a:xfrm>
          <a:prstGeom prst="roundRect">
            <a:avLst>
              <a:gd name="adj" fmla="val 5926"/>
            </a:avLst>
          </a:prstGeom>
          <a:solidFill>
            <a:srgbClr val="5F6B7A"/>
          </a:solidFill>
          <a:ln w="12700">
            <a:solidFill>
              <a:srgbClr val="5F6B7A"/>
            </a:solidFill>
            <a:prstDash val="solid"/>
          </a:ln>
        </p:spPr>
      </p:sp>
      <p:sp>
        <p:nvSpPr>
          <p:cNvPr id="15" name="Text 13"/>
          <p:cNvSpPr/>
          <p:nvPr/>
        </p:nvSpPr>
        <p:spPr>
          <a:xfrm>
            <a:off x="9354312" y="1737360"/>
            <a:ext cx="2103120" cy="1234440"/>
          </a:xfrm>
          <a:prstGeom prst="rect">
            <a:avLst/>
          </a:prstGeom>
          <a:noFill/>
          <a:ln/>
        </p:spPr>
        <p:txBody>
          <a:bodyPr wrap="square" lIns="0" tIns="0" rIns="0" bIns="0" rtlCol="0" anchor="ctr"/>
          <a:lstStyle/>
          <a:p>
            <a:pPr indent="0" marL="0">
              <a:buNone/>
            </a:pPr>
            <a:r>
              <a:rPr lang="en-US" sz="1600" dirty="0">
                <a:solidFill>
                  <a:srgbClr val="FFFFFF"/>
                </a:solidFill>
                <a:latin typeface="Segoe UI Semibold" pitchFamily="34" charset="0"/>
                <a:ea typeface="Segoe UI Semibold" pitchFamily="34" charset="-122"/>
                <a:cs typeface="Segoe UI Semibold" pitchFamily="34" charset="-120"/>
              </a:rPr>
              <a:t>Silver transforms</a:t>
            </a:r>
            <a:endParaRPr lang="en-US" sz="1600" dirty="0"/>
          </a:p>
          <a:p>
            <a:pPr indent="0" marL="0">
              <a:buNone/>
            </a:pPr>
            <a:r>
              <a:rPr lang="en-US" sz="1200" dirty="0">
                <a:solidFill>
                  <a:srgbClr val="FFFFFF"/>
                </a:solidFill>
                <a:latin typeface="Segoe UI" pitchFamily="34" charset="0"/>
                <a:ea typeface="Segoe UI" pitchFamily="34" charset="-122"/>
                <a:cs typeface="Segoe UI" pitchFamily="34" charset="-120"/>
              </a:rPr>
              <a:t>validated and merged</a:t>
            </a:r>
            <a:endParaRPr lang="en-US" sz="1600" dirty="0"/>
          </a:p>
        </p:txBody>
      </p:sp>
      <p:sp>
        <p:nvSpPr>
          <p:cNvPr id="16" name="Shape 14"/>
          <p:cNvSpPr/>
          <p:nvPr/>
        </p:nvSpPr>
        <p:spPr>
          <a:xfrm>
            <a:off x="548640" y="3520440"/>
            <a:ext cx="3575304" cy="228600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7" name="Shape 15"/>
          <p:cNvSpPr/>
          <p:nvPr/>
        </p:nvSpPr>
        <p:spPr>
          <a:xfrm>
            <a:off x="548640" y="3520440"/>
            <a:ext cx="73152" cy="2286000"/>
          </a:xfrm>
          <a:prstGeom prst="rect">
            <a:avLst/>
          </a:prstGeom>
          <a:solidFill>
            <a:srgbClr val="0E7C86"/>
          </a:solidFill>
          <a:ln w="12700">
            <a:solidFill>
              <a:srgbClr val="0E7C86"/>
            </a:solidFill>
            <a:prstDash val="solid"/>
          </a:ln>
        </p:spPr>
      </p:sp>
      <p:sp>
        <p:nvSpPr>
          <p:cNvPr id="18" name="Text 16"/>
          <p:cNvSpPr/>
          <p:nvPr/>
        </p:nvSpPr>
        <p:spPr>
          <a:xfrm>
            <a:off x="822960" y="3703320"/>
            <a:ext cx="3118104" cy="411480"/>
          </a:xfrm>
          <a:prstGeom prst="rect">
            <a:avLst/>
          </a:prstGeom>
          <a:noFill/>
          <a:ln/>
        </p:spPr>
        <p:txBody>
          <a:bodyPr wrap="square" lIns="0" tIns="0" rIns="0" bIns="0" rtlCol="0" anchor="ctr"/>
          <a:lstStyle/>
          <a:p>
            <a:pPr indent="0" marL="0">
              <a:buNone/>
            </a:pPr>
            <a:r>
              <a:rPr lang="en-US" sz="1800" dirty="0">
                <a:solidFill>
                  <a:srgbClr val="0B1F33"/>
                </a:solidFill>
                <a:latin typeface="Segoe UI Semibold" pitchFamily="34" charset="0"/>
                <a:ea typeface="Segoe UI Semibold" pitchFamily="34" charset="-122"/>
                <a:cs typeface="Segoe UI Semibold" pitchFamily="34" charset="-120"/>
              </a:rPr>
              <a:t>Seeded for the demo</a:t>
            </a:r>
            <a:endParaRPr lang="en-US" sz="1800" dirty="0"/>
          </a:p>
        </p:txBody>
      </p:sp>
      <p:sp>
        <p:nvSpPr>
          <p:cNvPr id="19" name="Text 17"/>
          <p:cNvSpPr/>
          <p:nvPr/>
        </p:nvSpPr>
        <p:spPr>
          <a:xfrm>
            <a:off x="822960" y="4251960"/>
            <a:ext cx="3072384" cy="1463040"/>
          </a:xfrm>
          <a:prstGeom prst="rect">
            <a:avLst/>
          </a:prstGeom>
          <a:noFill/>
          <a:ln/>
        </p:spPr>
        <p:txBody>
          <a:bodyPr wrap="square" lIns="0" tIns="0" rIns="0" bIns="0" rtlCol="0" anchor="t"/>
          <a:lstStyle/>
          <a:p>
            <a:pPr marL="203200" indent="-203200">
              <a:spcAft>
                <a:spcPts val="1000"/>
              </a:spcAft>
              <a:buSzPct val="100000"/>
              <a:buChar char="•"/>
            </a:pPr>
            <a:r>
              <a:rPr lang="en-US" sz="1550" dirty="0">
                <a:solidFill>
                  <a:srgbClr val="1B2733"/>
                </a:solidFill>
                <a:latin typeface="Segoe UI" pitchFamily="34" charset="0"/>
                <a:ea typeface="Segoe UI" pitchFamily="34" charset="-122"/>
                <a:cs typeface="Segoe UI" pitchFamily="34" charset="-120"/>
              </a:rPr>
              <a:t>20,000 customers</a:t>
            </a:r>
            <a:endParaRPr lang="en-US" sz="1550" dirty="0"/>
          </a:p>
          <a:p>
            <a:pPr marL="203200" indent="-203200">
              <a:spcAft>
                <a:spcPts val="1000"/>
              </a:spcAft>
              <a:buSzPct val="100000"/>
              <a:buChar char="•"/>
            </a:pPr>
            <a:r>
              <a:rPr lang="en-US" sz="1550" dirty="0">
                <a:solidFill>
                  <a:srgbClr val="1B2733"/>
                </a:solidFill>
                <a:latin typeface="Segoe UI" pitchFamily="34" charset="0"/>
                <a:ea typeface="Segoe UI" pitchFamily="34" charset="-122"/>
                <a:cs typeface="Segoe UI" pitchFamily="34" charset="-120"/>
              </a:rPr>
              <a:t>30,000 accounts</a:t>
            </a:r>
            <a:endParaRPr lang="en-US" sz="1550" dirty="0"/>
          </a:p>
          <a:p>
            <a:pPr marL="203200" indent="-203200">
              <a:spcAft>
                <a:spcPts val="1000"/>
              </a:spcAft>
              <a:buSzPct val="100000"/>
              <a:buChar char="•"/>
            </a:pPr>
            <a:r>
              <a:rPr lang="en-US" sz="1550" dirty="0">
                <a:solidFill>
                  <a:srgbClr val="1B2733"/>
                </a:solidFill>
                <a:latin typeface="Segoe UI" pitchFamily="34" charset="0"/>
                <a:ea typeface="Segoe UI" pitchFamily="34" charset="-122"/>
                <a:cs typeface="Segoe UI" pitchFamily="34" charset="-120"/>
              </a:rPr>
              <a:t>400,000 payments, with Delta logs visible in OneLake</a:t>
            </a:r>
            <a:endParaRPr lang="en-US" sz="1550" dirty="0"/>
          </a:p>
        </p:txBody>
      </p:sp>
      <p:sp>
        <p:nvSpPr>
          <p:cNvPr id="20" name="Shape 18"/>
          <p:cNvSpPr/>
          <p:nvPr/>
        </p:nvSpPr>
        <p:spPr>
          <a:xfrm>
            <a:off x="4306824" y="3520440"/>
            <a:ext cx="3575304" cy="228600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21" name="Shape 19"/>
          <p:cNvSpPr/>
          <p:nvPr/>
        </p:nvSpPr>
        <p:spPr>
          <a:xfrm>
            <a:off x="4306824" y="3520440"/>
            <a:ext cx="73152" cy="2286000"/>
          </a:xfrm>
          <a:prstGeom prst="rect">
            <a:avLst/>
          </a:prstGeom>
          <a:solidFill>
            <a:srgbClr val="A65E2E"/>
          </a:solidFill>
          <a:ln w="12700">
            <a:solidFill>
              <a:srgbClr val="A65E2E"/>
            </a:solidFill>
            <a:prstDash val="solid"/>
          </a:ln>
        </p:spPr>
      </p:sp>
      <p:sp>
        <p:nvSpPr>
          <p:cNvPr id="22" name="Text 20"/>
          <p:cNvSpPr/>
          <p:nvPr/>
        </p:nvSpPr>
        <p:spPr>
          <a:xfrm>
            <a:off x="4581144" y="3703320"/>
            <a:ext cx="3118104" cy="411480"/>
          </a:xfrm>
          <a:prstGeom prst="rect">
            <a:avLst/>
          </a:prstGeom>
          <a:noFill/>
          <a:ln/>
        </p:spPr>
        <p:txBody>
          <a:bodyPr wrap="square" lIns="0" tIns="0" rIns="0" bIns="0" rtlCol="0" anchor="ctr"/>
          <a:lstStyle/>
          <a:p>
            <a:pPr indent="0" marL="0">
              <a:buNone/>
            </a:pPr>
            <a:r>
              <a:rPr lang="en-US" sz="1800" dirty="0">
                <a:solidFill>
                  <a:srgbClr val="0B1F33"/>
                </a:solidFill>
                <a:latin typeface="Segoe UI Semibold" pitchFamily="34" charset="0"/>
                <a:ea typeface="Segoe UI Semibold" pitchFamily="34" charset="-122"/>
                <a:cs typeface="Segoe UI Semibold" pitchFamily="34" charset="-120"/>
              </a:rPr>
              <a:t>Continuous, not batch</a:t>
            </a:r>
            <a:endParaRPr lang="en-US" sz="1800" dirty="0"/>
          </a:p>
        </p:txBody>
      </p:sp>
      <p:sp>
        <p:nvSpPr>
          <p:cNvPr id="23" name="Text 21"/>
          <p:cNvSpPr/>
          <p:nvPr/>
        </p:nvSpPr>
        <p:spPr>
          <a:xfrm>
            <a:off x="4581144" y="4251960"/>
            <a:ext cx="3072384" cy="1463040"/>
          </a:xfrm>
          <a:prstGeom prst="rect">
            <a:avLst/>
          </a:prstGeom>
          <a:noFill/>
          <a:ln/>
        </p:spPr>
        <p:txBody>
          <a:bodyPr wrap="square" lIns="0" tIns="0" rIns="0" bIns="0" rtlCol="0" anchor="t"/>
          <a:lstStyle/>
          <a:p>
            <a:pPr marL="203200" indent="-203200">
              <a:spcAft>
                <a:spcPts val="1000"/>
              </a:spcAft>
              <a:buSzPct val="100000"/>
              <a:buChar char="•"/>
            </a:pPr>
            <a:r>
              <a:rPr lang="en-US" sz="1550" dirty="0">
                <a:solidFill>
                  <a:srgbClr val="1B2733"/>
                </a:solidFill>
                <a:latin typeface="Segoe UI" pitchFamily="34" charset="0"/>
                <a:ea typeface="Segoe UI" pitchFamily="34" charset="-122"/>
                <a:cs typeface="Segoe UI" pitchFamily="34" charset="-120"/>
              </a:rPr>
              <a:t>No extract job for you to maintain</a:t>
            </a:r>
            <a:endParaRPr lang="en-US" sz="1550" dirty="0"/>
          </a:p>
          <a:p>
            <a:pPr marL="203200" indent="-203200">
              <a:spcAft>
                <a:spcPts val="1000"/>
              </a:spcAft>
              <a:buSzPct val="100000"/>
              <a:buChar char="•"/>
            </a:pPr>
            <a:r>
              <a:rPr lang="en-US" sz="1550" dirty="0">
                <a:solidFill>
                  <a:srgbClr val="1B2733"/>
                </a:solidFill>
                <a:latin typeface="Segoe UI" pitchFamily="34" charset="0"/>
                <a:ea typeface="Segoe UI" pitchFamily="34" charset="-122"/>
                <a:cs typeface="Segoe UI" pitchFamily="34" charset="-120"/>
              </a:rPr>
              <a:t>Latency applies: do not promise a live result in a demo</a:t>
            </a:r>
            <a:endParaRPr lang="en-US" sz="1550" dirty="0"/>
          </a:p>
        </p:txBody>
      </p:sp>
      <p:sp>
        <p:nvSpPr>
          <p:cNvPr id="24" name="Shape 22"/>
          <p:cNvSpPr/>
          <p:nvPr/>
        </p:nvSpPr>
        <p:spPr>
          <a:xfrm>
            <a:off x="8065008" y="3520440"/>
            <a:ext cx="3575304" cy="228600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25" name="Shape 23"/>
          <p:cNvSpPr/>
          <p:nvPr/>
        </p:nvSpPr>
        <p:spPr>
          <a:xfrm>
            <a:off x="8065008" y="3520440"/>
            <a:ext cx="73152" cy="2286000"/>
          </a:xfrm>
          <a:prstGeom prst="rect">
            <a:avLst/>
          </a:prstGeom>
          <a:solidFill>
            <a:srgbClr val="B42318"/>
          </a:solidFill>
          <a:ln w="12700">
            <a:solidFill>
              <a:srgbClr val="B42318"/>
            </a:solidFill>
            <a:prstDash val="solid"/>
          </a:ln>
        </p:spPr>
      </p:sp>
      <p:sp>
        <p:nvSpPr>
          <p:cNvPr id="26" name="Text 24"/>
          <p:cNvSpPr/>
          <p:nvPr/>
        </p:nvSpPr>
        <p:spPr>
          <a:xfrm>
            <a:off x="8339328" y="3703320"/>
            <a:ext cx="3118104" cy="411480"/>
          </a:xfrm>
          <a:prstGeom prst="rect">
            <a:avLst/>
          </a:prstGeom>
          <a:noFill/>
          <a:ln/>
        </p:spPr>
        <p:txBody>
          <a:bodyPr wrap="square" lIns="0" tIns="0" rIns="0" bIns="0" rtlCol="0" anchor="ctr"/>
          <a:lstStyle/>
          <a:p>
            <a:pPr indent="0" marL="0">
              <a:buNone/>
            </a:pPr>
            <a:r>
              <a:rPr lang="en-US" sz="1800" dirty="0">
                <a:solidFill>
                  <a:srgbClr val="0B1F33"/>
                </a:solidFill>
                <a:latin typeface="Segoe UI Semibold" pitchFamily="34" charset="0"/>
                <a:ea typeface="Segoe UI Semibold" pitchFamily="34" charset="-122"/>
                <a:cs typeface="Segoe UI Semibold" pitchFamily="34" charset="-120"/>
              </a:rPr>
              <a:t>Check before you promise</a:t>
            </a:r>
            <a:endParaRPr lang="en-US" sz="1800" dirty="0"/>
          </a:p>
        </p:txBody>
      </p:sp>
      <p:sp>
        <p:nvSpPr>
          <p:cNvPr id="27" name="Text 25"/>
          <p:cNvSpPr/>
          <p:nvPr/>
        </p:nvSpPr>
        <p:spPr>
          <a:xfrm>
            <a:off x="8339328" y="4251960"/>
            <a:ext cx="3072384" cy="1463040"/>
          </a:xfrm>
          <a:prstGeom prst="rect">
            <a:avLst/>
          </a:prstGeom>
          <a:noFill/>
          <a:ln/>
        </p:spPr>
        <p:txBody>
          <a:bodyPr wrap="square" lIns="0" tIns="0" rIns="0" bIns="0" rtlCol="0" anchor="t"/>
          <a:lstStyle/>
          <a:p>
            <a:pPr marL="203200" indent="-203200">
              <a:spcAft>
                <a:spcPts val="1000"/>
              </a:spcAft>
              <a:buSzPct val="100000"/>
              <a:buChar char="•"/>
            </a:pPr>
            <a:r>
              <a:rPr lang="en-US" sz="1550" dirty="0">
                <a:solidFill>
                  <a:srgbClr val="1B2733"/>
                </a:solidFill>
                <a:latin typeface="Segoe UI" pitchFamily="34" charset="0"/>
                <a:ea typeface="Segoe UI" pitchFamily="34" charset="-122"/>
                <a:cs typeface="Segoe UI" pitchFamily="34" charset="-120"/>
              </a:rPr>
              <a:t>The source type is supported and reachable from Fabric</a:t>
            </a:r>
            <a:endParaRPr lang="en-US" sz="1550" dirty="0"/>
          </a:p>
          <a:p>
            <a:pPr marL="203200" indent="-203200">
              <a:spcAft>
                <a:spcPts val="1000"/>
              </a:spcAft>
              <a:buSzPct val="100000"/>
              <a:buChar char="•"/>
            </a:pPr>
            <a:r>
              <a:rPr lang="en-US" sz="1550" dirty="0">
                <a:solidFill>
                  <a:srgbClr val="1B2733"/>
                </a:solidFill>
                <a:latin typeface="Segoe UI" pitchFamily="34" charset="0"/>
                <a:ea typeface="Segoe UI" pitchFamily="34" charset="-122"/>
                <a:cs typeface="Segoe UI" pitchFamily="34" charset="-120"/>
              </a:rPr>
              <a:t>Our sandbox policy blocked public access to Azure SQL and storage</a:t>
            </a:r>
            <a:endParaRPr lang="en-US" sz="1550" dirty="0"/>
          </a:p>
        </p:txBody>
      </p:sp>
      <p:sp>
        <p:nvSpPr>
          <p:cNvPr id="28" name="Text 26"/>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29" name="Text 27"/>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6 · 10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Medallion across a Lakehouse and a Warehouse</a:t>
            </a:r>
            <a:endParaRPr lang="en-US" sz="3000" dirty="0"/>
          </a:p>
        </p:txBody>
      </p:sp>
      <p:sp>
        <p:nvSpPr>
          <p:cNvPr id="5" name="Text 3"/>
          <p:cNvSpPr/>
          <p:nvPr/>
        </p:nvSpPr>
        <p:spPr>
          <a:xfrm>
            <a:off x="548640" y="1645920"/>
            <a:ext cx="2011680" cy="329184"/>
          </a:xfrm>
          <a:prstGeom prst="rect">
            <a:avLst/>
          </a:prstGeom>
          <a:noFill/>
          <a:ln/>
        </p:spPr>
        <p:txBody>
          <a:bodyPr wrap="square" lIns="0" tIns="0" rIns="0" bIns="0" rtlCol="0" anchor="ctr"/>
          <a:lstStyle/>
          <a:p>
            <a:pPr indent="0" marL="0">
              <a:buNone/>
            </a:pPr>
            <a:r>
              <a:rPr lang="en-US" sz="1150" b="1" spc="100" kern="0" dirty="0">
                <a:solidFill>
                  <a:srgbClr val="5B6B7A"/>
                </a:solidFill>
                <a:latin typeface="Segoe UI" pitchFamily="34" charset="0"/>
                <a:ea typeface="Segoe UI" pitchFamily="34" charset="-122"/>
                <a:cs typeface="Segoe UI" pitchFamily="34" charset="-120"/>
              </a:rPr>
              <a:t>SOURCES</a:t>
            </a:r>
            <a:endParaRPr lang="en-US" sz="1150" dirty="0"/>
          </a:p>
        </p:txBody>
      </p:sp>
      <p:sp>
        <p:nvSpPr>
          <p:cNvPr id="6" name="Text 4"/>
          <p:cNvSpPr/>
          <p:nvPr/>
        </p:nvSpPr>
        <p:spPr>
          <a:xfrm>
            <a:off x="3291840" y="1645920"/>
            <a:ext cx="2240280" cy="329184"/>
          </a:xfrm>
          <a:prstGeom prst="rect">
            <a:avLst/>
          </a:prstGeom>
          <a:noFill/>
          <a:ln/>
        </p:spPr>
        <p:txBody>
          <a:bodyPr wrap="square" lIns="0" tIns="0" rIns="0" bIns="0" rtlCol="0" anchor="ctr"/>
          <a:lstStyle/>
          <a:p>
            <a:pPr indent="0" marL="0">
              <a:buNone/>
            </a:pPr>
            <a:r>
              <a:rPr lang="en-US" sz="1150" b="1" spc="100" kern="0" dirty="0">
                <a:solidFill>
                  <a:srgbClr val="5B6B7A"/>
                </a:solidFill>
                <a:latin typeface="Segoe UI" pitchFamily="34" charset="0"/>
                <a:ea typeface="Segoe UI" pitchFamily="34" charset="-122"/>
                <a:cs typeface="Segoe UI" pitchFamily="34" charset="-120"/>
              </a:rPr>
              <a:t>BRONZE · LAKEHOUSE</a:t>
            </a:r>
            <a:endParaRPr lang="en-US" sz="1150" dirty="0"/>
          </a:p>
        </p:txBody>
      </p:sp>
      <p:sp>
        <p:nvSpPr>
          <p:cNvPr id="7" name="Text 5"/>
          <p:cNvSpPr/>
          <p:nvPr/>
        </p:nvSpPr>
        <p:spPr>
          <a:xfrm>
            <a:off x="6263640" y="1645920"/>
            <a:ext cx="2240280" cy="329184"/>
          </a:xfrm>
          <a:prstGeom prst="rect">
            <a:avLst/>
          </a:prstGeom>
          <a:noFill/>
          <a:ln/>
        </p:spPr>
        <p:txBody>
          <a:bodyPr wrap="square" lIns="0" tIns="0" rIns="0" bIns="0" rtlCol="0" anchor="ctr"/>
          <a:lstStyle/>
          <a:p>
            <a:pPr indent="0" marL="0">
              <a:buNone/>
            </a:pPr>
            <a:r>
              <a:rPr lang="en-US" sz="1150" b="1" spc="100" kern="0" dirty="0">
                <a:solidFill>
                  <a:srgbClr val="5B6B7A"/>
                </a:solidFill>
                <a:latin typeface="Segoe UI" pitchFamily="34" charset="0"/>
                <a:ea typeface="Segoe UI" pitchFamily="34" charset="-122"/>
                <a:cs typeface="Segoe UI" pitchFamily="34" charset="-120"/>
              </a:rPr>
              <a:t>SILVER · LAKEHOUSE</a:t>
            </a:r>
            <a:endParaRPr lang="en-US" sz="1150" dirty="0"/>
          </a:p>
        </p:txBody>
      </p:sp>
      <p:sp>
        <p:nvSpPr>
          <p:cNvPr id="8" name="Text 6"/>
          <p:cNvSpPr/>
          <p:nvPr/>
        </p:nvSpPr>
        <p:spPr>
          <a:xfrm>
            <a:off x="9235440" y="1645920"/>
            <a:ext cx="2404872" cy="329184"/>
          </a:xfrm>
          <a:prstGeom prst="rect">
            <a:avLst/>
          </a:prstGeom>
          <a:noFill/>
          <a:ln/>
        </p:spPr>
        <p:txBody>
          <a:bodyPr wrap="square" lIns="0" tIns="0" rIns="0" bIns="0" rtlCol="0" anchor="ctr"/>
          <a:lstStyle/>
          <a:p>
            <a:pPr indent="0" marL="0">
              <a:buNone/>
            </a:pPr>
            <a:r>
              <a:rPr lang="en-US" sz="1150" b="1" spc="100" kern="0" dirty="0">
                <a:solidFill>
                  <a:srgbClr val="5B6B7A"/>
                </a:solidFill>
                <a:latin typeface="Segoe UI" pitchFamily="34" charset="0"/>
                <a:ea typeface="Segoe UI" pitchFamily="34" charset="-122"/>
                <a:cs typeface="Segoe UI" pitchFamily="34" charset="-120"/>
              </a:rPr>
              <a:t>GOLD · WAREHOUSE</a:t>
            </a:r>
            <a:endParaRPr lang="en-US" sz="1150" dirty="0"/>
          </a:p>
        </p:txBody>
      </p:sp>
      <p:sp>
        <p:nvSpPr>
          <p:cNvPr id="9" name="Shape 7"/>
          <p:cNvSpPr/>
          <p:nvPr/>
        </p:nvSpPr>
        <p:spPr>
          <a:xfrm>
            <a:off x="548640" y="2057400"/>
            <a:ext cx="2011680" cy="1188720"/>
          </a:xfrm>
          <a:prstGeom prst="rect">
            <a:avLst/>
          </a:prstGeom>
          <a:solidFill>
            <a:srgbClr val="E4E9EF"/>
          </a:solidFill>
          <a:ln w="12700">
            <a:solidFill>
              <a:srgbClr val="E4E9EF"/>
            </a:solidFill>
            <a:prstDash val="solid"/>
          </a:ln>
        </p:spPr>
      </p:sp>
      <p:sp>
        <p:nvSpPr>
          <p:cNvPr id="10" name="Text 8"/>
          <p:cNvSpPr/>
          <p:nvPr/>
        </p:nvSpPr>
        <p:spPr>
          <a:xfrm>
            <a:off x="685800" y="2057400"/>
            <a:ext cx="1783080" cy="1188720"/>
          </a:xfrm>
          <a:prstGeom prst="rect">
            <a:avLst/>
          </a:prstGeom>
          <a:noFill/>
          <a:ln/>
        </p:spPr>
        <p:txBody>
          <a:bodyPr wrap="square" lIns="0" tIns="0" rIns="0" bIns="0" rtlCol="0" anchor="ctr"/>
          <a:lstStyle/>
          <a:p>
            <a:pPr indent="0" marL="0">
              <a:buNone/>
            </a:pPr>
            <a:r>
              <a:rPr lang="en-US" sz="1350" dirty="0">
                <a:solidFill>
                  <a:srgbClr val="0B1F33"/>
                </a:solidFill>
                <a:latin typeface="Segoe UI Semibold" pitchFamily="34" charset="0"/>
                <a:ea typeface="Segoe UI Semibold" pitchFamily="34" charset="-122"/>
                <a:cs typeface="Segoe UI Semibold" pitchFamily="34" charset="-120"/>
              </a:rPr>
              <a:t>Synapse dedicated pool</a:t>
            </a:r>
            <a:endParaRPr lang="en-US" sz="1350" dirty="0"/>
          </a:p>
          <a:p>
            <a:pPr indent="0" marL="0">
              <a:buNone/>
            </a:pPr>
            <a:r>
              <a:rPr lang="en-US" sz="1200" dirty="0">
                <a:solidFill>
                  <a:srgbClr val="1B2733"/>
                </a:solidFill>
                <a:latin typeface="Segoe UI" pitchFamily="34" charset="0"/>
                <a:ea typeface="Segoe UI" pitchFamily="34" charset="-122"/>
                <a:cs typeface="Segoe UI" pitchFamily="34" charset="-120"/>
              </a:rPr>
              <a:t>dwpool · 100M rows</a:t>
            </a:r>
            <a:endParaRPr lang="en-US" sz="1350" dirty="0"/>
          </a:p>
        </p:txBody>
      </p:sp>
      <p:sp>
        <p:nvSpPr>
          <p:cNvPr id="11" name="Shape 9"/>
          <p:cNvSpPr/>
          <p:nvPr/>
        </p:nvSpPr>
        <p:spPr>
          <a:xfrm>
            <a:off x="548640" y="3474720"/>
            <a:ext cx="2011680" cy="1188720"/>
          </a:xfrm>
          <a:prstGeom prst="rect">
            <a:avLst/>
          </a:prstGeom>
          <a:solidFill>
            <a:srgbClr val="E4E9EF"/>
          </a:solidFill>
          <a:ln w="12700">
            <a:solidFill>
              <a:srgbClr val="E4E9EF"/>
            </a:solidFill>
            <a:prstDash val="solid"/>
          </a:ln>
        </p:spPr>
      </p:sp>
      <p:sp>
        <p:nvSpPr>
          <p:cNvPr id="12" name="Text 10"/>
          <p:cNvSpPr/>
          <p:nvPr/>
        </p:nvSpPr>
        <p:spPr>
          <a:xfrm>
            <a:off x="685800" y="3474720"/>
            <a:ext cx="1783080" cy="1188720"/>
          </a:xfrm>
          <a:prstGeom prst="rect">
            <a:avLst/>
          </a:prstGeom>
          <a:noFill/>
          <a:ln/>
        </p:spPr>
        <p:txBody>
          <a:bodyPr wrap="square" lIns="0" tIns="0" rIns="0" bIns="0" rtlCol="0" anchor="ctr"/>
          <a:lstStyle/>
          <a:p>
            <a:pPr indent="0" marL="0">
              <a:buNone/>
            </a:pPr>
            <a:r>
              <a:rPr lang="en-US" sz="1350" dirty="0">
                <a:solidFill>
                  <a:srgbClr val="0B1F33"/>
                </a:solidFill>
                <a:latin typeface="Segoe UI Semibold" pitchFamily="34" charset="0"/>
                <a:ea typeface="Segoe UI Semibold" pitchFamily="34" charset="-122"/>
                <a:cs typeface="Segoe UI Semibold" pitchFamily="34" charset="-120"/>
              </a:rPr>
              <a:t>Fabric SQL database</a:t>
            </a:r>
            <a:endParaRPr lang="en-US" sz="1350" dirty="0"/>
          </a:p>
          <a:p>
            <a:pPr indent="0" marL="0">
              <a:buNone/>
            </a:pPr>
            <a:r>
              <a:rPr lang="en-US" sz="1200" dirty="0">
                <a:solidFill>
                  <a:srgbClr val="1B2733"/>
                </a:solidFill>
                <a:latin typeface="Segoe UI" pitchFamily="34" charset="0"/>
                <a:ea typeface="Segoe UI" pitchFamily="34" charset="-122"/>
                <a:cs typeface="Segoe UI" pitchFamily="34" charset="-120"/>
              </a:rPr>
              <a:t>mirrored to OneLake</a:t>
            </a:r>
            <a:endParaRPr lang="en-US" sz="1350" dirty="0"/>
          </a:p>
        </p:txBody>
      </p:sp>
      <p:sp>
        <p:nvSpPr>
          <p:cNvPr id="13" name="Shape 11"/>
          <p:cNvSpPr/>
          <p:nvPr/>
        </p:nvSpPr>
        <p:spPr>
          <a:xfrm>
            <a:off x="3291840" y="2057400"/>
            <a:ext cx="2240280" cy="2606040"/>
          </a:xfrm>
          <a:prstGeom prst="rect">
            <a:avLst/>
          </a:prstGeom>
          <a:solidFill>
            <a:srgbClr val="F6E9DF"/>
          </a:solidFill>
          <a:ln w="12700">
            <a:solidFill>
              <a:srgbClr val="F6E9DF"/>
            </a:solidFill>
            <a:prstDash val="solid"/>
          </a:ln>
        </p:spPr>
      </p:sp>
      <p:sp>
        <p:nvSpPr>
          <p:cNvPr id="14" name="Text 12"/>
          <p:cNvSpPr/>
          <p:nvPr/>
        </p:nvSpPr>
        <p:spPr>
          <a:xfrm>
            <a:off x="3474720" y="2194560"/>
            <a:ext cx="1920240" cy="2377440"/>
          </a:xfrm>
          <a:prstGeom prst="rect">
            <a:avLst/>
          </a:prstGeom>
          <a:noFill/>
          <a:ln/>
        </p:spPr>
        <p:txBody>
          <a:bodyPr wrap="square" lIns="0" tIns="0" rIns="0" bIns="0" rtlCol="0" anchor="t"/>
          <a:lstStyle/>
          <a:p>
            <a:pPr indent="0" marL="0">
              <a:spcAft>
                <a:spcPts val="800"/>
              </a:spcAft>
              <a:buNone/>
            </a:pPr>
            <a:r>
              <a:rPr lang="en-US" sz="1500" dirty="0">
                <a:solidFill>
                  <a:srgbClr val="7A3E16"/>
                </a:solidFill>
                <a:latin typeface="Segoe UI Semibold" pitchFamily="34" charset="0"/>
                <a:ea typeface="Segoe UI Semibold" pitchFamily="34" charset="-122"/>
                <a:cs typeface="Segoe UI Semibold" pitchFamily="34" charset="-120"/>
              </a:rPr>
              <a:t>lh_bronze</a:t>
            </a:r>
            <a:endParaRPr lang="en-US" sz="1500" dirty="0"/>
          </a:p>
          <a:p>
            <a:pPr marL="177800" indent="-177800">
              <a:spcAft>
                <a:spcPts val="1000"/>
              </a:spcAft>
              <a:buSzPct val="100000"/>
              <a:buChar char="•"/>
            </a:pPr>
            <a:r>
              <a:rPr lang="en-US" sz="1350" dirty="0">
                <a:solidFill>
                  <a:srgbClr val="1B2733"/>
                </a:solidFill>
                <a:latin typeface="Segoe UI" pitchFamily="34" charset="0"/>
                <a:ea typeface="Segoe UI" pitchFamily="34" charset="-122"/>
                <a:cs typeface="Segoe UI" pitchFamily="34" charset="-120"/>
              </a:rPr>
              <a:t>fact_transaction (Synapse)</a:t>
            </a:r>
            <a:endParaRPr lang="en-US" sz="1500" dirty="0"/>
          </a:p>
          <a:p>
            <a:pPr marL="177800" indent="-177800">
              <a:spcAft>
                <a:spcPts val="1000"/>
              </a:spcAft>
              <a:buSzPct val="100000"/>
              <a:buChar char="•"/>
            </a:pPr>
            <a:r>
              <a:rPr lang="en-US" sz="1350" dirty="0">
                <a:solidFill>
                  <a:srgbClr val="1B2733"/>
                </a:solidFill>
                <a:latin typeface="Segoe UI" pitchFamily="34" charset="0"/>
                <a:ea typeface="Segoe UI" pitchFamily="34" charset="-122"/>
                <a:cs typeface="Segoe UI" pitchFamily="34" charset="-120"/>
              </a:rPr>
              <a:t>dim_* tables (4)</a:t>
            </a:r>
            <a:endParaRPr lang="en-US" sz="1500" dirty="0"/>
          </a:p>
          <a:p>
            <a:pPr marL="177800" indent="-177800">
              <a:spcAft>
                <a:spcPts val="1000"/>
              </a:spcAft>
              <a:buSzPct val="100000"/>
              <a:buChar char="•"/>
            </a:pPr>
            <a:r>
              <a:rPr lang="en-US" sz="1350" dirty="0">
                <a:solidFill>
                  <a:srgbClr val="1B2733"/>
                </a:solidFill>
                <a:latin typeface="Segoe UI" pitchFamily="34" charset="0"/>
                <a:ea typeface="Segoe UI" pitchFamily="34" charset="-122"/>
                <a:cs typeface="Segoe UI" pitchFamily="34" charset="-120"/>
              </a:rPr>
              <a:t>core_payments (shortcut)</a:t>
            </a:r>
            <a:endParaRPr lang="en-US" sz="1500" dirty="0"/>
          </a:p>
        </p:txBody>
      </p:sp>
      <p:sp>
        <p:nvSpPr>
          <p:cNvPr id="15" name="Shape 13"/>
          <p:cNvSpPr/>
          <p:nvPr/>
        </p:nvSpPr>
        <p:spPr>
          <a:xfrm>
            <a:off x="6263640" y="2057400"/>
            <a:ext cx="2240280" cy="2606040"/>
          </a:xfrm>
          <a:prstGeom prst="rect">
            <a:avLst/>
          </a:prstGeom>
          <a:solidFill>
            <a:srgbClr val="E4E9EF"/>
          </a:solidFill>
          <a:ln w="12700">
            <a:solidFill>
              <a:srgbClr val="E4E9EF"/>
            </a:solidFill>
            <a:prstDash val="solid"/>
          </a:ln>
        </p:spPr>
      </p:sp>
      <p:sp>
        <p:nvSpPr>
          <p:cNvPr id="16" name="Text 14"/>
          <p:cNvSpPr/>
          <p:nvPr/>
        </p:nvSpPr>
        <p:spPr>
          <a:xfrm>
            <a:off x="6446520" y="2194560"/>
            <a:ext cx="1920240" cy="2377440"/>
          </a:xfrm>
          <a:prstGeom prst="rect">
            <a:avLst/>
          </a:prstGeom>
          <a:noFill/>
          <a:ln/>
        </p:spPr>
        <p:txBody>
          <a:bodyPr wrap="square" lIns="0" tIns="0" rIns="0" bIns="0" rtlCol="0" anchor="t"/>
          <a:lstStyle/>
          <a:p>
            <a:pPr indent="0" marL="0">
              <a:spcAft>
                <a:spcPts val="800"/>
              </a:spcAft>
              <a:buNone/>
            </a:pPr>
            <a:r>
              <a:rPr lang="en-US" sz="1500" dirty="0">
                <a:solidFill>
                  <a:srgbClr val="3E4753"/>
                </a:solidFill>
                <a:latin typeface="Segoe UI Semibold" pitchFamily="34" charset="0"/>
                <a:ea typeface="Segoe UI Semibold" pitchFamily="34" charset="-122"/>
                <a:cs typeface="Segoe UI Semibold" pitchFamily="34" charset="-120"/>
              </a:rPr>
              <a:t>lh_silver</a:t>
            </a:r>
            <a:endParaRPr lang="en-US" sz="1500" dirty="0"/>
          </a:p>
          <a:p>
            <a:pPr marL="177800" indent="-177800">
              <a:spcAft>
                <a:spcPts val="1000"/>
              </a:spcAft>
              <a:buSzPct val="100000"/>
              <a:buChar char="•"/>
            </a:pPr>
            <a:r>
              <a:rPr lang="en-US" sz="1350" dirty="0">
                <a:solidFill>
                  <a:srgbClr val="1B2733"/>
                </a:solidFill>
                <a:latin typeface="Segoe UI" pitchFamily="34" charset="0"/>
                <a:ea typeface="Segoe UI" pitchFamily="34" charset="-122"/>
                <a:cs typeface="Segoe UI" pitchFamily="34" charset="-120"/>
              </a:rPr>
              <a:t>transactions, by year_month</a:t>
            </a:r>
            <a:endParaRPr lang="en-US" sz="1500" dirty="0"/>
          </a:p>
          <a:p>
            <a:pPr marL="177800" indent="-177800">
              <a:spcAft>
                <a:spcPts val="1000"/>
              </a:spcAft>
              <a:buSzPct val="100000"/>
              <a:buChar char="•"/>
            </a:pPr>
            <a:r>
              <a:rPr lang="en-US" sz="1350" dirty="0">
                <a:solidFill>
                  <a:srgbClr val="1B2733"/>
                </a:solidFill>
                <a:latin typeface="Segoe UI" pitchFamily="34" charset="0"/>
                <a:ea typeface="Segoe UI" pitchFamily="34" charset="-122"/>
                <a:cs typeface="Segoe UI" pitchFamily="34" charset="-120"/>
              </a:rPr>
              <a:t>customers, accounts (MERGE)</a:t>
            </a:r>
            <a:endParaRPr lang="en-US" sz="1500" dirty="0"/>
          </a:p>
          <a:p>
            <a:pPr marL="177800" indent="-177800">
              <a:spcAft>
                <a:spcPts val="1000"/>
              </a:spcAft>
              <a:buSzPct val="100000"/>
              <a:buChar char="•"/>
            </a:pPr>
            <a:r>
              <a:rPr lang="en-US" sz="1350" dirty="0">
                <a:solidFill>
                  <a:srgbClr val="1B2733"/>
                </a:solidFill>
                <a:latin typeface="Segoe UI" pitchFamily="34" charset="0"/>
                <a:ea typeface="Segoe UI" pitchFamily="34" charset="-122"/>
                <a:cs typeface="Segoe UI" pitchFamily="34" charset="-120"/>
              </a:rPr>
              <a:t>payments (MERGE)</a:t>
            </a:r>
            <a:endParaRPr lang="en-US" sz="1500" dirty="0"/>
          </a:p>
          <a:p>
            <a:pPr marL="177800" indent="-177800">
              <a:spcAft>
                <a:spcPts val="1000"/>
              </a:spcAft>
              <a:buSzPct val="100000"/>
              <a:buChar char="•"/>
            </a:pPr>
            <a:r>
              <a:rPr lang="en-US" sz="1350" dirty="0">
                <a:solidFill>
                  <a:srgbClr val="1B2733"/>
                </a:solidFill>
                <a:latin typeface="Segoe UI" pitchFamily="34" charset="0"/>
                <a:ea typeface="Segoe UI" pitchFamily="34" charset="-122"/>
                <a:cs typeface="Segoe UI" pitchFamily="34" charset="-120"/>
              </a:rPr>
              <a:t>dq_results, dq_rejects</a:t>
            </a:r>
            <a:endParaRPr lang="en-US" sz="1500" dirty="0"/>
          </a:p>
        </p:txBody>
      </p:sp>
      <p:sp>
        <p:nvSpPr>
          <p:cNvPr id="17" name="Shape 15"/>
          <p:cNvSpPr/>
          <p:nvPr/>
        </p:nvSpPr>
        <p:spPr>
          <a:xfrm>
            <a:off x="9235440" y="2057400"/>
            <a:ext cx="2404872" cy="2606040"/>
          </a:xfrm>
          <a:prstGeom prst="rect">
            <a:avLst/>
          </a:prstGeom>
          <a:solidFill>
            <a:srgbClr val="F8EFD2"/>
          </a:solidFill>
          <a:ln w="12700">
            <a:solidFill>
              <a:srgbClr val="F8EFD2"/>
            </a:solidFill>
            <a:prstDash val="solid"/>
          </a:ln>
        </p:spPr>
      </p:sp>
      <p:sp>
        <p:nvSpPr>
          <p:cNvPr id="18" name="Text 16"/>
          <p:cNvSpPr/>
          <p:nvPr/>
        </p:nvSpPr>
        <p:spPr>
          <a:xfrm>
            <a:off x="9418320" y="2194560"/>
            <a:ext cx="2084832" cy="2377440"/>
          </a:xfrm>
          <a:prstGeom prst="rect">
            <a:avLst/>
          </a:prstGeom>
          <a:noFill/>
          <a:ln/>
        </p:spPr>
        <p:txBody>
          <a:bodyPr wrap="square" lIns="0" tIns="0" rIns="0" bIns="0" rtlCol="0" anchor="t"/>
          <a:lstStyle/>
          <a:p>
            <a:pPr indent="0" marL="0">
              <a:spcAft>
                <a:spcPts val="800"/>
              </a:spcAft>
              <a:buNone/>
            </a:pPr>
            <a:r>
              <a:rPr lang="en-US" sz="1500" dirty="0">
                <a:solidFill>
                  <a:srgbClr val="6E4E08"/>
                </a:solidFill>
                <a:latin typeface="Segoe UI Semibold" pitchFamily="34" charset="0"/>
                <a:ea typeface="Segoe UI Semibold" pitchFamily="34" charset="-122"/>
                <a:cs typeface="Segoe UI Semibold" pitchFamily="34" charset="-120"/>
              </a:rPr>
              <a:t>wh_gold</a:t>
            </a:r>
            <a:endParaRPr lang="en-US" sz="1500" dirty="0"/>
          </a:p>
          <a:p>
            <a:pPr marL="177800" indent="-177800">
              <a:spcAft>
                <a:spcPts val="1000"/>
              </a:spcAft>
              <a:buSzPct val="100000"/>
              <a:buChar char="•"/>
            </a:pPr>
            <a:r>
              <a:rPr lang="en-US" sz="1350" dirty="0">
                <a:solidFill>
                  <a:srgbClr val="1B2733"/>
                </a:solidFill>
                <a:latin typeface="Segoe UI" pitchFamily="34" charset="0"/>
                <a:ea typeface="Segoe UI" pitchFamily="34" charset="-122"/>
                <a:cs typeface="Segoe UI" pitchFamily="34" charset="-120"/>
              </a:rPr>
              <a:t>dim_* star schema (4 tables)</a:t>
            </a:r>
            <a:endParaRPr lang="en-US" sz="1500" dirty="0"/>
          </a:p>
          <a:p>
            <a:pPr marL="177800" indent="-177800">
              <a:spcAft>
                <a:spcPts val="1000"/>
              </a:spcAft>
              <a:buSzPct val="100000"/>
              <a:buChar char="•"/>
            </a:pPr>
            <a:r>
              <a:rPr lang="en-US" sz="1350" dirty="0">
                <a:solidFill>
                  <a:srgbClr val="1B2733"/>
                </a:solidFill>
                <a:latin typeface="Segoe UI" pitchFamily="34" charset="0"/>
                <a:ea typeface="Segoe UI" pitchFamily="34" charset="-122"/>
                <a:cs typeface="Segoe UI" pitchFamily="34" charset="-120"/>
              </a:rPr>
              <a:t>fact_* aggregates (2)</a:t>
            </a:r>
            <a:endParaRPr lang="en-US" sz="1500" dirty="0"/>
          </a:p>
          <a:p>
            <a:pPr marL="177800" indent="-177800">
              <a:spcAft>
                <a:spcPts val="1000"/>
              </a:spcAft>
              <a:buSzPct val="100000"/>
              <a:buChar char="•"/>
            </a:pPr>
            <a:r>
              <a:rPr lang="en-US" sz="1350" dirty="0">
                <a:solidFill>
                  <a:srgbClr val="1B2733"/>
                </a:solidFill>
                <a:latin typeface="Segoe UI" pitchFamily="34" charset="0"/>
                <a:ea typeface="Segoe UI" pitchFamily="34" charset="-122"/>
                <a:cs typeface="Segoe UI" pitchFamily="34" charset="-120"/>
              </a:rPr>
              <a:t>vw_* reporting views (2)</a:t>
            </a:r>
            <a:endParaRPr lang="en-US" sz="1500" dirty="0"/>
          </a:p>
        </p:txBody>
      </p:sp>
      <p:sp>
        <p:nvSpPr>
          <p:cNvPr id="19" name="Shape 17"/>
          <p:cNvSpPr/>
          <p:nvPr/>
        </p:nvSpPr>
        <p:spPr>
          <a:xfrm>
            <a:off x="2560320" y="2651760"/>
            <a:ext cx="731520" cy="0"/>
          </a:xfrm>
          <a:prstGeom prst="line">
            <a:avLst/>
          </a:prstGeom>
          <a:noFill/>
          <a:ln w="25400">
            <a:solidFill>
              <a:srgbClr val="0B1F33"/>
            </a:solidFill>
            <a:prstDash val="solid"/>
            <a:tailEnd type="triangle"/>
          </a:ln>
        </p:spPr>
      </p:sp>
      <p:sp>
        <p:nvSpPr>
          <p:cNvPr id="20" name="Shape 18"/>
          <p:cNvSpPr/>
          <p:nvPr/>
        </p:nvSpPr>
        <p:spPr>
          <a:xfrm>
            <a:off x="2560320" y="4069080"/>
            <a:ext cx="731520" cy="0"/>
          </a:xfrm>
          <a:prstGeom prst="line">
            <a:avLst/>
          </a:prstGeom>
          <a:noFill/>
          <a:ln w="25400">
            <a:solidFill>
              <a:srgbClr val="0B1F33"/>
            </a:solidFill>
            <a:prstDash val="solid"/>
            <a:tailEnd type="triangle"/>
          </a:ln>
        </p:spPr>
      </p:sp>
      <p:sp>
        <p:nvSpPr>
          <p:cNvPr id="21" name="Shape 19"/>
          <p:cNvSpPr/>
          <p:nvPr/>
        </p:nvSpPr>
        <p:spPr>
          <a:xfrm>
            <a:off x="5532120" y="3360420"/>
            <a:ext cx="731520" cy="0"/>
          </a:xfrm>
          <a:prstGeom prst="line">
            <a:avLst/>
          </a:prstGeom>
          <a:noFill/>
          <a:ln w="25400">
            <a:solidFill>
              <a:srgbClr val="0B1F33"/>
            </a:solidFill>
            <a:prstDash val="solid"/>
            <a:tailEnd type="triangle"/>
          </a:ln>
        </p:spPr>
      </p:sp>
      <p:sp>
        <p:nvSpPr>
          <p:cNvPr id="22" name="Shape 20"/>
          <p:cNvSpPr/>
          <p:nvPr/>
        </p:nvSpPr>
        <p:spPr>
          <a:xfrm>
            <a:off x="8503920" y="3360420"/>
            <a:ext cx="731520" cy="0"/>
          </a:xfrm>
          <a:prstGeom prst="line">
            <a:avLst/>
          </a:prstGeom>
          <a:noFill/>
          <a:ln w="25400">
            <a:solidFill>
              <a:srgbClr val="0B1F33"/>
            </a:solidFill>
            <a:prstDash val="solid"/>
            <a:tailEnd type="triangle"/>
          </a:ln>
        </p:spPr>
      </p:sp>
      <p:sp>
        <p:nvSpPr>
          <p:cNvPr id="23" name="Text 21"/>
          <p:cNvSpPr/>
          <p:nvPr/>
        </p:nvSpPr>
        <p:spPr>
          <a:xfrm>
            <a:off x="2560320" y="2331720"/>
            <a:ext cx="731520" cy="274320"/>
          </a:xfrm>
          <a:prstGeom prst="rect">
            <a:avLst/>
          </a:prstGeom>
          <a:noFill/>
          <a:ln/>
        </p:spPr>
        <p:txBody>
          <a:bodyPr wrap="square" lIns="0" tIns="0" rIns="0" bIns="0" rtlCol="0" anchor="ctr"/>
          <a:lstStyle/>
          <a:p>
            <a:pPr algn="ctr" indent="0" marL="0">
              <a:buNone/>
            </a:pPr>
            <a:r>
              <a:rPr lang="en-US" sz="1000" dirty="0">
                <a:solidFill>
                  <a:srgbClr val="5B6B7A"/>
                </a:solidFill>
                <a:latin typeface="Segoe UI" pitchFamily="34" charset="0"/>
                <a:ea typeface="Segoe UI" pitchFamily="34" charset="-122"/>
                <a:cs typeface="Segoe UI" pitchFamily="34" charset="-120"/>
              </a:rPr>
              <a:t>JDBC</a:t>
            </a:r>
            <a:endParaRPr lang="en-US" sz="1000" dirty="0"/>
          </a:p>
        </p:txBody>
      </p:sp>
      <p:sp>
        <p:nvSpPr>
          <p:cNvPr id="24" name="Text 22"/>
          <p:cNvSpPr/>
          <p:nvPr/>
        </p:nvSpPr>
        <p:spPr>
          <a:xfrm>
            <a:off x="2560320" y="3749040"/>
            <a:ext cx="731520" cy="274320"/>
          </a:xfrm>
          <a:prstGeom prst="rect">
            <a:avLst/>
          </a:prstGeom>
          <a:noFill/>
          <a:ln/>
        </p:spPr>
        <p:txBody>
          <a:bodyPr wrap="square" lIns="0" tIns="0" rIns="0" bIns="0" rtlCol="0" anchor="ctr"/>
          <a:lstStyle/>
          <a:p>
            <a:pPr algn="ctr" indent="0" marL="0">
              <a:buNone/>
            </a:pPr>
            <a:r>
              <a:rPr lang="en-US" sz="1000" dirty="0">
                <a:solidFill>
                  <a:srgbClr val="5B6B7A"/>
                </a:solidFill>
                <a:latin typeface="Segoe UI" pitchFamily="34" charset="0"/>
                <a:ea typeface="Segoe UI" pitchFamily="34" charset="-122"/>
                <a:cs typeface="Segoe UI" pitchFamily="34" charset="-120"/>
              </a:rPr>
              <a:t>Shortcut</a:t>
            </a:r>
            <a:endParaRPr lang="en-US" sz="1000" dirty="0"/>
          </a:p>
        </p:txBody>
      </p:sp>
      <p:sp>
        <p:nvSpPr>
          <p:cNvPr id="25" name="Text 23"/>
          <p:cNvSpPr/>
          <p:nvPr/>
        </p:nvSpPr>
        <p:spPr>
          <a:xfrm>
            <a:off x="5532120" y="2834640"/>
            <a:ext cx="731520" cy="457200"/>
          </a:xfrm>
          <a:prstGeom prst="rect">
            <a:avLst/>
          </a:prstGeom>
          <a:noFill/>
          <a:ln/>
        </p:spPr>
        <p:txBody>
          <a:bodyPr wrap="square" lIns="0" tIns="0" rIns="0" bIns="0" rtlCol="0" anchor="ctr"/>
          <a:lstStyle/>
          <a:p>
            <a:pPr algn="ctr" indent="0" marL="0">
              <a:buNone/>
            </a:pPr>
            <a:r>
              <a:rPr lang="en-US" sz="1000" b="1" dirty="0">
                <a:solidFill>
                  <a:srgbClr val="5B6B7A"/>
                </a:solidFill>
                <a:latin typeface="Segoe UI" pitchFamily="34" charset="0"/>
                <a:ea typeface="Segoe UI" pitchFamily="34" charset="-122"/>
                <a:cs typeface="Segoe UI" pitchFamily="34" charset="-120"/>
              </a:rPr>
              <a:t>Spark</a:t>
            </a:r>
            <a:endParaRPr lang="en-US" sz="1000" dirty="0"/>
          </a:p>
        </p:txBody>
      </p:sp>
      <p:sp>
        <p:nvSpPr>
          <p:cNvPr id="26" name="Text 24"/>
          <p:cNvSpPr/>
          <p:nvPr/>
        </p:nvSpPr>
        <p:spPr>
          <a:xfrm>
            <a:off x="8503920" y="2834640"/>
            <a:ext cx="731520" cy="457200"/>
          </a:xfrm>
          <a:prstGeom prst="rect">
            <a:avLst/>
          </a:prstGeom>
          <a:noFill/>
          <a:ln/>
        </p:spPr>
        <p:txBody>
          <a:bodyPr wrap="square" lIns="0" tIns="0" rIns="0" bIns="0" rtlCol="0" anchor="ctr"/>
          <a:lstStyle/>
          <a:p>
            <a:pPr algn="ctr" indent="0" marL="0">
              <a:buNone/>
            </a:pPr>
            <a:r>
              <a:rPr lang="en-US" sz="1000" b="1" dirty="0">
                <a:solidFill>
                  <a:srgbClr val="5B6B7A"/>
                </a:solidFill>
                <a:latin typeface="Segoe UI" pitchFamily="34" charset="0"/>
                <a:ea typeface="Segoe UI" pitchFamily="34" charset="-122"/>
                <a:cs typeface="Segoe UI" pitchFamily="34" charset="-120"/>
              </a:rPr>
              <a:t>T-SQL</a:t>
            </a:r>
            <a:endParaRPr lang="en-US" sz="1000" dirty="0"/>
          </a:p>
          <a:p>
            <a:pPr algn="ctr" indent="0" marL="0">
              <a:buNone/>
            </a:pPr>
            <a:r>
              <a:rPr lang="en-US" sz="1000" dirty="0">
                <a:solidFill>
                  <a:srgbClr val="5B6B7A"/>
                </a:solidFill>
                <a:latin typeface="Segoe UI" pitchFamily="34" charset="0"/>
                <a:ea typeface="Segoe UI" pitchFamily="34" charset="-122"/>
                <a:cs typeface="Segoe UI" pitchFamily="34" charset="-120"/>
              </a:rPr>
              <a:t>cross-item</a:t>
            </a:r>
            <a:endParaRPr lang="en-US" sz="1000" dirty="0"/>
          </a:p>
        </p:txBody>
      </p:sp>
      <p:sp>
        <p:nvSpPr>
          <p:cNvPr id="27" name="Shape 25"/>
          <p:cNvSpPr/>
          <p:nvPr/>
        </p:nvSpPr>
        <p:spPr>
          <a:xfrm>
            <a:off x="3291840" y="5257800"/>
            <a:ext cx="2240280" cy="777240"/>
          </a:xfrm>
          <a:prstGeom prst="rect">
            <a:avLst/>
          </a:prstGeom>
          <a:solidFill>
            <a:srgbClr val="DDF0F2"/>
          </a:solidFill>
          <a:ln w="12700">
            <a:solidFill>
              <a:srgbClr val="0E7C86"/>
            </a:solidFill>
            <a:prstDash val="dash"/>
          </a:ln>
        </p:spPr>
      </p:sp>
      <p:sp>
        <p:nvSpPr>
          <p:cNvPr id="28" name="Text 26"/>
          <p:cNvSpPr/>
          <p:nvPr/>
        </p:nvSpPr>
        <p:spPr>
          <a:xfrm>
            <a:off x="3429000" y="5257800"/>
            <a:ext cx="2011680" cy="777240"/>
          </a:xfrm>
          <a:prstGeom prst="rect">
            <a:avLst/>
          </a:prstGeom>
          <a:noFill/>
          <a:ln/>
        </p:spPr>
        <p:txBody>
          <a:bodyPr wrap="square" lIns="0" tIns="0" rIns="0" bIns="0" rtlCol="0" anchor="ctr"/>
          <a:lstStyle/>
          <a:p>
            <a:pPr indent="0" marL="0">
              <a:buNone/>
            </a:pPr>
            <a:r>
              <a:rPr lang="en-US" sz="1250" dirty="0">
                <a:solidFill>
                  <a:srgbClr val="0B1F33"/>
                </a:solidFill>
                <a:latin typeface="Segoe UI Semibold" pitchFamily="34" charset="0"/>
                <a:ea typeface="Segoe UI Semibold" pitchFamily="34" charset="-122"/>
                <a:cs typeface="Segoe UI Semibold" pitchFamily="34" charset="-120"/>
              </a:rPr>
              <a:t>wh_migrated_synapse</a:t>
            </a:r>
            <a:endParaRPr lang="en-US" sz="1250" dirty="0"/>
          </a:p>
          <a:p>
            <a:pPr indent="0" marL="0">
              <a:buNone/>
            </a:pPr>
            <a:r>
              <a:rPr lang="en-US" sz="1100" dirty="0">
                <a:solidFill>
                  <a:srgbClr val="5B6B7A"/>
                </a:solidFill>
                <a:latin typeface="Segoe UI" pitchFamily="34" charset="0"/>
                <a:ea typeface="Segoe UI" pitchFamily="34" charset="-122"/>
                <a:cs typeface="Segoe UI" pitchFamily="34" charset="-120"/>
              </a:rPr>
              <a:t>migration target</a:t>
            </a:r>
            <a:endParaRPr lang="en-US" sz="1250" dirty="0"/>
          </a:p>
        </p:txBody>
      </p:sp>
      <p:sp>
        <p:nvSpPr>
          <p:cNvPr id="29" name="Shape 27"/>
          <p:cNvSpPr/>
          <p:nvPr/>
        </p:nvSpPr>
        <p:spPr>
          <a:xfrm>
            <a:off x="4407408" y="4663440"/>
            <a:ext cx="0" cy="594360"/>
          </a:xfrm>
          <a:prstGeom prst="line">
            <a:avLst/>
          </a:prstGeom>
          <a:noFill/>
          <a:ln w="25400">
            <a:solidFill>
              <a:srgbClr val="0E7C86"/>
            </a:solidFill>
            <a:prstDash val="dash"/>
            <a:tailEnd type="triangle"/>
          </a:ln>
        </p:spPr>
      </p:sp>
      <p:sp>
        <p:nvSpPr>
          <p:cNvPr id="30" name="Shape 28"/>
          <p:cNvSpPr/>
          <p:nvPr/>
        </p:nvSpPr>
        <p:spPr>
          <a:xfrm>
            <a:off x="9235440" y="5257800"/>
            <a:ext cx="2404872" cy="777240"/>
          </a:xfrm>
          <a:prstGeom prst="rect">
            <a:avLst/>
          </a:prstGeom>
          <a:solidFill>
            <a:srgbClr val="0B1F33"/>
          </a:solidFill>
          <a:ln w="12700">
            <a:solidFill>
              <a:srgbClr val="0B1F33"/>
            </a:solidFill>
            <a:prstDash val="solid"/>
          </a:ln>
        </p:spPr>
      </p:sp>
      <p:sp>
        <p:nvSpPr>
          <p:cNvPr id="31" name="Text 29"/>
          <p:cNvSpPr/>
          <p:nvPr/>
        </p:nvSpPr>
        <p:spPr>
          <a:xfrm>
            <a:off x="9372600" y="5257800"/>
            <a:ext cx="2194560" cy="777240"/>
          </a:xfrm>
          <a:prstGeom prst="rect">
            <a:avLst/>
          </a:prstGeom>
          <a:noFill/>
          <a:ln/>
        </p:spPr>
        <p:txBody>
          <a:bodyPr wrap="square" lIns="0" tIns="0" rIns="0" bIns="0" rtlCol="0" anchor="ctr"/>
          <a:lstStyle/>
          <a:p>
            <a:pPr indent="0" marL="0">
              <a:buNone/>
            </a:pPr>
            <a:r>
              <a:rPr lang="en-US" sz="1250" dirty="0">
                <a:solidFill>
                  <a:srgbClr val="FFFFFF"/>
                </a:solidFill>
                <a:latin typeface="Segoe UI Semibold" pitchFamily="34" charset="0"/>
                <a:ea typeface="Segoe UI Semibold" pitchFamily="34" charset="-122"/>
                <a:cs typeface="Segoe UI Semibold" pitchFamily="34" charset="-120"/>
              </a:rPr>
              <a:t>Power BI and analysts</a:t>
            </a:r>
            <a:endParaRPr lang="en-US" sz="1250" dirty="0"/>
          </a:p>
          <a:p>
            <a:pPr indent="0" marL="0">
              <a:buNone/>
            </a:pPr>
            <a:r>
              <a:rPr lang="en-US" sz="1100" dirty="0">
                <a:solidFill>
                  <a:srgbClr val="C9D6E3"/>
                </a:solidFill>
                <a:latin typeface="Segoe UI" pitchFamily="34" charset="0"/>
                <a:ea typeface="Segoe UI" pitchFamily="34" charset="-122"/>
                <a:cs typeface="Segoe UI" pitchFamily="34" charset="-120"/>
              </a:rPr>
              <a:t>Direct Lake or DirectQuery</a:t>
            </a:r>
            <a:endParaRPr lang="en-US" sz="1250" dirty="0"/>
          </a:p>
        </p:txBody>
      </p:sp>
      <p:sp>
        <p:nvSpPr>
          <p:cNvPr id="32" name="Shape 30"/>
          <p:cNvSpPr/>
          <p:nvPr/>
        </p:nvSpPr>
        <p:spPr>
          <a:xfrm>
            <a:off x="10424160" y="4663440"/>
            <a:ext cx="0" cy="594360"/>
          </a:xfrm>
          <a:prstGeom prst="line">
            <a:avLst/>
          </a:prstGeom>
          <a:noFill/>
          <a:ln w="25400">
            <a:solidFill>
              <a:srgbClr val="0B1F33"/>
            </a:solidFill>
            <a:prstDash val="solid"/>
            <a:tailEnd type="triangle"/>
          </a:ln>
        </p:spPr>
      </p:sp>
      <p:sp>
        <p:nvSpPr>
          <p:cNvPr id="33" name="Text 31"/>
          <p:cNvSpPr/>
          <p:nvPr/>
        </p:nvSpPr>
        <p:spPr>
          <a:xfrm>
            <a:off x="6263640" y="5257800"/>
            <a:ext cx="2240280" cy="777240"/>
          </a:xfrm>
          <a:prstGeom prst="rect">
            <a:avLst/>
          </a:prstGeom>
          <a:noFill/>
          <a:ln/>
        </p:spPr>
        <p:txBody>
          <a:bodyPr wrap="square" lIns="0" tIns="0" rIns="0" bIns="0" rtlCol="0" anchor="ctr"/>
          <a:lstStyle/>
          <a:p>
            <a:pPr indent="0" marL="0">
              <a:buNone/>
            </a:pPr>
            <a:r>
              <a:rPr lang="en-US" sz="1150" dirty="0">
                <a:solidFill>
                  <a:srgbClr val="5B6B7A"/>
                </a:solidFill>
                <a:latin typeface="Segoe UI" pitchFamily="34" charset="0"/>
                <a:ea typeface="Segoe UI" pitchFamily="34" charset="-122"/>
                <a:cs typeface="Segoe UI" pitchFamily="34" charset="-120"/>
              </a:rPr>
              <a:t>Runs in pl_medallion_daily: nb_02, then nb_04</a:t>
            </a:r>
            <a:endParaRPr lang="en-US" sz="1150" dirty="0"/>
          </a:p>
        </p:txBody>
      </p:sp>
      <p:sp>
        <p:nvSpPr>
          <p:cNvPr id="34" name="Text 32"/>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35" name="Text 33"/>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6 · 10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Each layer has a contract; quality gates gold</a:t>
            </a:r>
            <a:endParaRPr lang="en-US" sz="3000" dirty="0"/>
          </a:p>
        </p:txBody>
      </p:sp>
      <p:sp>
        <p:nvSpPr>
          <p:cNvPr id="5" name="Shape 3"/>
          <p:cNvSpPr/>
          <p:nvPr/>
        </p:nvSpPr>
        <p:spPr>
          <a:xfrm>
            <a:off x="548640" y="1691640"/>
            <a:ext cx="2103120" cy="914400"/>
          </a:xfrm>
          <a:prstGeom prst="rect">
            <a:avLst/>
          </a:prstGeom>
          <a:solidFill>
            <a:srgbClr val="A65E2E"/>
          </a:solidFill>
          <a:ln w="12700">
            <a:solidFill>
              <a:srgbClr val="A65E2E"/>
            </a:solidFill>
            <a:prstDash val="solid"/>
          </a:ln>
        </p:spPr>
      </p:sp>
      <p:sp>
        <p:nvSpPr>
          <p:cNvPr id="6" name="Text 4"/>
          <p:cNvSpPr/>
          <p:nvPr/>
        </p:nvSpPr>
        <p:spPr>
          <a:xfrm>
            <a:off x="777240" y="1691640"/>
            <a:ext cx="1828800" cy="914400"/>
          </a:xfrm>
          <a:prstGeom prst="rect">
            <a:avLst/>
          </a:prstGeom>
          <a:noFill/>
          <a:ln/>
        </p:spPr>
        <p:txBody>
          <a:bodyPr wrap="square" lIns="0" tIns="0" rIns="0" bIns="0" rtlCol="0" anchor="ctr"/>
          <a:lstStyle/>
          <a:p>
            <a:pPr indent="0" marL="0">
              <a:buNone/>
            </a:pPr>
            <a:r>
              <a:rPr lang="en-US" sz="2000" dirty="0">
                <a:solidFill>
                  <a:srgbClr val="FFFFFF"/>
                </a:solidFill>
                <a:latin typeface="Segoe UI Semibold" pitchFamily="34" charset="0"/>
                <a:ea typeface="Segoe UI Semibold" pitchFamily="34" charset="-122"/>
                <a:cs typeface="Segoe UI Semibold" pitchFamily="34" charset="-120"/>
              </a:rPr>
              <a:t>Bronze</a:t>
            </a:r>
            <a:endParaRPr lang="en-US" sz="2000" dirty="0"/>
          </a:p>
          <a:p>
            <a:pPr indent="0" marL="0">
              <a:buNone/>
            </a:pPr>
            <a:r>
              <a:rPr lang="en-US" sz="1150" dirty="0">
                <a:solidFill>
                  <a:srgbClr val="FFFFFF"/>
                </a:solidFill>
                <a:latin typeface="Segoe UI" pitchFamily="34" charset="0"/>
                <a:ea typeface="Segoe UI" pitchFamily="34" charset="-122"/>
                <a:cs typeface="Segoe UI" pitchFamily="34" charset="-120"/>
              </a:rPr>
              <a:t>lh_bronze · Spark, Delta</a:t>
            </a:r>
            <a:endParaRPr lang="en-US" sz="2000" dirty="0"/>
          </a:p>
        </p:txBody>
      </p:sp>
      <p:sp>
        <p:nvSpPr>
          <p:cNvPr id="7" name="Shape 5"/>
          <p:cNvSpPr/>
          <p:nvPr/>
        </p:nvSpPr>
        <p:spPr>
          <a:xfrm>
            <a:off x="2651760" y="1691640"/>
            <a:ext cx="8988552" cy="91440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8" name="Text 6"/>
          <p:cNvSpPr/>
          <p:nvPr/>
        </p:nvSpPr>
        <p:spPr>
          <a:xfrm>
            <a:off x="2880360" y="1819656"/>
            <a:ext cx="4069080" cy="731520"/>
          </a:xfrm>
          <a:prstGeom prst="rect">
            <a:avLst/>
          </a:prstGeom>
          <a:noFill/>
          <a:ln/>
        </p:spPr>
        <p:txBody>
          <a:bodyPr wrap="square" lIns="0" tIns="0" rIns="0" bIns="0" rtlCol="0" anchor="t"/>
          <a:lstStyle/>
          <a:p>
            <a:pPr indent="0" marL="0">
              <a:buNone/>
            </a:pPr>
            <a:r>
              <a:rPr lang="en-US" sz="1000" b="1" dirty="0">
                <a:solidFill>
                  <a:srgbClr val="5B6B7A"/>
                </a:solidFill>
                <a:latin typeface="Segoe UI" pitchFamily="34" charset="0"/>
                <a:ea typeface="Segoe UI" pitchFamily="34" charset="-122"/>
                <a:cs typeface="Segoe UI" pitchFamily="34" charset="-120"/>
              </a:rPr>
              <a:t>CONTRACT</a:t>
            </a:r>
            <a:endParaRPr lang="en-US" sz="1000" dirty="0"/>
          </a:p>
          <a:p>
            <a:pPr indent="0" marL="0">
              <a:buNone/>
            </a:pPr>
            <a:r>
              <a:rPr lang="en-US" sz="1400" dirty="0">
                <a:solidFill>
                  <a:srgbClr val="1B2733"/>
                </a:solidFill>
                <a:latin typeface="Segoe UI" pitchFamily="34" charset="0"/>
                <a:ea typeface="Segoe UI" pitchFamily="34" charset="-122"/>
                <a:cs typeface="Segoe UI" pitchFamily="34" charset="-120"/>
              </a:rPr>
              <a:t>Data as received. Append-friendly. No business rules.</a:t>
            </a:r>
            <a:endParaRPr lang="en-US" sz="1000" dirty="0"/>
          </a:p>
        </p:txBody>
      </p:sp>
      <p:sp>
        <p:nvSpPr>
          <p:cNvPr id="9" name="Shape 7"/>
          <p:cNvSpPr/>
          <p:nvPr/>
        </p:nvSpPr>
        <p:spPr>
          <a:xfrm>
            <a:off x="7132320" y="1828800"/>
            <a:ext cx="18288" cy="640080"/>
          </a:xfrm>
          <a:prstGeom prst="rect">
            <a:avLst/>
          </a:prstGeom>
          <a:solidFill>
            <a:srgbClr val="D5DDE6"/>
          </a:solidFill>
          <a:ln w="12700">
            <a:solidFill>
              <a:srgbClr val="D5DDE6"/>
            </a:solidFill>
            <a:prstDash val="solid"/>
          </a:ln>
        </p:spPr>
      </p:sp>
      <p:sp>
        <p:nvSpPr>
          <p:cNvPr id="10" name="Text 8"/>
          <p:cNvSpPr/>
          <p:nvPr/>
        </p:nvSpPr>
        <p:spPr>
          <a:xfrm>
            <a:off x="7360920" y="1819656"/>
            <a:ext cx="4114800" cy="731520"/>
          </a:xfrm>
          <a:prstGeom prst="rect">
            <a:avLst/>
          </a:prstGeom>
          <a:noFill/>
          <a:ln/>
        </p:spPr>
        <p:txBody>
          <a:bodyPr wrap="square" lIns="0" tIns="0" rIns="0" bIns="0" rtlCol="0" anchor="t"/>
          <a:lstStyle/>
          <a:p>
            <a:pPr indent="0" marL="0">
              <a:buNone/>
            </a:pPr>
            <a:r>
              <a:rPr lang="en-US" sz="1000" b="1" dirty="0">
                <a:solidFill>
                  <a:srgbClr val="5B6B7A"/>
                </a:solidFill>
                <a:latin typeface="Segoe UI" pitchFamily="34" charset="0"/>
                <a:ea typeface="Segoe UI" pitchFamily="34" charset="-122"/>
                <a:cs typeface="Segoe UI" pitchFamily="34" charset="-120"/>
              </a:rPr>
              <a:t>EVIDENCE FROM THE BUILD</a:t>
            </a:r>
            <a:endParaRPr lang="en-US" sz="1000" dirty="0"/>
          </a:p>
          <a:p>
            <a:pPr indent="0" marL="0">
              <a:buNone/>
            </a:pPr>
            <a:r>
              <a:rPr lang="en-US" sz="1400" dirty="0">
                <a:solidFill>
                  <a:srgbClr val="1B2733"/>
                </a:solidFill>
                <a:latin typeface="Segoe UI" pitchFamily="34" charset="0"/>
                <a:ea typeface="Segoe UI" pitchFamily="34" charset="-122"/>
                <a:cs typeface="Segoe UI" pitchFamily="34" charset="-120"/>
              </a:rPr>
              <a:t>100,000,000 fact rows landed from Synapse, read in 16 parallel partitions.</a:t>
            </a:r>
            <a:endParaRPr lang="en-US" sz="1000" dirty="0"/>
          </a:p>
        </p:txBody>
      </p:sp>
      <p:sp>
        <p:nvSpPr>
          <p:cNvPr id="11" name="Shape 9"/>
          <p:cNvSpPr/>
          <p:nvPr/>
        </p:nvSpPr>
        <p:spPr>
          <a:xfrm>
            <a:off x="548640" y="2743200"/>
            <a:ext cx="2103120" cy="914400"/>
          </a:xfrm>
          <a:prstGeom prst="rect">
            <a:avLst/>
          </a:prstGeom>
          <a:solidFill>
            <a:srgbClr val="5F6B7A"/>
          </a:solidFill>
          <a:ln w="12700">
            <a:solidFill>
              <a:srgbClr val="5F6B7A"/>
            </a:solidFill>
            <a:prstDash val="solid"/>
          </a:ln>
        </p:spPr>
      </p:sp>
      <p:sp>
        <p:nvSpPr>
          <p:cNvPr id="12" name="Text 10"/>
          <p:cNvSpPr/>
          <p:nvPr/>
        </p:nvSpPr>
        <p:spPr>
          <a:xfrm>
            <a:off x="777240" y="2743200"/>
            <a:ext cx="1828800" cy="914400"/>
          </a:xfrm>
          <a:prstGeom prst="rect">
            <a:avLst/>
          </a:prstGeom>
          <a:noFill/>
          <a:ln/>
        </p:spPr>
        <p:txBody>
          <a:bodyPr wrap="square" lIns="0" tIns="0" rIns="0" bIns="0" rtlCol="0" anchor="ctr"/>
          <a:lstStyle/>
          <a:p>
            <a:pPr indent="0" marL="0">
              <a:buNone/>
            </a:pPr>
            <a:r>
              <a:rPr lang="en-US" sz="2000" dirty="0">
                <a:solidFill>
                  <a:srgbClr val="FFFFFF"/>
                </a:solidFill>
                <a:latin typeface="Segoe UI Semibold" pitchFamily="34" charset="0"/>
                <a:ea typeface="Segoe UI Semibold" pitchFamily="34" charset="-122"/>
                <a:cs typeface="Segoe UI Semibold" pitchFamily="34" charset="-120"/>
              </a:rPr>
              <a:t>Silver</a:t>
            </a:r>
            <a:endParaRPr lang="en-US" sz="2000" dirty="0"/>
          </a:p>
          <a:p>
            <a:pPr indent="0" marL="0">
              <a:buNone/>
            </a:pPr>
            <a:r>
              <a:rPr lang="en-US" sz="1150" dirty="0">
                <a:solidFill>
                  <a:srgbClr val="FFFFFF"/>
                </a:solidFill>
                <a:latin typeface="Segoe UI" pitchFamily="34" charset="0"/>
                <a:ea typeface="Segoe UI" pitchFamily="34" charset="-122"/>
                <a:cs typeface="Segoe UI" pitchFamily="34" charset="-120"/>
              </a:rPr>
              <a:t>lh_silver · Spark, Delta</a:t>
            </a:r>
            <a:endParaRPr lang="en-US" sz="2000" dirty="0"/>
          </a:p>
        </p:txBody>
      </p:sp>
      <p:sp>
        <p:nvSpPr>
          <p:cNvPr id="13" name="Shape 11"/>
          <p:cNvSpPr/>
          <p:nvPr/>
        </p:nvSpPr>
        <p:spPr>
          <a:xfrm>
            <a:off x="2651760" y="2743200"/>
            <a:ext cx="8988552" cy="91440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4" name="Text 12"/>
          <p:cNvSpPr/>
          <p:nvPr/>
        </p:nvSpPr>
        <p:spPr>
          <a:xfrm>
            <a:off x="2880360" y="2871216"/>
            <a:ext cx="4069080" cy="731520"/>
          </a:xfrm>
          <a:prstGeom prst="rect">
            <a:avLst/>
          </a:prstGeom>
          <a:noFill/>
          <a:ln/>
        </p:spPr>
        <p:txBody>
          <a:bodyPr wrap="square" lIns="0" tIns="0" rIns="0" bIns="0" rtlCol="0" anchor="t"/>
          <a:lstStyle/>
          <a:p>
            <a:pPr indent="0" marL="0">
              <a:buNone/>
            </a:pPr>
            <a:r>
              <a:rPr lang="en-US" sz="1000" b="1" dirty="0">
                <a:solidFill>
                  <a:srgbClr val="5B6B7A"/>
                </a:solidFill>
                <a:latin typeface="Segoe UI" pitchFamily="34" charset="0"/>
                <a:ea typeface="Segoe UI" pitchFamily="34" charset="-122"/>
                <a:cs typeface="Segoe UI" pitchFamily="34" charset="-120"/>
              </a:rPr>
              <a:t>CONTRACT</a:t>
            </a:r>
            <a:endParaRPr lang="en-US" sz="1000" dirty="0"/>
          </a:p>
          <a:p>
            <a:pPr indent="0" marL="0">
              <a:buNone/>
            </a:pPr>
            <a:r>
              <a:rPr lang="en-US" sz="1400" dirty="0">
                <a:solidFill>
                  <a:srgbClr val="1B2733"/>
                </a:solidFill>
                <a:latin typeface="Segoe UI" pitchFamily="34" charset="0"/>
                <a:ea typeface="Segoe UI" pitchFamily="34" charset="-122"/>
                <a:cs typeface="Segoe UI" pitchFamily="34" charset="-120"/>
              </a:rPr>
              <a:t>Typed, de-duplicated, validated. MERGE on business keys.</a:t>
            </a:r>
            <a:endParaRPr lang="en-US" sz="1000" dirty="0"/>
          </a:p>
        </p:txBody>
      </p:sp>
      <p:sp>
        <p:nvSpPr>
          <p:cNvPr id="15" name="Shape 13"/>
          <p:cNvSpPr/>
          <p:nvPr/>
        </p:nvSpPr>
        <p:spPr>
          <a:xfrm>
            <a:off x="7132320" y="2880360"/>
            <a:ext cx="18288" cy="640080"/>
          </a:xfrm>
          <a:prstGeom prst="rect">
            <a:avLst/>
          </a:prstGeom>
          <a:solidFill>
            <a:srgbClr val="D5DDE6"/>
          </a:solidFill>
          <a:ln w="12700">
            <a:solidFill>
              <a:srgbClr val="D5DDE6"/>
            </a:solidFill>
            <a:prstDash val="solid"/>
          </a:ln>
        </p:spPr>
      </p:sp>
      <p:sp>
        <p:nvSpPr>
          <p:cNvPr id="16" name="Text 14"/>
          <p:cNvSpPr/>
          <p:nvPr/>
        </p:nvSpPr>
        <p:spPr>
          <a:xfrm>
            <a:off x="7360920" y="2871216"/>
            <a:ext cx="4114800" cy="731520"/>
          </a:xfrm>
          <a:prstGeom prst="rect">
            <a:avLst/>
          </a:prstGeom>
          <a:noFill/>
          <a:ln/>
        </p:spPr>
        <p:txBody>
          <a:bodyPr wrap="square" lIns="0" tIns="0" rIns="0" bIns="0" rtlCol="0" anchor="t"/>
          <a:lstStyle/>
          <a:p>
            <a:pPr indent="0" marL="0">
              <a:buNone/>
            </a:pPr>
            <a:r>
              <a:rPr lang="en-US" sz="1000" b="1" dirty="0">
                <a:solidFill>
                  <a:srgbClr val="5B6B7A"/>
                </a:solidFill>
                <a:latin typeface="Segoe UI" pitchFamily="34" charset="0"/>
                <a:ea typeface="Segoe UI" pitchFamily="34" charset="-122"/>
                <a:cs typeface="Segoe UI" pitchFamily="34" charset="-120"/>
              </a:rPr>
              <a:t>EVIDENCE FROM THE BUILD</a:t>
            </a:r>
            <a:endParaRPr lang="en-US" sz="1000" dirty="0"/>
          </a:p>
          <a:p>
            <a:pPr indent="0" marL="0">
              <a:buNone/>
            </a:pPr>
            <a:r>
              <a:rPr lang="en-US" sz="1400" dirty="0">
                <a:solidFill>
                  <a:srgbClr val="1B2733"/>
                </a:solidFill>
                <a:latin typeface="Segoe UI" pitchFamily="34" charset="0"/>
                <a:ea typeface="Segoe UI" pitchFamily="34" charset="-122"/>
                <a:cs typeface="Segoe UI" pitchFamily="34" charset="-120"/>
              </a:rPr>
              <a:t>silver.customers holds 50,000 rows with 50,000 distinct keys after the fix.</a:t>
            </a:r>
            <a:endParaRPr lang="en-US" sz="1000" dirty="0"/>
          </a:p>
        </p:txBody>
      </p:sp>
      <p:sp>
        <p:nvSpPr>
          <p:cNvPr id="17" name="Shape 15"/>
          <p:cNvSpPr/>
          <p:nvPr/>
        </p:nvSpPr>
        <p:spPr>
          <a:xfrm>
            <a:off x="548640" y="3794760"/>
            <a:ext cx="2103120" cy="914400"/>
          </a:xfrm>
          <a:prstGeom prst="rect">
            <a:avLst/>
          </a:prstGeom>
          <a:solidFill>
            <a:srgbClr val="9A6F0C"/>
          </a:solidFill>
          <a:ln w="12700">
            <a:solidFill>
              <a:srgbClr val="9A6F0C"/>
            </a:solidFill>
            <a:prstDash val="solid"/>
          </a:ln>
        </p:spPr>
      </p:sp>
      <p:sp>
        <p:nvSpPr>
          <p:cNvPr id="18" name="Text 16"/>
          <p:cNvSpPr/>
          <p:nvPr/>
        </p:nvSpPr>
        <p:spPr>
          <a:xfrm>
            <a:off x="777240" y="3794760"/>
            <a:ext cx="1828800" cy="914400"/>
          </a:xfrm>
          <a:prstGeom prst="rect">
            <a:avLst/>
          </a:prstGeom>
          <a:noFill/>
          <a:ln/>
        </p:spPr>
        <p:txBody>
          <a:bodyPr wrap="square" lIns="0" tIns="0" rIns="0" bIns="0" rtlCol="0" anchor="ctr"/>
          <a:lstStyle/>
          <a:p>
            <a:pPr indent="0" marL="0">
              <a:buNone/>
            </a:pPr>
            <a:r>
              <a:rPr lang="en-US" sz="2000" dirty="0">
                <a:solidFill>
                  <a:srgbClr val="FFFFFF"/>
                </a:solidFill>
                <a:latin typeface="Segoe UI Semibold" pitchFamily="34" charset="0"/>
                <a:ea typeface="Segoe UI Semibold" pitchFamily="34" charset="-122"/>
                <a:cs typeface="Segoe UI Semibold" pitchFamily="34" charset="-120"/>
              </a:rPr>
              <a:t>Gold</a:t>
            </a:r>
            <a:endParaRPr lang="en-US" sz="2000" dirty="0"/>
          </a:p>
          <a:p>
            <a:pPr indent="0" marL="0">
              <a:buNone/>
            </a:pPr>
            <a:r>
              <a:rPr lang="en-US" sz="1150" dirty="0">
                <a:solidFill>
                  <a:srgbClr val="FFFFFF"/>
                </a:solidFill>
                <a:latin typeface="Segoe UI" pitchFamily="34" charset="0"/>
                <a:ea typeface="Segoe UI" pitchFamily="34" charset="-122"/>
                <a:cs typeface="Segoe UI" pitchFamily="34" charset="-120"/>
              </a:rPr>
              <a:t>wh_gold · T-SQL</a:t>
            </a:r>
            <a:endParaRPr lang="en-US" sz="2000" dirty="0"/>
          </a:p>
        </p:txBody>
      </p:sp>
      <p:sp>
        <p:nvSpPr>
          <p:cNvPr id="19" name="Shape 17"/>
          <p:cNvSpPr/>
          <p:nvPr/>
        </p:nvSpPr>
        <p:spPr>
          <a:xfrm>
            <a:off x="2651760" y="3794760"/>
            <a:ext cx="8988552" cy="91440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20" name="Text 18"/>
          <p:cNvSpPr/>
          <p:nvPr/>
        </p:nvSpPr>
        <p:spPr>
          <a:xfrm>
            <a:off x="2880360" y="3922776"/>
            <a:ext cx="4069080" cy="731520"/>
          </a:xfrm>
          <a:prstGeom prst="rect">
            <a:avLst/>
          </a:prstGeom>
          <a:noFill/>
          <a:ln/>
        </p:spPr>
        <p:txBody>
          <a:bodyPr wrap="square" lIns="0" tIns="0" rIns="0" bIns="0" rtlCol="0" anchor="t"/>
          <a:lstStyle/>
          <a:p>
            <a:pPr indent="0" marL="0">
              <a:buNone/>
            </a:pPr>
            <a:r>
              <a:rPr lang="en-US" sz="1000" b="1" dirty="0">
                <a:solidFill>
                  <a:srgbClr val="5B6B7A"/>
                </a:solidFill>
                <a:latin typeface="Segoe UI" pitchFamily="34" charset="0"/>
                <a:ea typeface="Segoe UI" pitchFamily="34" charset="-122"/>
                <a:cs typeface="Segoe UI" pitchFamily="34" charset="-120"/>
              </a:rPr>
              <a:t>CONTRACT</a:t>
            </a:r>
            <a:endParaRPr lang="en-US" sz="1000" dirty="0"/>
          </a:p>
          <a:p>
            <a:pPr indent="0" marL="0">
              <a:buNone/>
            </a:pPr>
            <a:r>
              <a:rPr lang="en-US" sz="1400" dirty="0">
                <a:solidFill>
                  <a:srgbClr val="1B2733"/>
                </a:solidFill>
                <a:latin typeface="Segoe UI" pitchFamily="34" charset="0"/>
                <a:ea typeface="Segoe UI" pitchFamily="34" charset="-122"/>
                <a:cs typeface="Segoe UI" pitchFamily="34" charset="-120"/>
              </a:rPr>
              <a:t>Star schema, aggregates, and reporting views for BI.</a:t>
            </a:r>
            <a:endParaRPr lang="en-US" sz="1000" dirty="0"/>
          </a:p>
        </p:txBody>
      </p:sp>
      <p:sp>
        <p:nvSpPr>
          <p:cNvPr id="21" name="Shape 19"/>
          <p:cNvSpPr/>
          <p:nvPr/>
        </p:nvSpPr>
        <p:spPr>
          <a:xfrm>
            <a:off x="7132320" y="3931920"/>
            <a:ext cx="18288" cy="640080"/>
          </a:xfrm>
          <a:prstGeom prst="rect">
            <a:avLst/>
          </a:prstGeom>
          <a:solidFill>
            <a:srgbClr val="D5DDE6"/>
          </a:solidFill>
          <a:ln w="12700">
            <a:solidFill>
              <a:srgbClr val="D5DDE6"/>
            </a:solidFill>
            <a:prstDash val="solid"/>
          </a:ln>
        </p:spPr>
      </p:sp>
      <p:sp>
        <p:nvSpPr>
          <p:cNvPr id="22" name="Text 20"/>
          <p:cNvSpPr/>
          <p:nvPr/>
        </p:nvSpPr>
        <p:spPr>
          <a:xfrm>
            <a:off x="7360920" y="3922776"/>
            <a:ext cx="4114800" cy="731520"/>
          </a:xfrm>
          <a:prstGeom prst="rect">
            <a:avLst/>
          </a:prstGeom>
          <a:noFill/>
          <a:ln/>
        </p:spPr>
        <p:txBody>
          <a:bodyPr wrap="square" lIns="0" tIns="0" rIns="0" bIns="0" rtlCol="0" anchor="t"/>
          <a:lstStyle/>
          <a:p>
            <a:pPr indent="0" marL="0">
              <a:buNone/>
            </a:pPr>
            <a:r>
              <a:rPr lang="en-US" sz="1000" b="1" dirty="0">
                <a:solidFill>
                  <a:srgbClr val="5B6B7A"/>
                </a:solidFill>
                <a:latin typeface="Segoe UI" pitchFamily="34" charset="0"/>
                <a:ea typeface="Segoe UI" pitchFamily="34" charset="-122"/>
                <a:cs typeface="Segoe UI" pitchFamily="34" charset="-120"/>
              </a:rPr>
              <a:t>EVIDENCE FROM THE BUILD</a:t>
            </a:r>
            <a:endParaRPr lang="en-US" sz="1000" dirty="0"/>
          </a:p>
          <a:p>
            <a:pPr indent="0" marL="0">
              <a:buNone/>
            </a:pPr>
            <a:r>
              <a:rPr lang="en-US" sz="1400" dirty="0">
                <a:solidFill>
                  <a:srgbClr val="1B2733"/>
                </a:solidFill>
                <a:latin typeface="Segoe UI" pitchFamily="34" charset="0"/>
                <a:ea typeface="Segoe UI" pitchFamily="34" charset="-122"/>
                <a:cs typeface="Segoe UI" pitchFamily="34" charset="-120"/>
              </a:rPr>
              <a:t>2,000,000 large cash flags and 100,000,000 transactions, matching the source.</a:t>
            </a:r>
            <a:endParaRPr lang="en-US" sz="1000" dirty="0"/>
          </a:p>
        </p:txBody>
      </p:sp>
      <p:sp>
        <p:nvSpPr>
          <p:cNvPr id="23" name="Shape 21"/>
          <p:cNvSpPr/>
          <p:nvPr/>
        </p:nvSpPr>
        <p:spPr>
          <a:xfrm>
            <a:off x="548640" y="4937760"/>
            <a:ext cx="3575304" cy="11887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24" name="Shape 22"/>
          <p:cNvSpPr/>
          <p:nvPr/>
        </p:nvSpPr>
        <p:spPr>
          <a:xfrm>
            <a:off x="548640" y="4937760"/>
            <a:ext cx="73152" cy="1188720"/>
          </a:xfrm>
          <a:prstGeom prst="rect">
            <a:avLst/>
          </a:prstGeom>
          <a:solidFill>
            <a:srgbClr val="0E7C86"/>
          </a:solidFill>
          <a:ln w="12700">
            <a:solidFill>
              <a:srgbClr val="0E7C86"/>
            </a:solidFill>
            <a:prstDash val="solid"/>
          </a:ln>
        </p:spPr>
      </p:sp>
      <p:sp>
        <p:nvSpPr>
          <p:cNvPr id="25" name="Text 23"/>
          <p:cNvSpPr/>
          <p:nvPr/>
        </p:nvSpPr>
        <p:spPr>
          <a:xfrm>
            <a:off x="822960" y="5074920"/>
            <a:ext cx="3118104" cy="365760"/>
          </a:xfrm>
          <a:prstGeom prst="rect">
            <a:avLst/>
          </a:prstGeom>
          <a:noFill/>
          <a:ln/>
        </p:spPr>
        <p:txBody>
          <a:bodyPr wrap="square" lIns="0" tIns="0" rIns="0" bIns="0" rtlCol="0" anchor="ctr"/>
          <a:lstStyle/>
          <a:p>
            <a:pPr indent="0" marL="0">
              <a:buNone/>
            </a:pPr>
            <a:r>
              <a:rPr lang="en-US" sz="1600" dirty="0">
                <a:solidFill>
                  <a:srgbClr val="0E7C86"/>
                </a:solidFill>
                <a:latin typeface="Segoe UI Semibold" pitchFamily="34" charset="0"/>
                <a:ea typeface="Segoe UI Semibold" pitchFamily="34" charset="-122"/>
                <a:cs typeface="Segoe UI Semibold" pitchFamily="34" charset="-120"/>
              </a:rPr>
              <a:t>Quarantine</a:t>
            </a:r>
            <a:endParaRPr lang="en-US" sz="1600" dirty="0"/>
          </a:p>
        </p:txBody>
      </p:sp>
      <p:sp>
        <p:nvSpPr>
          <p:cNvPr id="26" name="Text 24"/>
          <p:cNvSpPr/>
          <p:nvPr/>
        </p:nvSpPr>
        <p:spPr>
          <a:xfrm>
            <a:off x="822960" y="5458968"/>
            <a:ext cx="3118104" cy="594360"/>
          </a:xfrm>
          <a:prstGeom prst="rect">
            <a:avLst/>
          </a:prstGeom>
          <a:noFill/>
          <a:ln/>
        </p:spPr>
        <p:txBody>
          <a:bodyPr wrap="square" lIns="0" tIns="0" rIns="0" bIns="0" rtlCol="0" anchor="t"/>
          <a:lstStyle/>
          <a:p>
            <a:pPr indent="0" marL="0">
              <a:buNone/>
            </a:pPr>
            <a:r>
              <a:rPr lang="en-US" sz="1300" dirty="0">
                <a:solidFill>
                  <a:srgbClr val="1B2733"/>
                </a:solidFill>
                <a:latin typeface="Segoe UI" pitchFamily="34" charset="0"/>
                <a:ea typeface="Segoe UI" pitchFamily="34" charset="-122"/>
                <a:cs typeface="Segoe UI" pitchFamily="34" charset="-120"/>
              </a:rPr>
              <a:t>silver.dq_rejects keeps each rejected row as JSON, with its rule name.</a:t>
            </a:r>
            <a:endParaRPr lang="en-US" sz="1300" dirty="0"/>
          </a:p>
        </p:txBody>
      </p:sp>
      <p:sp>
        <p:nvSpPr>
          <p:cNvPr id="27" name="Shape 25"/>
          <p:cNvSpPr/>
          <p:nvPr/>
        </p:nvSpPr>
        <p:spPr>
          <a:xfrm>
            <a:off x="4306824" y="4937760"/>
            <a:ext cx="3575304" cy="11887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28" name="Shape 26"/>
          <p:cNvSpPr/>
          <p:nvPr/>
        </p:nvSpPr>
        <p:spPr>
          <a:xfrm>
            <a:off x="4306824" y="4937760"/>
            <a:ext cx="73152" cy="1188720"/>
          </a:xfrm>
          <a:prstGeom prst="rect">
            <a:avLst/>
          </a:prstGeom>
          <a:solidFill>
            <a:srgbClr val="0E7C86"/>
          </a:solidFill>
          <a:ln w="12700">
            <a:solidFill>
              <a:srgbClr val="0E7C86"/>
            </a:solidFill>
            <a:prstDash val="solid"/>
          </a:ln>
        </p:spPr>
      </p:sp>
      <p:sp>
        <p:nvSpPr>
          <p:cNvPr id="29" name="Text 27"/>
          <p:cNvSpPr/>
          <p:nvPr/>
        </p:nvSpPr>
        <p:spPr>
          <a:xfrm>
            <a:off x="4581144" y="5074920"/>
            <a:ext cx="3118104" cy="365760"/>
          </a:xfrm>
          <a:prstGeom prst="rect">
            <a:avLst/>
          </a:prstGeom>
          <a:noFill/>
          <a:ln/>
        </p:spPr>
        <p:txBody>
          <a:bodyPr wrap="square" lIns="0" tIns="0" rIns="0" bIns="0" rtlCol="0" anchor="ctr"/>
          <a:lstStyle/>
          <a:p>
            <a:pPr indent="0" marL="0">
              <a:buNone/>
            </a:pPr>
            <a:r>
              <a:rPr lang="en-US" sz="1600" dirty="0">
                <a:solidFill>
                  <a:srgbClr val="0E7C86"/>
                </a:solidFill>
                <a:latin typeface="Segoe UI Semibold" pitchFamily="34" charset="0"/>
                <a:ea typeface="Segoe UI Semibold" pitchFamily="34" charset="-122"/>
                <a:cs typeface="Segoe UI Semibold" pitchFamily="34" charset="-120"/>
              </a:rPr>
              <a:t>Run log</a:t>
            </a:r>
            <a:endParaRPr lang="en-US" sz="1600" dirty="0"/>
          </a:p>
        </p:txBody>
      </p:sp>
      <p:sp>
        <p:nvSpPr>
          <p:cNvPr id="30" name="Text 28"/>
          <p:cNvSpPr/>
          <p:nvPr/>
        </p:nvSpPr>
        <p:spPr>
          <a:xfrm>
            <a:off x="4581144" y="5458968"/>
            <a:ext cx="3118104" cy="594360"/>
          </a:xfrm>
          <a:prstGeom prst="rect">
            <a:avLst/>
          </a:prstGeom>
          <a:noFill/>
          <a:ln/>
        </p:spPr>
        <p:txBody>
          <a:bodyPr wrap="square" lIns="0" tIns="0" rIns="0" bIns="0" rtlCol="0" anchor="t"/>
          <a:lstStyle/>
          <a:p>
            <a:pPr indent="0" marL="0">
              <a:buNone/>
            </a:pPr>
            <a:r>
              <a:rPr lang="en-US" sz="1300" dirty="0">
                <a:solidFill>
                  <a:srgbClr val="1B2733"/>
                </a:solidFill>
                <a:latin typeface="Segoe UI" pitchFamily="34" charset="0"/>
                <a:ea typeface="Segoe UI" pitchFamily="34" charset="-122"/>
                <a:cs typeface="Segoe UI" pitchFamily="34" charset="-120"/>
              </a:rPr>
              <a:t>silver.dq_results records rows in, rows out, and rows rejected per run.</a:t>
            </a:r>
            <a:endParaRPr lang="en-US" sz="1300" dirty="0"/>
          </a:p>
        </p:txBody>
      </p:sp>
      <p:sp>
        <p:nvSpPr>
          <p:cNvPr id="31" name="Shape 29"/>
          <p:cNvSpPr/>
          <p:nvPr/>
        </p:nvSpPr>
        <p:spPr>
          <a:xfrm>
            <a:off x="8065008" y="4937760"/>
            <a:ext cx="3575304" cy="11887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32" name="Shape 30"/>
          <p:cNvSpPr/>
          <p:nvPr/>
        </p:nvSpPr>
        <p:spPr>
          <a:xfrm>
            <a:off x="8065008" y="4937760"/>
            <a:ext cx="73152" cy="1188720"/>
          </a:xfrm>
          <a:prstGeom prst="rect">
            <a:avLst/>
          </a:prstGeom>
          <a:solidFill>
            <a:srgbClr val="0E7C86"/>
          </a:solidFill>
          <a:ln w="12700">
            <a:solidFill>
              <a:srgbClr val="0E7C86"/>
            </a:solidFill>
            <a:prstDash val="solid"/>
          </a:ln>
        </p:spPr>
      </p:sp>
      <p:sp>
        <p:nvSpPr>
          <p:cNvPr id="33" name="Text 31"/>
          <p:cNvSpPr/>
          <p:nvPr/>
        </p:nvSpPr>
        <p:spPr>
          <a:xfrm>
            <a:off x="8339328" y="5074920"/>
            <a:ext cx="3118104" cy="365760"/>
          </a:xfrm>
          <a:prstGeom prst="rect">
            <a:avLst/>
          </a:prstGeom>
          <a:noFill/>
          <a:ln/>
        </p:spPr>
        <p:txBody>
          <a:bodyPr wrap="square" lIns="0" tIns="0" rIns="0" bIns="0" rtlCol="0" anchor="ctr"/>
          <a:lstStyle/>
          <a:p>
            <a:pPr indent="0" marL="0">
              <a:buNone/>
            </a:pPr>
            <a:r>
              <a:rPr lang="en-US" sz="1600" dirty="0">
                <a:solidFill>
                  <a:srgbClr val="0E7C86"/>
                </a:solidFill>
                <a:latin typeface="Segoe UI Semibold" pitchFamily="34" charset="0"/>
                <a:ea typeface="Segoe UI Semibold" pitchFamily="34" charset="-122"/>
                <a:cs typeface="Segoe UI Semibold" pitchFamily="34" charset="-120"/>
              </a:rPr>
              <a:t>Reconcile</a:t>
            </a:r>
            <a:endParaRPr lang="en-US" sz="1600" dirty="0"/>
          </a:p>
        </p:txBody>
      </p:sp>
      <p:sp>
        <p:nvSpPr>
          <p:cNvPr id="34" name="Text 32"/>
          <p:cNvSpPr/>
          <p:nvPr/>
        </p:nvSpPr>
        <p:spPr>
          <a:xfrm>
            <a:off x="8339328" y="5458968"/>
            <a:ext cx="3118104" cy="594360"/>
          </a:xfrm>
          <a:prstGeom prst="rect">
            <a:avLst/>
          </a:prstGeom>
          <a:noFill/>
          <a:ln/>
        </p:spPr>
        <p:txBody>
          <a:bodyPr wrap="square" lIns="0" tIns="0" rIns="0" bIns="0" rtlCol="0" anchor="t"/>
          <a:lstStyle/>
          <a:p>
            <a:pPr indent="0" marL="0">
              <a:buNone/>
            </a:pPr>
            <a:r>
              <a:rPr lang="en-US" sz="1300" dirty="0">
                <a:solidFill>
                  <a:srgbClr val="1B2733"/>
                </a:solidFill>
                <a:latin typeface="Segoe UI" pitchFamily="34" charset="0"/>
                <a:ea typeface="Segoe UI" pitchFamily="34" charset="-122"/>
                <a:cs typeface="Segoe UI" pitchFamily="34" charset="-120"/>
              </a:rPr>
              <a:t>Control totals from source to gold after every load.</a:t>
            </a:r>
            <a:endParaRPr lang="en-US" sz="1300" dirty="0"/>
          </a:p>
        </p:txBody>
      </p:sp>
      <p:sp>
        <p:nvSpPr>
          <p:cNvPr id="35" name="Text 33"/>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36" name="Text 34"/>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CONCEPT · GOVERNANCE</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Governance and residency for regulated workloads</a:t>
            </a:r>
            <a:endParaRPr lang="en-US" sz="3000" dirty="0"/>
          </a:p>
        </p:txBody>
      </p:sp>
      <p:sp>
        <p:nvSpPr>
          <p:cNvPr id="5" name="Shape 3"/>
          <p:cNvSpPr/>
          <p:nvPr/>
        </p:nvSpPr>
        <p:spPr>
          <a:xfrm>
            <a:off x="548640" y="1691640"/>
            <a:ext cx="3575304" cy="338328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6" name="Shape 4"/>
          <p:cNvSpPr/>
          <p:nvPr/>
        </p:nvSpPr>
        <p:spPr>
          <a:xfrm>
            <a:off x="548640" y="1691640"/>
            <a:ext cx="73152" cy="3383280"/>
          </a:xfrm>
          <a:prstGeom prst="rect">
            <a:avLst/>
          </a:prstGeom>
          <a:solidFill>
            <a:srgbClr val="0E7C86"/>
          </a:solidFill>
          <a:ln w="12700">
            <a:solidFill>
              <a:srgbClr val="0E7C86"/>
            </a:solidFill>
            <a:prstDash val="solid"/>
          </a:ln>
        </p:spPr>
      </p:sp>
      <p:sp>
        <p:nvSpPr>
          <p:cNvPr id="7" name="Shape 5"/>
          <p:cNvSpPr/>
          <p:nvPr/>
        </p:nvSpPr>
        <p:spPr>
          <a:xfrm>
            <a:off x="822960" y="1965960"/>
            <a:ext cx="685800" cy="685800"/>
          </a:xfrm>
          <a:prstGeom prst="ellipse">
            <a:avLst/>
          </a:prstGeom>
          <a:solidFill>
            <a:srgbClr val="0E7C86"/>
          </a:solidFill>
          <a:ln w="12700">
            <a:solidFill>
              <a:srgbClr val="0E7C86"/>
            </a:solidFill>
            <a:prstDash val="solid"/>
          </a:ln>
        </p:spPr>
      </p:sp>
      <p:pic>
        <p:nvPicPr>
          <p:cNvPr id="8" name="Image 0" descr="preencoded.png">    </p:cNvPr>
          <p:cNvPicPr>
            <a:picLocks noChangeAspect="1"/>
          </p:cNvPicPr>
          <p:nvPr/>
        </p:nvPicPr>
        <p:blipFill>
          <a:blip r:embed="rId1"/>
          <a:stretch>
            <a:fillRect/>
          </a:stretch>
        </p:blipFill>
        <p:spPr>
          <a:xfrm>
            <a:off x="994410" y="2137410"/>
            <a:ext cx="342900" cy="342900"/>
          </a:xfrm>
          <a:prstGeom prst="rect">
            <a:avLst/>
          </a:prstGeom>
        </p:spPr>
      </p:pic>
      <p:sp>
        <p:nvSpPr>
          <p:cNvPr id="9" name="Text 6"/>
          <p:cNvSpPr/>
          <p:nvPr/>
        </p:nvSpPr>
        <p:spPr>
          <a:xfrm>
            <a:off x="822960" y="2788920"/>
            <a:ext cx="3118104" cy="411480"/>
          </a:xfrm>
          <a:prstGeom prst="rect">
            <a:avLst/>
          </a:prstGeom>
          <a:noFill/>
          <a:ln/>
        </p:spPr>
        <p:txBody>
          <a:bodyPr wrap="square" lIns="0" tIns="0" rIns="0" bIns="0" rtlCol="0" anchor="ctr"/>
          <a:lstStyle/>
          <a:p>
            <a:pPr indent="0" marL="0">
              <a:buNone/>
            </a:pPr>
            <a:r>
              <a:rPr lang="en-US" sz="1700" dirty="0">
                <a:solidFill>
                  <a:srgbClr val="0B1F33"/>
                </a:solidFill>
                <a:latin typeface="Segoe UI Semibold" pitchFamily="34" charset="0"/>
                <a:ea typeface="Segoe UI Semibold" pitchFamily="34" charset="-122"/>
                <a:cs typeface="Segoe UI Semibold" pitchFamily="34" charset="-120"/>
              </a:rPr>
              <a:t>Identity and access</a:t>
            </a:r>
            <a:endParaRPr lang="en-US" sz="1700" dirty="0"/>
          </a:p>
        </p:txBody>
      </p:sp>
      <p:sp>
        <p:nvSpPr>
          <p:cNvPr id="10" name="Text 7"/>
          <p:cNvSpPr/>
          <p:nvPr/>
        </p:nvSpPr>
        <p:spPr>
          <a:xfrm>
            <a:off x="822960" y="3291840"/>
            <a:ext cx="3072384" cy="1691640"/>
          </a:xfrm>
          <a:prstGeom prst="rect">
            <a:avLst/>
          </a:prstGeom>
          <a:noFill/>
          <a:ln/>
        </p:spPr>
        <p:txBody>
          <a:bodyPr wrap="square" lIns="0" tIns="0" rIns="0" bIns="0" rtlCol="0" anchor="t"/>
          <a:lstStyle/>
          <a:p>
            <a:pPr marL="203200" indent="-203200">
              <a:spcAft>
                <a:spcPts val="700"/>
              </a:spcAft>
              <a:buSzPct val="100000"/>
              <a:buChar char="•"/>
            </a:pPr>
            <a:r>
              <a:rPr lang="en-US" sz="1300" dirty="0">
                <a:solidFill>
                  <a:srgbClr val="1B2733"/>
                </a:solidFill>
                <a:latin typeface="Segoe UI" pitchFamily="34" charset="0"/>
                <a:ea typeface="Segoe UI" pitchFamily="34" charset="-122"/>
                <a:cs typeface="Segoe UI" pitchFamily="34" charset="-120"/>
              </a:rPr>
              <a:t>Entra ID identities and workspace roles (Admin to Viewer)</a:t>
            </a:r>
            <a:endParaRPr lang="en-US" sz="1300" dirty="0"/>
          </a:p>
          <a:p>
            <a:pPr marL="203200" indent="-203200">
              <a:spcAft>
                <a:spcPts val="700"/>
              </a:spcAft>
              <a:buSzPct val="100000"/>
              <a:buChar char="•"/>
            </a:pPr>
            <a:r>
              <a:rPr lang="en-US" sz="1300" dirty="0">
                <a:solidFill>
                  <a:srgbClr val="1B2733"/>
                </a:solidFill>
                <a:latin typeface="Segoe UI" pitchFamily="34" charset="0"/>
                <a:ea typeface="Segoe UI" pitchFamily="34" charset="-122"/>
                <a:cs typeface="Segoe UI" pitchFamily="34" charset="-120"/>
              </a:rPr>
              <a:t>Item sharing, plus row- and column-level security in the Warehouse</a:t>
            </a:r>
            <a:endParaRPr lang="en-US" sz="1300" dirty="0"/>
          </a:p>
          <a:p>
            <a:pPr marL="203200" indent="-203200">
              <a:spcAft>
                <a:spcPts val="700"/>
              </a:spcAft>
              <a:buSzPct val="100000"/>
              <a:buChar char="•"/>
            </a:pPr>
            <a:r>
              <a:rPr lang="en-US" sz="1300" dirty="0">
                <a:solidFill>
                  <a:srgbClr val="1B2733"/>
                </a:solidFill>
                <a:latin typeface="Segoe UI" pitchFamily="34" charset="0"/>
                <a:ea typeface="Segoe UI" pitchFamily="34" charset="-122"/>
                <a:cs typeface="Segoe UI" pitchFamily="34" charset="-120"/>
              </a:rPr>
              <a:t>Sensitivity labels to classify data</a:t>
            </a:r>
            <a:endParaRPr lang="en-US" sz="1300" dirty="0"/>
          </a:p>
        </p:txBody>
      </p:sp>
      <p:sp>
        <p:nvSpPr>
          <p:cNvPr id="11" name="Shape 8"/>
          <p:cNvSpPr/>
          <p:nvPr/>
        </p:nvSpPr>
        <p:spPr>
          <a:xfrm>
            <a:off x="4306824" y="1691640"/>
            <a:ext cx="3575304" cy="338328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2" name="Shape 9"/>
          <p:cNvSpPr/>
          <p:nvPr/>
        </p:nvSpPr>
        <p:spPr>
          <a:xfrm>
            <a:off x="4306824" y="1691640"/>
            <a:ext cx="73152" cy="3383280"/>
          </a:xfrm>
          <a:prstGeom prst="rect">
            <a:avLst/>
          </a:prstGeom>
          <a:solidFill>
            <a:srgbClr val="0E7C86"/>
          </a:solidFill>
          <a:ln w="12700">
            <a:solidFill>
              <a:srgbClr val="0E7C86"/>
            </a:solidFill>
            <a:prstDash val="solid"/>
          </a:ln>
        </p:spPr>
      </p:sp>
      <p:sp>
        <p:nvSpPr>
          <p:cNvPr id="13" name="Shape 10"/>
          <p:cNvSpPr/>
          <p:nvPr/>
        </p:nvSpPr>
        <p:spPr>
          <a:xfrm>
            <a:off x="4581144" y="1965960"/>
            <a:ext cx="685800" cy="685800"/>
          </a:xfrm>
          <a:prstGeom prst="ellipse">
            <a:avLst/>
          </a:prstGeom>
          <a:solidFill>
            <a:srgbClr val="0E7C86"/>
          </a:solidFill>
          <a:ln w="12700">
            <a:solidFill>
              <a:srgbClr val="0E7C86"/>
            </a:solidFill>
            <a:prstDash val="solid"/>
          </a:ln>
        </p:spPr>
      </p:sp>
      <p:pic>
        <p:nvPicPr>
          <p:cNvPr id="14" name="Image 1" descr="preencoded.png">    </p:cNvPr>
          <p:cNvPicPr>
            <a:picLocks noChangeAspect="1"/>
          </p:cNvPicPr>
          <p:nvPr/>
        </p:nvPicPr>
        <p:blipFill>
          <a:blip r:embed="rId2"/>
          <a:stretch>
            <a:fillRect/>
          </a:stretch>
        </p:blipFill>
        <p:spPr>
          <a:xfrm>
            <a:off x="4752594" y="2137410"/>
            <a:ext cx="342900" cy="342900"/>
          </a:xfrm>
          <a:prstGeom prst="rect">
            <a:avLst/>
          </a:prstGeom>
        </p:spPr>
      </p:pic>
      <p:sp>
        <p:nvSpPr>
          <p:cNvPr id="15" name="Text 11"/>
          <p:cNvSpPr/>
          <p:nvPr/>
        </p:nvSpPr>
        <p:spPr>
          <a:xfrm>
            <a:off x="4581144" y="2788920"/>
            <a:ext cx="3118104" cy="411480"/>
          </a:xfrm>
          <a:prstGeom prst="rect">
            <a:avLst/>
          </a:prstGeom>
          <a:noFill/>
          <a:ln/>
        </p:spPr>
        <p:txBody>
          <a:bodyPr wrap="square" lIns="0" tIns="0" rIns="0" bIns="0" rtlCol="0" anchor="ctr"/>
          <a:lstStyle/>
          <a:p>
            <a:pPr indent="0" marL="0">
              <a:buNone/>
            </a:pPr>
            <a:r>
              <a:rPr lang="en-US" sz="1700" dirty="0">
                <a:solidFill>
                  <a:srgbClr val="0B1F33"/>
                </a:solidFill>
                <a:latin typeface="Segoe UI Semibold" pitchFamily="34" charset="0"/>
                <a:ea typeface="Segoe UI Semibold" pitchFamily="34" charset="-122"/>
                <a:cs typeface="Segoe UI Semibold" pitchFamily="34" charset="-120"/>
              </a:rPr>
              <a:t>Residency and resilience</a:t>
            </a:r>
            <a:endParaRPr lang="en-US" sz="1700" dirty="0"/>
          </a:p>
        </p:txBody>
      </p:sp>
      <p:sp>
        <p:nvSpPr>
          <p:cNvPr id="16" name="Text 12"/>
          <p:cNvSpPr/>
          <p:nvPr/>
        </p:nvSpPr>
        <p:spPr>
          <a:xfrm>
            <a:off x="4581144" y="3291840"/>
            <a:ext cx="3072384" cy="1691640"/>
          </a:xfrm>
          <a:prstGeom prst="rect">
            <a:avLst/>
          </a:prstGeom>
          <a:noFill/>
          <a:ln/>
        </p:spPr>
        <p:txBody>
          <a:bodyPr wrap="square" lIns="0" tIns="0" rIns="0" bIns="0" rtlCol="0" anchor="t"/>
          <a:lstStyle/>
          <a:p>
            <a:pPr marL="203200" indent="-203200">
              <a:spcAft>
                <a:spcPts val="700"/>
              </a:spcAft>
              <a:buSzPct val="100000"/>
              <a:buChar char="•"/>
            </a:pPr>
            <a:r>
              <a:rPr lang="en-US" sz="1300" dirty="0">
                <a:solidFill>
                  <a:srgbClr val="1B2733"/>
                </a:solidFill>
                <a:latin typeface="Segoe UI" pitchFamily="34" charset="0"/>
                <a:ea typeface="Segoe UI" pitchFamily="34" charset="-122"/>
                <a:cs typeface="Segoe UI" pitchFamily="34" charset="-120"/>
              </a:rPr>
              <a:t>Capacity region sets residency: Canada Central here</a:t>
            </a:r>
            <a:endParaRPr lang="en-US" sz="1300" dirty="0"/>
          </a:p>
          <a:p>
            <a:pPr marL="203200" indent="-203200">
              <a:spcAft>
                <a:spcPts val="700"/>
              </a:spcAft>
              <a:buSzPct val="100000"/>
              <a:buChar char="•"/>
            </a:pPr>
            <a:r>
              <a:rPr lang="en-US" sz="1300" dirty="0">
                <a:solidFill>
                  <a:srgbClr val="1B2733"/>
                </a:solidFill>
                <a:latin typeface="Segoe UI" pitchFamily="34" charset="0"/>
                <a:ea typeface="Segoe UI" pitchFamily="34" charset="-122"/>
                <a:cs typeface="Segoe UI" pitchFamily="34" charset="-120"/>
              </a:rPr>
              <a:t>Capacity admins are UPNs in the capacity's tenant</a:t>
            </a:r>
            <a:endParaRPr lang="en-US" sz="1300" dirty="0"/>
          </a:p>
          <a:p>
            <a:pPr marL="203200" indent="-203200">
              <a:spcAft>
                <a:spcPts val="700"/>
              </a:spcAft>
              <a:buSzPct val="100000"/>
              <a:buChar char="•"/>
            </a:pPr>
            <a:r>
              <a:rPr lang="en-US" sz="1300" dirty="0">
                <a:solidFill>
                  <a:srgbClr val="1B2733"/>
                </a:solidFill>
                <a:latin typeface="Segoe UI" pitchFamily="34" charset="0"/>
                <a:ea typeface="Segoe UI" pitchFamily="34" charset="-122"/>
                <a:cs typeface="Segoe UI" pitchFamily="34" charset="-120"/>
              </a:rPr>
              <a:t>Pause and resume for cost; plan recovery under E-21</a:t>
            </a:r>
            <a:endParaRPr lang="en-US" sz="1300" dirty="0"/>
          </a:p>
        </p:txBody>
      </p:sp>
      <p:sp>
        <p:nvSpPr>
          <p:cNvPr id="17" name="Shape 13"/>
          <p:cNvSpPr/>
          <p:nvPr/>
        </p:nvSpPr>
        <p:spPr>
          <a:xfrm>
            <a:off x="8065008" y="1691640"/>
            <a:ext cx="3575304" cy="338328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8" name="Shape 14"/>
          <p:cNvSpPr/>
          <p:nvPr/>
        </p:nvSpPr>
        <p:spPr>
          <a:xfrm>
            <a:off x="8065008" y="1691640"/>
            <a:ext cx="73152" cy="3383280"/>
          </a:xfrm>
          <a:prstGeom prst="rect">
            <a:avLst/>
          </a:prstGeom>
          <a:solidFill>
            <a:srgbClr val="0E7C86"/>
          </a:solidFill>
          <a:ln w="12700">
            <a:solidFill>
              <a:srgbClr val="0E7C86"/>
            </a:solidFill>
            <a:prstDash val="solid"/>
          </a:ln>
        </p:spPr>
      </p:sp>
      <p:sp>
        <p:nvSpPr>
          <p:cNvPr id="19" name="Shape 15"/>
          <p:cNvSpPr/>
          <p:nvPr/>
        </p:nvSpPr>
        <p:spPr>
          <a:xfrm>
            <a:off x="8339328" y="1965960"/>
            <a:ext cx="685800" cy="685800"/>
          </a:xfrm>
          <a:prstGeom prst="ellipse">
            <a:avLst/>
          </a:prstGeom>
          <a:solidFill>
            <a:srgbClr val="0E7C86"/>
          </a:solidFill>
          <a:ln w="12700">
            <a:solidFill>
              <a:srgbClr val="0E7C86"/>
            </a:solidFill>
            <a:prstDash val="solid"/>
          </a:ln>
        </p:spPr>
      </p:sp>
      <p:pic>
        <p:nvPicPr>
          <p:cNvPr id="20" name="Image 2" descr="preencoded.png">    </p:cNvPr>
          <p:cNvPicPr>
            <a:picLocks noChangeAspect="1"/>
          </p:cNvPicPr>
          <p:nvPr/>
        </p:nvPicPr>
        <p:blipFill>
          <a:blip r:embed="rId3"/>
          <a:stretch>
            <a:fillRect/>
          </a:stretch>
        </p:blipFill>
        <p:spPr>
          <a:xfrm>
            <a:off x="8510778" y="2137410"/>
            <a:ext cx="342900" cy="342900"/>
          </a:xfrm>
          <a:prstGeom prst="rect">
            <a:avLst/>
          </a:prstGeom>
        </p:spPr>
      </p:pic>
      <p:sp>
        <p:nvSpPr>
          <p:cNvPr id="21" name="Text 16"/>
          <p:cNvSpPr/>
          <p:nvPr/>
        </p:nvSpPr>
        <p:spPr>
          <a:xfrm>
            <a:off x="8339328" y="2788920"/>
            <a:ext cx="3118104" cy="411480"/>
          </a:xfrm>
          <a:prstGeom prst="rect">
            <a:avLst/>
          </a:prstGeom>
          <a:noFill/>
          <a:ln/>
        </p:spPr>
        <p:txBody>
          <a:bodyPr wrap="square" lIns="0" tIns="0" rIns="0" bIns="0" rtlCol="0" anchor="ctr"/>
          <a:lstStyle/>
          <a:p>
            <a:pPr indent="0" marL="0">
              <a:buNone/>
            </a:pPr>
            <a:r>
              <a:rPr lang="en-US" sz="1700" dirty="0">
                <a:solidFill>
                  <a:srgbClr val="0B1F33"/>
                </a:solidFill>
                <a:latin typeface="Segoe UI Semibold" pitchFamily="34" charset="0"/>
                <a:ea typeface="Segoe UI Semibold" pitchFamily="34" charset="-122"/>
                <a:cs typeface="Segoe UI Semibold" pitchFamily="34" charset="-120"/>
              </a:rPr>
              <a:t>Third-party and technology risk</a:t>
            </a:r>
            <a:endParaRPr lang="en-US" sz="1700" dirty="0"/>
          </a:p>
        </p:txBody>
      </p:sp>
      <p:sp>
        <p:nvSpPr>
          <p:cNvPr id="22" name="Text 17"/>
          <p:cNvSpPr/>
          <p:nvPr/>
        </p:nvSpPr>
        <p:spPr>
          <a:xfrm>
            <a:off x="8339328" y="3291840"/>
            <a:ext cx="3072384" cy="1691640"/>
          </a:xfrm>
          <a:prstGeom prst="rect">
            <a:avLst/>
          </a:prstGeom>
          <a:noFill/>
          <a:ln/>
        </p:spPr>
        <p:txBody>
          <a:bodyPr wrap="square" lIns="0" tIns="0" rIns="0" bIns="0" rtlCol="0" anchor="t"/>
          <a:lstStyle/>
          <a:p>
            <a:pPr marL="203200" indent="-203200">
              <a:spcAft>
                <a:spcPts val="700"/>
              </a:spcAft>
              <a:buSzPct val="100000"/>
              <a:buChar char="•"/>
            </a:pPr>
            <a:r>
              <a:rPr lang="en-US" sz="1300" dirty="0">
                <a:solidFill>
                  <a:srgbClr val="1B2733"/>
                </a:solidFill>
                <a:latin typeface="Segoe UI" pitchFamily="34" charset="0"/>
                <a:ea typeface="Segoe UI" pitchFamily="34" charset="-122"/>
                <a:cs typeface="Segoe UI" pitchFamily="34" charset="-120"/>
              </a:rPr>
              <a:t>Document the service, data location, and exit plan (B-10)</a:t>
            </a:r>
            <a:endParaRPr lang="en-US" sz="1300" dirty="0"/>
          </a:p>
          <a:p>
            <a:pPr marL="203200" indent="-203200">
              <a:spcAft>
                <a:spcPts val="700"/>
              </a:spcAft>
              <a:buSzPct val="100000"/>
              <a:buChar char="•"/>
            </a:pPr>
            <a:r>
              <a:rPr lang="en-US" sz="1300" dirty="0">
                <a:solidFill>
                  <a:srgbClr val="1B2733"/>
                </a:solidFill>
                <a:latin typeface="Segoe UI" pitchFamily="34" charset="0"/>
                <a:ea typeface="Segoe UI" pitchFamily="34" charset="-122"/>
                <a:cs typeface="Segoe UI" pitchFamily="34" charset="-120"/>
              </a:rPr>
              <a:t>Logs, change control, and Git history as evidence (B-13)</a:t>
            </a:r>
            <a:endParaRPr lang="en-US" sz="1300" dirty="0"/>
          </a:p>
          <a:p>
            <a:pPr marL="203200" indent="-203200">
              <a:spcAft>
                <a:spcPts val="700"/>
              </a:spcAft>
              <a:buSzPct val="100000"/>
              <a:buChar char="•"/>
            </a:pPr>
            <a:r>
              <a:rPr lang="en-US" sz="1300" dirty="0">
                <a:solidFill>
                  <a:srgbClr val="1B2733"/>
                </a:solidFill>
                <a:latin typeface="Segoe UI" pitchFamily="34" charset="0"/>
                <a:ea typeface="Segoe UI" pitchFamily="34" charset="-122"/>
                <a:cs typeface="Segoe UI" pitchFamily="34" charset="-120"/>
              </a:rPr>
              <a:t>Check network and policy constraints early in design</a:t>
            </a:r>
            <a:endParaRPr lang="en-US" sz="1300" dirty="0"/>
          </a:p>
        </p:txBody>
      </p:sp>
      <p:sp>
        <p:nvSpPr>
          <p:cNvPr id="23" name="Shape 18"/>
          <p:cNvSpPr/>
          <p:nvPr/>
        </p:nvSpPr>
        <p:spPr>
          <a:xfrm>
            <a:off x="548640" y="5303520"/>
            <a:ext cx="11091672" cy="914400"/>
          </a:xfrm>
          <a:prstGeom prst="rect">
            <a:avLst/>
          </a:prstGeom>
          <a:solidFill>
            <a:srgbClr val="0B1F33"/>
          </a:solidFill>
          <a:ln w="12700">
            <a:solidFill>
              <a:srgbClr val="0B1F33"/>
            </a:solidFill>
            <a:prstDash val="solid"/>
          </a:ln>
        </p:spPr>
      </p:sp>
      <p:sp>
        <p:nvSpPr>
          <p:cNvPr id="24" name="Text 19"/>
          <p:cNvSpPr/>
          <p:nvPr/>
        </p:nvSpPr>
        <p:spPr>
          <a:xfrm>
            <a:off x="822960" y="5303520"/>
            <a:ext cx="10543032" cy="914400"/>
          </a:xfrm>
          <a:prstGeom prst="rect">
            <a:avLst/>
          </a:prstGeom>
          <a:noFill/>
          <a:ln/>
        </p:spPr>
        <p:txBody>
          <a:bodyPr wrap="square" lIns="0" tIns="0" rIns="0" bIns="0" rtlCol="0" anchor="ctr"/>
          <a:lstStyle/>
          <a:p>
            <a:pPr indent="0" marL="0">
              <a:spcAft>
                <a:spcPts val="400"/>
              </a:spcAft>
              <a:buNone/>
            </a:pPr>
            <a:r>
              <a:rPr lang="en-US" sz="1300" dirty="0">
                <a:solidFill>
                  <a:srgbClr val="FFFFFF"/>
                </a:solidFill>
                <a:latin typeface="Segoe UI" pitchFamily="34" charset="0"/>
                <a:ea typeface="Segoe UI" pitchFamily="34" charset="-122"/>
                <a:cs typeface="Segoe UI" pitchFamily="34" charset="-120"/>
              </a:rPr>
              <a:t>Guidelines to review with compliance: OSFI B-10 Third-Party Risk Management · B-13 Technology and Cyber Risk Management · E-21 Operational Risk Management and Resilience</a:t>
            </a:r>
            <a:endParaRPr lang="en-US" sz="1300" dirty="0"/>
          </a:p>
          <a:p>
            <a:pPr indent="0" marL="0">
              <a:buNone/>
            </a:pPr>
            <a:r>
              <a:rPr lang="en-US" sz="1200" dirty="0">
                <a:solidFill>
                  <a:srgbClr val="9FB3C8"/>
                </a:solidFill>
                <a:latin typeface="Segoe UI" pitchFamily="34" charset="0"/>
                <a:ea typeface="Segoe UI" pitchFamily="34" charset="-122"/>
                <a:cs typeface="Segoe UI" pitchFamily="34" charset="-120"/>
              </a:rPr>
              <a:t>For discussion only. This is not a compliance assessment.</a:t>
            </a:r>
            <a:endParaRPr lang="en-US" sz="1300" dirty="0"/>
          </a:p>
        </p:txBody>
      </p:sp>
      <p:sp>
        <p:nvSpPr>
          <p:cNvPr id="25" name="Text 20"/>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26" name="Text 21"/>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7 · 10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Git holds the definitions; OneLake holds the data</a:t>
            </a:r>
            <a:endParaRPr lang="en-US" sz="3000" dirty="0"/>
          </a:p>
        </p:txBody>
      </p:sp>
      <p:sp>
        <p:nvSpPr>
          <p:cNvPr id="5" name="Shape 3"/>
          <p:cNvSpPr/>
          <p:nvPr/>
        </p:nvSpPr>
        <p:spPr>
          <a:xfrm>
            <a:off x="548640" y="1691640"/>
            <a:ext cx="3383280" cy="1371600"/>
          </a:xfrm>
          <a:prstGeom prst="rect">
            <a:avLst/>
          </a:prstGeom>
          <a:solidFill>
            <a:srgbClr val="0B1F33"/>
          </a:solidFill>
          <a:ln w="12700">
            <a:solidFill>
              <a:srgbClr val="0B1F33"/>
            </a:solidFill>
            <a:prstDash val="solid"/>
          </a:ln>
        </p:spPr>
      </p:sp>
      <p:sp>
        <p:nvSpPr>
          <p:cNvPr id="6" name="Text 4"/>
          <p:cNvSpPr/>
          <p:nvPr/>
        </p:nvSpPr>
        <p:spPr>
          <a:xfrm>
            <a:off x="777240" y="1691640"/>
            <a:ext cx="3017520" cy="1371600"/>
          </a:xfrm>
          <a:prstGeom prst="rect">
            <a:avLst/>
          </a:prstGeom>
          <a:noFill/>
          <a:ln/>
        </p:spPr>
        <p:txBody>
          <a:bodyPr wrap="square" lIns="0" tIns="0" rIns="0" bIns="0" rtlCol="0" anchor="ctr"/>
          <a:lstStyle/>
          <a:p>
            <a:pPr indent="0" marL="0">
              <a:buNone/>
            </a:pPr>
            <a:r>
              <a:rPr lang="en-US" sz="1200" dirty="0">
                <a:solidFill>
                  <a:srgbClr val="7FD3DB"/>
                </a:solidFill>
                <a:latin typeface="Segoe UI" pitchFamily="34" charset="0"/>
                <a:ea typeface="Segoe UI" pitchFamily="34" charset="-122"/>
                <a:cs typeface="Segoe UI" pitchFamily="34" charset="-120"/>
              </a:rPr>
              <a:t>Dev workspace</a:t>
            </a:r>
            <a:endParaRPr lang="en-US" sz="1200" dirty="0"/>
          </a:p>
          <a:p>
            <a:pPr indent="0" marL="0">
              <a:buNone/>
            </a:pPr>
            <a:r>
              <a:rPr lang="en-US" sz="1800" dirty="0">
                <a:solidFill>
                  <a:srgbClr val="FFFFFF"/>
                </a:solidFill>
                <a:latin typeface="Segoe UI Semibold" pitchFamily="34" charset="0"/>
                <a:ea typeface="Segoe UI Semibold" pitchFamily="34" charset="-122"/>
                <a:cs typeface="Segoe UI Semibold" pitchFamily="34" charset="-120"/>
              </a:rPr>
              <a:t>FDW-Dev-OSFI-2610</a:t>
            </a:r>
            <a:endParaRPr lang="en-US" sz="1200" dirty="0"/>
          </a:p>
          <a:p>
            <a:pPr indent="0" marL="0">
              <a:buNone/>
            </a:pPr>
            <a:r>
              <a:rPr lang="en-US" sz="1200" dirty="0">
                <a:solidFill>
                  <a:srgbClr val="C9D6E3"/>
                </a:solidFill>
                <a:latin typeface="Segoe UI" pitchFamily="34" charset="0"/>
                <a:ea typeface="Segoe UI" pitchFamily="34" charset="-122"/>
                <a:cs typeface="Segoe UI" pitchFamily="34" charset="-120"/>
              </a:rPr>
              <a:t>Connected to branch main</a:t>
            </a:r>
            <a:endParaRPr lang="en-US" sz="1200" dirty="0"/>
          </a:p>
          <a:p>
            <a:pPr indent="0" marL="0">
              <a:buNone/>
            </a:pPr>
            <a:r>
              <a:rPr lang="en-US" sz="1200" dirty="0">
                <a:solidFill>
                  <a:srgbClr val="C9D6E3"/>
                </a:solidFill>
                <a:latin typeface="Segoe UI" pitchFamily="34" charset="0"/>
                <a:ea typeface="Segoe UI" pitchFamily="34" charset="-122"/>
                <a:cs typeface="Segoe UI" pitchFamily="34" charset="-120"/>
              </a:rPr>
              <a:t>Folder: /fabric-workspace</a:t>
            </a:r>
            <a:endParaRPr lang="en-US" sz="1200" dirty="0"/>
          </a:p>
        </p:txBody>
      </p:sp>
      <p:sp>
        <p:nvSpPr>
          <p:cNvPr id="7" name="Shape 5"/>
          <p:cNvSpPr/>
          <p:nvPr/>
        </p:nvSpPr>
        <p:spPr>
          <a:xfrm>
            <a:off x="3977640" y="2377440"/>
            <a:ext cx="457200" cy="0"/>
          </a:xfrm>
          <a:prstGeom prst="line">
            <a:avLst/>
          </a:prstGeom>
          <a:noFill/>
          <a:ln w="25400">
            <a:solidFill>
              <a:srgbClr val="0B1F33"/>
            </a:solidFill>
            <a:prstDash val="solid"/>
            <a:tailEnd type="triangle"/>
          </a:ln>
        </p:spPr>
      </p:sp>
      <p:sp>
        <p:nvSpPr>
          <p:cNvPr id="8" name="Text 6"/>
          <p:cNvSpPr/>
          <p:nvPr/>
        </p:nvSpPr>
        <p:spPr>
          <a:xfrm>
            <a:off x="548640" y="3337560"/>
            <a:ext cx="3383280" cy="2834640"/>
          </a:xfrm>
          <a:prstGeom prst="rect">
            <a:avLst/>
          </a:prstGeom>
          <a:noFill/>
          <a:ln/>
        </p:spPr>
        <p:txBody>
          <a:bodyPr wrap="square" lIns="0" tIns="0" rIns="0" bIns="0" rtlCol="0" anchor="t"/>
          <a:lstStyle/>
          <a:p>
            <a:pPr marL="203200" indent="-203200">
              <a:spcAft>
                <a:spcPts val="900"/>
              </a:spcAft>
              <a:buSzPct val="100000"/>
              <a:buChar char="•"/>
            </a:pPr>
            <a:r>
              <a:rPr lang="en-US" sz="1450" b="1" dirty="0">
                <a:solidFill>
                  <a:srgbClr val="0B1F33"/>
                </a:solidFill>
                <a:latin typeface="Segoe UI" pitchFamily="34" charset="0"/>
                <a:ea typeface="Segoe UI" pitchFamily="34" charset="-122"/>
                <a:cs typeface="Segoe UI" pitchFamily="34" charset="-120"/>
              </a:rPr>
              <a:t>Connect </a:t>
            </a:r>
            <a:pPr indent="0" marL="0">
              <a:buNone/>
            </a:pPr>
            <a:r>
              <a:rPr lang="en-US" sz="1450" dirty="0">
                <a:solidFill>
                  <a:srgbClr val="1B2733"/>
                </a:solidFill>
                <a:latin typeface="Segoe UI" pitchFamily="34" charset="0"/>
                <a:ea typeface="Segoe UI" pitchFamily="34" charset="-122"/>
                <a:cs typeface="Segoe UI" pitchFamily="34" charset="-120"/>
              </a:rPr>
              <a:t>a workspace to a repo, branch, and folder</a:t>
            </a:r>
            <a:endParaRPr lang="en-US" sz="1450" dirty="0"/>
          </a:p>
          <a:p>
            <a:pPr marL="203200" indent="-203200">
              <a:spcAft>
                <a:spcPts val="900"/>
              </a:spcAft>
              <a:buSzPct val="100000"/>
              <a:buChar char="•"/>
            </a:pPr>
            <a:r>
              <a:rPr lang="en-US" sz="1450" b="1" dirty="0">
                <a:solidFill>
                  <a:srgbClr val="0B1F33"/>
                </a:solidFill>
                <a:latin typeface="Segoe UI" pitchFamily="34" charset="0"/>
                <a:ea typeface="Segoe UI" pitchFamily="34" charset="-122"/>
                <a:cs typeface="Segoe UI" pitchFamily="34" charset="-120"/>
              </a:rPr>
              <a:t>Commit </a:t>
            </a:r>
            <a:pPr indent="0" marL="0">
              <a:buNone/>
            </a:pPr>
            <a:r>
              <a:rPr lang="en-US" sz="1450" dirty="0">
                <a:solidFill>
                  <a:srgbClr val="1B2733"/>
                </a:solidFill>
                <a:latin typeface="Segoe UI" pitchFamily="34" charset="0"/>
                <a:ea typeface="Segoe UI" pitchFamily="34" charset="-122"/>
                <a:cs typeface="Segoe UI" pitchFamily="34" charset="-120"/>
              </a:rPr>
              <a:t>from Fabric, or update the workspace from Git</a:t>
            </a:r>
            <a:endParaRPr lang="en-US" sz="1450" dirty="0"/>
          </a:p>
          <a:p>
            <a:pPr marL="203200" indent="-203200">
              <a:spcAft>
                <a:spcPts val="900"/>
              </a:spcAft>
              <a:buSzPct val="100000"/>
              <a:buChar char="•"/>
            </a:pPr>
            <a:r>
              <a:rPr lang="en-US" sz="1450" b="1" dirty="0">
                <a:solidFill>
                  <a:srgbClr val="0B1F33"/>
                </a:solidFill>
                <a:latin typeface="Segoe UI" pitchFamily="34" charset="0"/>
                <a:ea typeface="Segoe UI" pitchFamily="34" charset="-122"/>
                <a:cs typeface="Segoe UI" pitchFamily="34" charset="-120"/>
              </a:rPr>
              <a:t>Review </a:t>
            </a:r>
            <a:pPr indent="0" marL="0">
              <a:buNone/>
            </a:pPr>
            <a:r>
              <a:rPr lang="en-US" sz="1450" dirty="0">
                <a:solidFill>
                  <a:srgbClr val="1B2733"/>
                </a:solidFill>
                <a:latin typeface="Segoe UI" pitchFamily="34" charset="0"/>
                <a:ea typeface="Segoe UI" pitchFamily="34" charset="-122"/>
                <a:cs typeface="Segoe UI" pitchFamily="34" charset="-120"/>
              </a:rPr>
              <a:t>item files diff cleanly in pull requests</a:t>
            </a:r>
            <a:endParaRPr lang="en-US" sz="1450" dirty="0"/>
          </a:p>
          <a:p>
            <a:pPr marL="203200" indent="-203200">
              <a:spcAft>
                <a:spcPts val="900"/>
              </a:spcAft>
              <a:buSzPct val="100000"/>
              <a:buChar char="•"/>
            </a:pPr>
            <a:r>
              <a:rPr lang="en-US" sz="1450" b="1" dirty="0">
                <a:solidFill>
                  <a:srgbClr val="0B1F33"/>
                </a:solidFill>
                <a:latin typeface="Segoe UI" pitchFamily="34" charset="0"/>
                <a:ea typeface="Segoe UI" pitchFamily="34" charset="-122"/>
                <a:cs typeface="Segoe UI" pitchFamily="34" charset="-120"/>
              </a:rPr>
              <a:t>Revoke </a:t>
            </a:r>
            <a:pPr indent="0" marL="0">
              <a:buNone/>
            </a:pPr>
            <a:r>
              <a:rPr lang="en-US" sz="1450" dirty="0">
                <a:solidFill>
                  <a:srgbClr val="1B2733"/>
                </a:solidFill>
                <a:latin typeface="Segoe UI" pitchFamily="34" charset="0"/>
                <a:ea typeface="Segoe UI" pitchFamily="34" charset="-122"/>
                <a:cs typeface="Segoe UI" pitchFamily="34" charset="-120"/>
              </a:rPr>
              <a:t>the stored GitHub token when the workshop ends</a:t>
            </a:r>
            <a:endParaRPr lang="en-US" sz="1450" dirty="0"/>
          </a:p>
        </p:txBody>
      </p:sp>
      <p:sp>
        <p:nvSpPr>
          <p:cNvPr id="9" name="Shape 7"/>
          <p:cNvSpPr/>
          <p:nvPr/>
        </p:nvSpPr>
        <p:spPr>
          <a:xfrm>
            <a:off x="4434840" y="1691640"/>
            <a:ext cx="7205472" cy="448056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0" name="Shape 8"/>
          <p:cNvSpPr/>
          <p:nvPr/>
        </p:nvSpPr>
        <p:spPr>
          <a:xfrm>
            <a:off x="4434840" y="1691640"/>
            <a:ext cx="73152" cy="4480560"/>
          </a:xfrm>
          <a:prstGeom prst="rect">
            <a:avLst/>
          </a:prstGeom>
          <a:solidFill>
            <a:srgbClr val="0E7C86"/>
          </a:solidFill>
          <a:ln w="12700">
            <a:solidFill>
              <a:srgbClr val="0E7C86"/>
            </a:solidFill>
            <a:prstDash val="solid"/>
          </a:ln>
        </p:spPr>
      </p:sp>
      <p:sp>
        <p:nvSpPr>
          <p:cNvPr id="11" name="Text 9"/>
          <p:cNvSpPr/>
          <p:nvPr/>
        </p:nvSpPr>
        <p:spPr>
          <a:xfrm>
            <a:off x="4754880" y="1847088"/>
            <a:ext cx="6766560" cy="320040"/>
          </a:xfrm>
          <a:prstGeom prst="rect">
            <a:avLst/>
          </a:prstGeom>
          <a:noFill/>
          <a:ln/>
        </p:spPr>
        <p:txBody>
          <a:bodyPr wrap="square" lIns="0" tIns="0" rIns="0" bIns="0" rtlCol="0" anchor="ctr"/>
          <a:lstStyle/>
          <a:p>
            <a:pPr indent="0" marL="0">
              <a:buNone/>
            </a:pPr>
            <a:r>
              <a:rPr lang="en-US" sz="1200" dirty="0">
                <a:solidFill>
                  <a:srgbClr val="5B6B7A"/>
                </a:solidFill>
                <a:latin typeface="Segoe UI" pitchFamily="34" charset="0"/>
                <a:ea typeface="Segoe UI" pitchFamily="34" charset="-122"/>
                <a:cs typeface="Segoe UI" pitchFamily="34" charset="-120"/>
              </a:rPr>
              <a:t>github.com/nikosoukov/fabric-data-engineering-workshop</a:t>
            </a:r>
            <a:endParaRPr lang="en-US" sz="1200" dirty="0"/>
          </a:p>
        </p:txBody>
      </p:sp>
      <p:sp>
        <p:nvSpPr>
          <p:cNvPr id="12" name="Text 10"/>
          <p:cNvSpPr/>
          <p:nvPr/>
        </p:nvSpPr>
        <p:spPr>
          <a:xfrm>
            <a:off x="4754880" y="2286000"/>
            <a:ext cx="6766560" cy="3291840"/>
          </a:xfrm>
          <a:prstGeom prst="rect">
            <a:avLst/>
          </a:prstGeom>
          <a:noFill/>
          <a:ln/>
        </p:spPr>
        <p:txBody>
          <a:bodyPr wrap="square" lIns="0" tIns="0" rIns="0" bIns="0" rtlCol="0" anchor="t"/>
          <a:lstStyle/>
          <a:p>
            <a:pPr indent="0" marL="0">
              <a:buNone/>
            </a:pPr>
            <a:r>
              <a:rPr lang="en-US" sz="1400" dirty="0">
                <a:solidFill>
                  <a:srgbClr val="0B1F33"/>
                </a:solidFill>
                <a:latin typeface="Consolas" pitchFamily="34" charset="0"/>
                <a:ea typeface="Consolas" pitchFamily="34" charset="-122"/>
                <a:cs typeface="Consolas" pitchFamily="34" charset="-120"/>
              </a:rPr>
              <a:t>fabric-workspace/</a:t>
            </a:r>
            <a:endParaRPr lang="en-US" sz="1400" dirty="0"/>
          </a:p>
          <a:p>
            <a:pPr indent="0" marL="0">
              <a:buNone/>
            </a:pPr>
            <a:r>
              <a:rPr lang="en-US" sz="1400" dirty="0">
                <a:solidFill>
                  <a:srgbClr val="0B1F33"/>
                </a:solidFill>
                <a:latin typeface="Consolas" pitchFamily="34" charset="0"/>
                <a:ea typeface="Consolas" pitchFamily="34" charset="-122"/>
                <a:cs typeface="Consolas" pitchFamily="34" charset="-120"/>
              </a:rPr>
              <a:t>  lh_bronze.Lakehouse</a:t>
            </a:r>
            <a:endParaRPr lang="en-US" sz="1400" dirty="0"/>
          </a:p>
          <a:p>
            <a:pPr indent="0" marL="0">
              <a:buNone/>
            </a:pPr>
            <a:r>
              <a:rPr lang="en-US" sz="1400" dirty="0">
                <a:solidFill>
                  <a:srgbClr val="0B1F33"/>
                </a:solidFill>
                <a:latin typeface="Consolas" pitchFamily="34" charset="0"/>
                <a:ea typeface="Consolas" pitchFamily="34" charset="-122"/>
                <a:cs typeface="Consolas" pitchFamily="34" charset="-120"/>
              </a:rPr>
              <a:t>  lh_silver.Lakehouse</a:t>
            </a:r>
            <a:endParaRPr lang="en-US" sz="1400" dirty="0"/>
          </a:p>
          <a:p>
            <a:pPr indent="0" marL="0">
              <a:buNone/>
            </a:pPr>
            <a:r>
              <a:rPr lang="en-US" sz="1400" dirty="0">
                <a:solidFill>
                  <a:srgbClr val="0B1F33"/>
                </a:solidFill>
                <a:latin typeface="Consolas" pitchFamily="34" charset="0"/>
                <a:ea typeface="Consolas" pitchFamily="34" charset="-122"/>
                <a:cs typeface="Consolas" pitchFamily="34" charset="-120"/>
              </a:rPr>
              <a:t>  wh_gold.Warehouse</a:t>
            </a:r>
            <a:endParaRPr lang="en-US" sz="1400" dirty="0"/>
          </a:p>
          <a:p>
            <a:pPr indent="0" marL="0">
              <a:buNone/>
            </a:pPr>
            <a:r>
              <a:rPr lang="en-US" sz="1400" dirty="0">
                <a:solidFill>
                  <a:srgbClr val="0B1F33"/>
                </a:solidFill>
                <a:latin typeface="Consolas" pitchFamily="34" charset="0"/>
                <a:ea typeface="Consolas" pitchFamily="34" charset="-122"/>
                <a:cs typeface="Consolas" pitchFamily="34" charset="-120"/>
              </a:rPr>
              <a:t>  wh_migrated_synapse.Warehouse</a:t>
            </a:r>
            <a:endParaRPr lang="en-US" sz="1400" dirty="0"/>
          </a:p>
          <a:p>
            <a:pPr indent="0" marL="0">
              <a:buNone/>
            </a:pPr>
            <a:r>
              <a:rPr lang="en-US" sz="1400" dirty="0">
                <a:solidFill>
                  <a:srgbClr val="0B1F33"/>
                </a:solidFill>
                <a:latin typeface="Consolas" pitchFamily="34" charset="0"/>
                <a:ea typeface="Consolas" pitchFamily="34" charset="-122"/>
                <a:cs typeface="Consolas" pitchFamily="34" charset="-120"/>
              </a:rPr>
              <a:t>  sqldb_core_banking.SQLDatabase</a:t>
            </a:r>
            <a:endParaRPr lang="en-US" sz="1400" dirty="0"/>
          </a:p>
          <a:p>
            <a:pPr indent="0" marL="0">
              <a:buNone/>
            </a:pPr>
            <a:r>
              <a:rPr lang="en-US" sz="1400" dirty="0">
                <a:solidFill>
                  <a:srgbClr val="0B1F33"/>
                </a:solidFill>
                <a:latin typeface="Consolas" pitchFamily="34" charset="0"/>
                <a:ea typeface="Consolas" pitchFamily="34" charset="-122"/>
                <a:cs typeface="Consolas" pitchFamily="34" charset="-120"/>
              </a:rPr>
              <a:t>  nb_00_connectivity_check.Notebook</a:t>
            </a:r>
            <a:endParaRPr lang="en-US" sz="1400" dirty="0"/>
          </a:p>
          <a:p>
            <a:pPr indent="0" marL="0">
              <a:buNone/>
            </a:pPr>
            <a:r>
              <a:rPr lang="en-US" sz="1400" dirty="0">
                <a:solidFill>
                  <a:srgbClr val="0B1F33"/>
                </a:solidFill>
                <a:latin typeface="Consolas" pitchFamily="34" charset="0"/>
                <a:ea typeface="Consolas" pitchFamily="34" charset="-122"/>
                <a:cs typeface="Consolas" pitchFamily="34" charset="-120"/>
              </a:rPr>
              <a:t>  nb_01_synapse_migration.Notebook</a:t>
            </a:r>
            <a:endParaRPr lang="en-US" sz="1400" dirty="0"/>
          </a:p>
          <a:p>
            <a:pPr indent="0" marL="0">
              <a:buNone/>
            </a:pPr>
            <a:r>
              <a:rPr lang="en-US" sz="1400" dirty="0">
                <a:solidFill>
                  <a:srgbClr val="0B1F33"/>
                </a:solidFill>
                <a:latin typeface="Consolas" pitchFamily="34" charset="0"/>
                <a:ea typeface="Consolas" pitchFamily="34" charset="-122"/>
                <a:cs typeface="Consolas" pitchFamily="34" charset="-120"/>
              </a:rPr>
              <a:t>  nb_02_bronze_to_silver.Notebook</a:t>
            </a:r>
            <a:endParaRPr lang="en-US" sz="1400" dirty="0"/>
          </a:p>
          <a:p>
            <a:pPr indent="0" marL="0">
              <a:buNone/>
            </a:pPr>
            <a:r>
              <a:rPr lang="en-US" sz="1400" dirty="0">
                <a:solidFill>
                  <a:srgbClr val="0B1F33"/>
                </a:solidFill>
                <a:latin typeface="Consolas" pitchFamily="34" charset="0"/>
                <a:ea typeface="Consolas" pitchFamily="34" charset="-122"/>
                <a:cs typeface="Consolas" pitchFamily="34" charset="-120"/>
              </a:rPr>
              <a:t>  nb_03_delta_lakehouse_deep_dive.Notebook</a:t>
            </a:r>
            <a:endParaRPr lang="en-US" sz="1400" dirty="0"/>
          </a:p>
          <a:p>
            <a:pPr indent="0" marL="0">
              <a:buNone/>
            </a:pPr>
            <a:r>
              <a:rPr lang="en-US" sz="1400" dirty="0">
                <a:solidFill>
                  <a:srgbClr val="0B1F33"/>
                </a:solidFill>
                <a:latin typeface="Consolas" pitchFamily="34" charset="0"/>
                <a:ea typeface="Consolas" pitchFamily="34" charset="-122"/>
                <a:cs typeface="Consolas" pitchFamily="34" charset="-120"/>
              </a:rPr>
              <a:t>  nb_04_silver_to_gold_warehouse.Notebook</a:t>
            </a:r>
            <a:endParaRPr lang="en-US" sz="1400" dirty="0"/>
          </a:p>
          <a:p>
            <a:pPr indent="0" marL="0">
              <a:buNone/>
            </a:pPr>
            <a:r>
              <a:rPr lang="en-US" sz="1400" dirty="0">
                <a:solidFill>
                  <a:srgbClr val="0B1F33"/>
                </a:solidFill>
                <a:latin typeface="Consolas" pitchFamily="34" charset="0"/>
                <a:ea typeface="Consolas" pitchFamily="34" charset="-122"/>
                <a:cs typeface="Consolas" pitchFamily="34" charset="-120"/>
              </a:rPr>
              <a:t>  pl_medallion_daily.DataPipeline</a:t>
            </a:r>
            <a:endParaRPr lang="en-US" sz="1400" dirty="0"/>
          </a:p>
          <a:p>
            <a:pPr indent="0" marL="0">
              <a:buNone/>
            </a:pPr>
            <a:r>
              <a:rPr lang="en-US" sz="1400" dirty="0">
                <a:solidFill>
                  <a:srgbClr val="0B1F33"/>
                </a:solidFill>
                <a:latin typeface="Consolas" pitchFamily="34" charset="0"/>
                <a:ea typeface="Consolas" pitchFamily="34" charset="-122"/>
                <a:cs typeface="Consolas" pitchFamily="34" charset="-120"/>
              </a:rPr>
              <a:t>  pl_synapse_migration.DataPipeline</a:t>
            </a:r>
            <a:endParaRPr lang="en-US" sz="1400" dirty="0"/>
          </a:p>
          <a:p>
            <a:pPr indent="0" marL="0">
              <a:buNone/>
            </a:pPr>
            <a:r>
              <a:rPr lang="en-US" sz="1400" dirty="0">
                <a:solidFill>
                  <a:srgbClr val="0B1F33"/>
                </a:solidFill>
                <a:latin typeface="Consolas" pitchFamily="34" charset="0"/>
                <a:ea typeface="Consolas" pitchFamily="34" charset="-122"/>
                <a:cs typeface="Consolas" pitchFamily="34" charset="-120"/>
              </a:rPr>
              <a:t>  df_province_reference.Dataflow</a:t>
            </a:r>
            <a:endParaRPr lang="en-US" sz="1400" dirty="0"/>
          </a:p>
        </p:txBody>
      </p:sp>
      <p:sp>
        <p:nvSpPr>
          <p:cNvPr id="13" name="Text 11"/>
          <p:cNvSpPr/>
          <p:nvPr/>
        </p:nvSpPr>
        <p:spPr>
          <a:xfrm>
            <a:off x="4754880" y="5669280"/>
            <a:ext cx="6766560" cy="274320"/>
          </a:xfrm>
          <a:prstGeom prst="rect">
            <a:avLst/>
          </a:prstGeom>
          <a:noFill/>
          <a:ln/>
        </p:spPr>
        <p:txBody>
          <a:bodyPr wrap="square" lIns="0" tIns="0" rIns="0" bIns="0" rtlCol="0" anchor="ctr"/>
          <a:lstStyle/>
          <a:p>
            <a:pPr indent="0" marL="0">
              <a:buNone/>
            </a:pPr>
            <a:r>
              <a:rPr lang="en-US" sz="1200" dirty="0">
                <a:solidFill>
                  <a:srgbClr val="5B6B7A"/>
                </a:solidFill>
                <a:latin typeface="Segoe UI" pitchFamily="34" charset="0"/>
                <a:ea typeface="Segoe UI" pitchFamily="34" charset="-122"/>
                <a:cs typeface="Segoe UI" pitchFamily="34" charset="-120"/>
              </a:rPr>
              <a:t>13 Dev items committed by Fabric's Git integration in our build.</a:t>
            </a:r>
            <a:endParaRPr lang="en-US" sz="1200" dirty="0"/>
          </a:p>
        </p:txBody>
      </p:sp>
      <p:sp>
        <p:nvSpPr>
          <p:cNvPr id="14" name="Text 12"/>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15" name="Text 13"/>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DEMO 7 · 10 MIN</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Deployment pipelines promote code, not data</a:t>
            </a:r>
            <a:endParaRPr lang="en-US" sz="3000" dirty="0"/>
          </a:p>
        </p:txBody>
      </p:sp>
      <p:sp>
        <p:nvSpPr>
          <p:cNvPr id="5" name="Shape 3"/>
          <p:cNvSpPr/>
          <p:nvPr/>
        </p:nvSpPr>
        <p:spPr>
          <a:xfrm>
            <a:off x="548640" y="1691640"/>
            <a:ext cx="3017520" cy="1143000"/>
          </a:xfrm>
          <a:prstGeom prst="rect">
            <a:avLst/>
          </a:prstGeom>
          <a:solidFill>
            <a:srgbClr val="0B1F33"/>
          </a:solidFill>
          <a:ln w="12700">
            <a:solidFill>
              <a:srgbClr val="0B1F33"/>
            </a:solidFill>
            <a:prstDash val="solid"/>
          </a:ln>
        </p:spPr>
      </p:sp>
      <p:sp>
        <p:nvSpPr>
          <p:cNvPr id="6" name="Text 4"/>
          <p:cNvSpPr/>
          <p:nvPr/>
        </p:nvSpPr>
        <p:spPr>
          <a:xfrm>
            <a:off x="777240" y="1691640"/>
            <a:ext cx="2651760" cy="1143000"/>
          </a:xfrm>
          <a:prstGeom prst="rect">
            <a:avLst/>
          </a:prstGeom>
          <a:noFill/>
          <a:ln/>
        </p:spPr>
        <p:txBody>
          <a:bodyPr wrap="square" lIns="0" tIns="0" rIns="0" bIns="0" rtlCol="0" anchor="ctr"/>
          <a:lstStyle/>
          <a:p>
            <a:pPr indent="0" marL="0">
              <a:buNone/>
            </a:pPr>
            <a:r>
              <a:rPr lang="en-US" sz="2000" dirty="0">
                <a:solidFill>
                  <a:srgbClr val="FFFFFF"/>
                </a:solidFill>
                <a:latin typeface="Segoe UI Semibold" pitchFamily="34" charset="0"/>
                <a:ea typeface="Segoe UI Semibold" pitchFamily="34" charset="-122"/>
                <a:cs typeface="Segoe UI Semibold" pitchFamily="34" charset="-120"/>
              </a:rPr>
              <a:t>Dev</a:t>
            </a:r>
            <a:endParaRPr lang="en-US" sz="2000" dirty="0"/>
          </a:p>
          <a:p>
            <a:pPr indent="0" marL="0">
              <a:buNone/>
            </a:pPr>
            <a:r>
              <a:rPr lang="en-US" sz="1200" dirty="0">
                <a:solidFill>
                  <a:srgbClr val="FFFFFF"/>
                </a:solidFill>
                <a:latin typeface="Segoe UI" pitchFamily="34" charset="0"/>
                <a:ea typeface="Segoe UI" pitchFamily="34" charset="-122"/>
                <a:cs typeface="Segoe UI" pitchFamily="34" charset="-120"/>
              </a:rPr>
              <a:t>FDW-Dev-OSFI-2610</a:t>
            </a:r>
            <a:endParaRPr lang="en-US" sz="2000" dirty="0"/>
          </a:p>
        </p:txBody>
      </p:sp>
      <p:sp>
        <p:nvSpPr>
          <p:cNvPr id="7" name="Text 5"/>
          <p:cNvSpPr/>
          <p:nvPr/>
        </p:nvSpPr>
        <p:spPr>
          <a:xfrm>
            <a:off x="548640" y="2944368"/>
            <a:ext cx="3017520" cy="685800"/>
          </a:xfrm>
          <a:prstGeom prst="rect">
            <a:avLst/>
          </a:prstGeom>
          <a:noFill/>
          <a:ln/>
        </p:spPr>
        <p:txBody>
          <a:bodyPr wrap="square" lIns="0" tIns="0" rIns="0" bIns="0" rtlCol="0" anchor="t"/>
          <a:lstStyle/>
          <a:p>
            <a:pPr indent="0" marL="0">
              <a:buNone/>
            </a:pPr>
            <a:r>
              <a:rPr lang="en-US" sz="1300" b="1" dirty="0">
                <a:solidFill>
                  <a:srgbClr val="0B1F33"/>
                </a:solidFill>
                <a:latin typeface="Segoe UI" pitchFamily="34" charset="0"/>
                <a:ea typeface="Segoe UI" pitchFamily="34" charset="-122"/>
                <a:cs typeface="Segoe UI" pitchFamily="34" charset="-120"/>
              </a:rPr>
              <a:t>Code: </a:t>
            </a:r>
            <a:pPr indent="0" marL="0">
              <a:buNone/>
            </a:pPr>
            <a:r>
              <a:rPr lang="en-US" sz="1300" dirty="0">
                <a:solidFill>
                  <a:srgbClr val="1B2733"/>
                </a:solidFill>
                <a:latin typeface="Segoe UI" pitchFamily="34" charset="0"/>
                <a:ea typeface="Segoe UI" pitchFamily="34" charset="-122"/>
                <a:cs typeface="Segoe UI" pitchFamily="34" charset="-120"/>
              </a:rPr>
              <a:t>authored and committed to Git</a:t>
            </a:r>
            <a:endParaRPr lang="en-US" sz="1300" dirty="0"/>
          </a:p>
          <a:p>
            <a:pPr indent="0" marL="0">
              <a:buNone/>
            </a:pPr>
            <a:r>
              <a:rPr lang="en-US" sz="1300" b="1" dirty="0">
                <a:solidFill>
                  <a:srgbClr val="0B1F33"/>
                </a:solidFill>
                <a:latin typeface="Segoe UI" pitchFamily="34" charset="0"/>
                <a:ea typeface="Segoe UI" pitchFamily="34" charset="-122"/>
                <a:cs typeface="Segoe UI" pitchFamily="34" charset="-120"/>
              </a:rPr>
              <a:t>Data: </a:t>
            </a:r>
            <a:pPr indent="0" marL="0">
              <a:buNone/>
            </a:pPr>
            <a:r>
              <a:rPr lang="en-US" sz="1300" dirty="0">
                <a:solidFill>
                  <a:srgbClr val="1B2733"/>
                </a:solidFill>
                <a:latin typeface="Segoe UI" pitchFamily="34" charset="0"/>
                <a:ea typeface="Segoe UI" pitchFamily="34" charset="-122"/>
                <a:cs typeface="Segoe UI" pitchFamily="34" charset="-120"/>
              </a:rPr>
              <a:t>created by the pipelines</a:t>
            </a:r>
            <a:endParaRPr lang="en-US" sz="1300" dirty="0"/>
          </a:p>
        </p:txBody>
      </p:sp>
      <p:sp>
        <p:nvSpPr>
          <p:cNvPr id="8" name="Shape 6"/>
          <p:cNvSpPr/>
          <p:nvPr/>
        </p:nvSpPr>
        <p:spPr>
          <a:xfrm>
            <a:off x="4572000" y="1691640"/>
            <a:ext cx="3017520" cy="1143000"/>
          </a:xfrm>
          <a:prstGeom prst="rect">
            <a:avLst/>
          </a:prstGeom>
          <a:solidFill>
            <a:srgbClr val="0E7C86"/>
          </a:solidFill>
          <a:ln w="12700">
            <a:solidFill>
              <a:srgbClr val="0E7C86"/>
            </a:solidFill>
            <a:prstDash val="solid"/>
          </a:ln>
        </p:spPr>
      </p:sp>
      <p:sp>
        <p:nvSpPr>
          <p:cNvPr id="9" name="Text 7"/>
          <p:cNvSpPr/>
          <p:nvPr/>
        </p:nvSpPr>
        <p:spPr>
          <a:xfrm>
            <a:off x="4800600" y="1691640"/>
            <a:ext cx="2651760" cy="1143000"/>
          </a:xfrm>
          <a:prstGeom prst="rect">
            <a:avLst/>
          </a:prstGeom>
          <a:noFill/>
          <a:ln/>
        </p:spPr>
        <p:txBody>
          <a:bodyPr wrap="square" lIns="0" tIns="0" rIns="0" bIns="0" rtlCol="0" anchor="ctr"/>
          <a:lstStyle/>
          <a:p>
            <a:pPr indent="0" marL="0">
              <a:buNone/>
            </a:pPr>
            <a:r>
              <a:rPr lang="en-US" sz="2000" dirty="0">
                <a:solidFill>
                  <a:srgbClr val="FFFFFF"/>
                </a:solidFill>
                <a:latin typeface="Segoe UI Semibold" pitchFamily="34" charset="0"/>
                <a:ea typeface="Segoe UI Semibold" pitchFamily="34" charset="-122"/>
                <a:cs typeface="Segoe UI Semibold" pitchFamily="34" charset="-120"/>
              </a:rPr>
              <a:t>Test</a:t>
            </a:r>
            <a:endParaRPr lang="en-US" sz="2000" dirty="0"/>
          </a:p>
          <a:p>
            <a:pPr indent="0" marL="0">
              <a:buNone/>
            </a:pPr>
            <a:r>
              <a:rPr lang="en-US" sz="1200" dirty="0">
                <a:solidFill>
                  <a:srgbClr val="FFFFFF"/>
                </a:solidFill>
                <a:latin typeface="Segoe UI" pitchFamily="34" charset="0"/>
                <a:ea typeface="Segoe UI" pitchFamily="34" charset="-122"/>
                <a:cs typeface="Segoe UI" pitchFamily="34" charset="-120"/>
              </a:rPr>
              <a:t>FDW-Test-OSFI-2610</a:t>
            </a:r>
            <a:endParaRPr lang="en-US" sz="2000" dirty="0"/>
          </a:p>
        </p:txBody>
      </p:sp>
      <p:sp>
        <p:nvSpPr>
          <p:cNvPr id="10" name="Text 8"/>
          <p:cNvSpPr/>
          <p:nvPr/>
        </p:nvSpPr>
        <p:spPr>
          <a:xfrm>
            <a:off x="4572000" y="2944368"/>
            <a:ext cx="3017520" cy="685800"/>
          </a:xfrm>
          <a:prstGeom prst="rect">
            <a:avLst/>
          </a:prstGeom>
          <a:noFill/>
          <a:ln/>
        </p:spPr>
        <p:txBody>
          <a:bodyPr wrap="square" lIns="0" tIns="0" rIns="0" bIns="0" rtlCol="0" anchor="t"/>
          <a:lstStyle/>
          <a:p>
            <a:pPr indent="0" marL="0">
              <a:buNone/>
            </a:pPr>
            <a:r>
              <a:rPr lang="en-US" sz="1300" b="1" dirty="0">
                <a:solidFill>
                  <a:srgbClr val="0B1F33"/>
                </a:solidFill>
                <a:latin typeface="Segoe UI" pitchFamily="34" charset="0"/>
                <a:ea typeface="Segoe UI" pitchFamily="34" charset="-122"/>
                <a:cs typeface="Segoe UI" pitchFamily="34" charset="-120"/>
              </a:rPr>
              <a:t>Code: </a:t>
            </a:r>
            <a:pPr indent="0" marL="0">
              <a:buNone/>
            </a:pPr>
            <a:r>
              <a:rPr lang="en-US" sz="1300" dirty="0">
                <a:solidFill>
                  <a:srgbClr val="1B2733"/>
                </a:solidFill>
                <a:latin typeface="Segoe UI" pitchFamily="34" charset="0"/>
                <a:ea typeface="Segoe UI" pitchFamily="34" charset="-122"/>
                <a:cs typeface="Segoe UI" pitchFamily="34" charset="-120"/>
              </a:rPr>
              <a:t>deployed from Dev</a:t>
            </a:r>
            <a:endParaRPr lang="en-US" sz="1300" dirty="0"/>
          </a:p>
          <a:p>
            <a:pPr indent="0" marL="0">
              <a:buNone/>
            </a:pPr>
            <a:r>
              <a:rPr lang="en-US" sz="1300" b="1" dirty="0">
                <a:solidFill>
                  <a:srgbClr val="0B1F33"/>
                </a:solidFill>
                <a:latin typeface="Segoe UI" pitchFamily="34" charset="0"/>
                <a:ea typeface="Segoe UI" pitchFamily="34" charset="-122"/>
                <a:cs typeface="Segoe UI" pitchFamily="34" charset="-120"/>
              </a:rPr>
              <a:t>Data: </a:t>
            </a:r>
            <a:pPr indent="0" marL="0">
              <a:buNone/>
            </a:pPr>
            <a:r>
              <a:rPr lang="en-US" sz="1300" dirty="0">
                <a:solidFill>
                  <a:srgbClr val="1B2733"/>
                </a:solidFill>
                <a:latin typeface="Segoe UI" pitchFamily="34" charset="0"/>
                <a:ea typeface="Segoe UI" pitchFamily="34" charset="-122"/>
                <a:cs typeface="Segoe UI" pitchFamily="34" charset="-120"/>
              </a:rPr>
              <a:t>loaded by pipelines</a:t>
            </a:r>
            <a:endParaRPr lang="en-US" sz="1300" dirty="0"/>
          </a:p>
        </p:txBody>
      </p:sp>
      <p:sp>
        <p:nvSpPr>
          <p:cNvPr id="11" name="Shape 9"/>
          <p:cNvSpPr/>
          <p:nvPr/>
        </p:nvSpPr>
        <p:spPr>
          <a:xfrm>
            <a:off x="8595360" y="1691640"/>
            <a:ext cx="3017520" cy="1143000"/>
          </a:xfrm>
          <a:prstGeom prst="rect">
            <a:avLst/>
          </a:prstGeom>
          <a:solidFill>
            <a:srgbClr val="5F6B7A"/>
          </a:solidFill>
          <a:ln w="12700">
            <a:solidFill>
              <a:srgbClr val="5F6B7A"/>
            </a:solidFill>
            <a:prstDash val="solid"/>
          </a:ln>
        </p:spPr>
      </p:sp>
      <p:sp>
        <p:nvSpPr>
          <p:cNvPr id="12" name="Text 10"/>
          <p:cNvSpPr/>
          <p:nvPr/>
        </p:nvSpPr>
        <p:spPr>
          <a:xfrm>
            <a:off x="8823960" y="1691640"/>
            <a:ext cx="2651760" cy="1143000"/>
          </a:xfrm>
          <a:prstGeom prst="rect">
            <a:avLst/>
          </a:prstGeom>
          <a:noFill/>
          <a:ln/>
        </p:spPr>
        <p:txBody>
          <a:bodyPr wrap="square" lIns="0" tIns="0" rIns="0" bIns="0" rtlCol="0" anchor="ctr"/>
          <a:lstStyle/>
          <a:p>
            <a:pPr indent="0" marL="0">
              <a:buNone/>
            </a:pPr>
            <a:r>
              <a:rPr lang="en-US" sz="2000" dirty="0">
                <a:solidFill>
                  <a:srgbClr val="FFFFFF"/>
                </a:solidFill>
                <a:latin typeface="Segoe UI Semibold" pitchFamily="34" charset="0"/>
                <a:ea typeface="Segoe UI Semibold" pitchFamily="34" charset="-122"/>
                <a:cs typeface="Segoe UI Semibold" pitchFamily="34" charset="-120"/>
              </a:rPr>
              <a:t>Prod</a:t>
            </a:r>
            <a:endParaRPr lang="en-US" sz="2000" dirty="0"/>
          </a:p>
          <a:p>
            <a:pPr indent="0" marL="0">
              <a:buNone/>
            </a:pPr>
            <a:r>
              <a:rPr lang="en-US" sz="1200" dirty="0">
                <a:solidFill>
                  <a:srgbClr val="FFFFFF"/>
                </a:solidFill>
                <a:latin typeface="Segoe UI" pitchFamily="34" charset="0"/>
                <a:ea typeface="Segoe UI" pitchFamily="34" charset="-122"/>
                <a:cs typeface="Segoe UI" pitchFamily="34" charset="-120"/>
              </a:rPr>
              <a:t>FDW-Prod-OSFI-2610</a:t>
            </a:r>
            <a:endParaRPr lang="en-US" sz="2000" dirty="0"/>
          </a:p>
        </p:txBody>
      </p:sp>
      <p:sp>
        <p:nvSpPr>
          <p:cNvPr id="13" name="Text 11"/>
          <p:cNvSpPr/>
          <p:nvPr/>
        </p:nvSpPr>
        <p:spPr>
          <a:xfrm>
            <a:off x="8595360" y="2944368"/>
            <a:ext cx="3017520" cy="685800"/>
          </a:xfrm>
          <a:prstGeom prst="rect">
            <a:avLst/>
          </a:prstGeom>
          <a:noFill/>
          <a:ln/>
        </p:spPr>
        <p:txBody>
          <a:bodyPr wrap="square" lIns="0" tIns="0" rIns="0" bIns="0" rtlCol="0" anchor="t"/>
          <a:lstStyle/>
          <a:p>
            <a:pPr indent="0" marL="0">
              <a:buNone/>
            </a:pPr>
            <a:r>
              <a:rPr lang="en-US" sz="1300" b="1" dirty="0">
                <a:solidFill>
                  <a:srgbClr val="0B1F33"/>
                </a:solidFill>
                <a:latin typeface="Segoe UI" pitchFamily="34" charset="0"/>
                <a:ea typeface="Segoe UI" pitchFamily="34" charset="-122"/>
                <a:cs typeface="Segoe UI" pitchFamily="34" charset="-120"/>
              </a:rPr>
              <a:t>Code: </a:t>
            </a:r>
            <a:pPr indent="0" marL="0">
              <a:buNone/>
            </a:pPr>
            <a:r>
              <a:rPr lang="en-US" sz="1300" dirty="0">
                <a:solidFill>
                  <a:srgbClr val="1B2733"/>
                </a:solidFill>
                <a:latin typeface="Segoe UI" pitchFamily="34" charset="0"/>
                <a:ea typeface="Segoe UI" pitchFamily="34" charset="-122"/>
                <a:cs typeface="Segoe UI" pitchFamily="34" charset="-120"/>
              </a:rPr>
              <a:t>deployed from Test after approval</a:t>
            </a:r>
            <a:endParaRPr lang="en-US" sz="1300" dirty="0"/>
          </a:p>
          <a:p>
            <a:pPr indent="0" marL="0">
              <a:buNone/>
            </a:pPr>
            <a:r>
              <a:rPr lang="en-US" sz="1300" b="1" dirty="0">
                <a:solidFill>
                  <a:srgbClr val="0B1F33"/>
                </a:solidFill>
                <a:latin typeface="Segoe UI" pitchFamily="34" charset="0"/>
                <a:ea typeface="Segoe UI" pitchFamily="34" charset="-122"/>
                <a:cs typeface="Segoe UI" pitchFamily="34" charset="-120"/>
              </a:rPr>
              <a:t>Data: </a:t>
            </a:r>
            <a:pPr indent="0" marL="0">
              <a:buNone/>
            </a:pPr>
            <a:r>
              <a:rPr lang="en-US" sz="1300" dirty="0">
                <a:solidFill>
                  <a:srgbClr val="1B2733"/>
                </a:solidFill>
                <a:latin typeface="Segoe UI" pitchFamily="34" charset="0"/>
                <a:ea typeface="Segoe UI" pitchFamily="34" charset="-122"/>
                <a:cs typeface="Segoe UI" pitchFamily="34" charset="-120"/>
              </a:rPr>
              <a:t>loaded by pipelines</a:t>
            </a:r>
            <a:endParaRPr lang="en-US" sz="1300" dirty="0"/>
          </a:p>
        </p:txBody>
      </p:sp>
      <p:sp>
        <p:nvSpPr>
          <p:cNvPr id="14" name="Shape 12"/>
          <p:cNvSpPr/>
          <p:nvPr/>
        </p:nvSpPr>
        <p:spPr>
          <a:xfrm>
            <a:off x="3611880" y="2263140"/>
            <a:ext cx="914400" cy="0"/>
          </a:xfrm>
          <a:prstGeom prst="line">
            <a:avLst/>
          </a:prstGeom>
          <a:noFill/>
          <a:ln w="25400">
            <a:solidFill>
              <a:srgbClr val="0B1F33"/>
            </a:solidFill>
            <a:prstDash val="solid"/>
            <a:tailEnd type="triangle"/>
          </a:ln>
        </p:spPr>
      </p:sp>
      <p:sp>
        <p:nvSpPr>
          <p:cNvPr id="15" name="Shape 13"/>
          <p:cNvSpPr/>
          <p:nvPr/>
        </p:nvSpPr>
        <p:spPr>
          <a:xfrm>
            <a:off x="7635240" y="2263140"/>
            <a:ext cx="914400" cy="0"/>
          </a:xfrm>
          <a:prstGeom prst="line">
            <a:avLst/>
          </a:prstGeom>
          <a:noFill/>
          <a:ln w="25400">
            <a:solidFill>
              <a:srgbClr val="0B1F33"/>
            </a:solidFill>
            <a:prstDash val="solid"/>
            <a:tailEnd type="triangle"/>
          </a:ln>
        </p:spPr>
      </p:sp>
      <p:sp>
        <p:nvSpPr>
          <p:cNvPr id="16" name="Text 14"/>
          <p:cNvSpPr/>
          <p:nvPr/>
        </p:nvSpPr>
        <p:spPr>
          <a:xfrm>
            <a:off x="3566160" y="1828800"/>
            <a:ext cx="1005840" cy="274320"/>
          </a:xfrm>
          <a:prstGeom prst="rect">
            <a:avLst/>
          </a:prstGeom>
          <a:noFill/>
          <a:ln/>
        </p:spPr>
        <p:txBody>
          <a:bodyPr wrap="square" lIns="0" tIns="0" rIns="0" bIns="0" rtlCol="0" anchor="ctr"/>
          <a:lstStyle/>
          <a:p>
            <a:pPr algn="ctr" indent="0" marL="0">
              <a:buNone/>
            </a:pPr>
            <a:r>
              <a:rPr lang="en-US" sz="1100" dirty="0">
                <a:solidFill>
                  <a:srgbClr val="5B6B7A"/>
                </a:solidFill>
                <a:latin typeface="Segoe UI" pitchFamily="34" charset="0"/>
                <a:ea typeface="Segoe UI" pitchFamily="34" charset="-122"/>
                <a:cs typeface="Segoe UI" pitchFamily="34" charset="-120"/>
              </a:rPr>
              <a:t>Deploy</a:t>
            </a:r>
            <a:endParaRPr lang="en-US" sz="1100" dirty="0"/>
          </a:p>
        </p:txBody>
      </p:sp>
      <p:sp>
        <p:nvSpPr>
          <p:cNvPr id="17" name="Text 15"/>
          <p:cNvSpPr/>
          <p:nvPr/>
        </p:nvSpPr>
        <p:spPr>
          <a:xfrm>
            <a:off x="7589520" y="1828800"/>
            <a:ext cx="1005840" cy="274320"/>
          </a:xfrm>
          <a:prstGeom prst="rect">
            <a:avLst/>
          </a:prstGeom>
          <a:noFill/>
          <a:ln/>
        </p:spPr>
        <p:txBody>
          <a:bodyPr wrap="square" lIns="0" tIns="0" rIns="0" bIns="0" rtlCol="0" anchor="ctr"/>
          <a:lstStyle/>
          <a:p>
            <a:pPr algn="ctr" indent="0" marL="0">
              <a:buNone/>
            </a:pPr>
            <a:r>
              <a:rPr lang="en-US" sz="1100" dirty="0">
                <a:solidFill>
                  <a:srgbClr val="5B6B7A"/>
                </a:solidFill>
                <a:latin typeface="Segoe UI" pitchFamily="34" charset="0"/>
                <a:ea typeface="Segoe UI" pitchFamily="34" charset="-122"/>
                <a:cs typeface="Segoe UI" pitchFamily="34" charset="-120"/>
              </a:rPr>
              <a:t>Deploy</a:t>
            </a:r>
            <a:endParaRPr lang="en-US" sz="1100" dirty="0"/>
          </a:p>
        </p:txBody>
      </p:sp>
      <p:sp>
        <p:nvSpPr>
          <p:cNvPr id="18" name="Shape 16"/>
          <p:cNvSpPr/>
          <p:nvPr/>
        </p:nvSpPr>
        <p:spPr>
          <a:xfrm>
            <a:off x="548640" y="3840480"/>
            <a:ext cx="11091672" cy="201168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9" name="Shape 17"/>
          <p:cNvSpPr/>
          <p:nvPr/>
        </p:nvSpPr>
        <p:spPr>
          <a:xfrm>
            <a:off x="548640" y="3840480"/>
            <a:ext cx="73152" cy="2011680"/>
          </a:xfrm>
          <a:prstGeom prst="rect">
            <a:avLst/>
          </a:prstGeom>
          <a:solidFill>
            <a:srgbClr val="0E7C86"/>
          </a:solidFill>
          <a:ln w="12700">
            <a:solidFill>
              <a:srgbClr val="0E7C86"/>
            </a:solidFill>
            <a:prstDash val="solid"/>
          </a:ln>
        </p:spPr>
      </p:sp>
      <p:sp>
        <p:nvSpPr>
          <p:cNvPr id="20" name="Text 18"/>
          <p:cNvSpPr/>
          <p:nvPr/>
        </p:nvSpPr>
        <p:spPr>
          <a:xfrm>
            <a:off x="868680" y="3986784"/>
            <a:ext cx="10515600" cy="365760"/>
          </a:xfrm>
          <a:prstGeom prst="rect">
            <a:avLst/>
          </a:prstGeom>
          <a:noFill/>
          <a:ln/>
        </p:spPr>
        <p:txBody>
          <a:bodyPr wrap="square" lIns="0" tIns="0" rIns="0" bIns="0" rtlCol="0" anchor="ctr"/>
          <a:lstStyle/>
          <a:p>
            <a:pPr indent="0" marL="0">
              <a:buNone/>
            </a:pPr>
            <a:r>
              <a:rPr lang="en-US" sz="1700" dirty="0">
                <a:solidFill>
                  <a:srgbClr val="0B1F33"/>
                </a:solidFill>
                <a:latin typeface="Segoe UI Semibold" pitchFamily="34" charset="0"/>
                <a:ea typeface="Segoe UI Semibold" pitchFamily="34" charset="-122"/>
                <a:cs typeface="Segoe UI Semibold" pitchFamily="34" charset="-120"/>
              </a:rPr>
              <a:t>What we learned</a:t>
            </a:r>
            <a:endParaRPr lang="en-US" sz="1700" dirty="0"/>
          </a:p>
        </p:txBody>
      </p:sp>
      <p:sp>
        <p:nvSpPr>
          <p:cNvPr id="21" name="Text 19"/>
          <p:cNvSpPr/>
          <p:nvPr/>
        </p:nvSpPr>
        <p:spPr>
          <a:xfrm>
            <a:off x="868680" y="4480560"/>
            <a:ext cx="10515600" cy="1554480"/>
          </a:xfrm>
          <a:prstGeom prst="rect">
            <a:avLst/>
          </a:prstGeom>
          <a:noFill/>
          <a:ln/>
        </p:spPr>
        <p:txBody>
          <a:bodyPr wrap="square" lIns="0" tIns="0" rIns="0" bIns="0" rtlCol="0" anchor="t"/>
          <a:lstStyle/>
          <a:p>
            <a:pPr marL="203200" indent="-203200">
              <a:spcAft>
                <a:spcPts val="900"/>
              </a:spcAft>
              <a:buSzPct val="100000"/>
              <a:buChar char="•"/>
            </a:pPr>
            <a:r>
              <a:rPr lang="en-US" sz="1450" b="1" dirty="0">
                <a:solidFill>
                  <a:srgbClr val="0B1F33"/>
                </a:solidFill>
                <a:latin typeface="Segoe UI" pitchFamily="34" charset="0"/>
                <a:ea typeface="Segoe UI" pitchFamily="34" charset="-122"/>
                <a:cs typeface="Segoe UI" pitchFamily="34" charset="-120"/>
              </a:rPr>
              <a:t>Rebinds references: </a:t>
            </a:r>
            <a:pPr indent="0" marL="0">
              <a:buNone/>
            </a:pPr>
            <a:r>
              <a:rPr lang="en-US" sz="1450" dirty="0">
                <a:solidFill>
                  <a:srgbClr val="1B2733"/>
                </a:solidFill>
                <a:latin typeface="Segoe UI" pitchFamily="34" charset="0"/>
                <a:ea typeface="Segoe UI" pitchFamily="34" charset="-122"/>
                <a:cs typeface="Segoe UI" pitchFamily="34" charset="-120"/>
              </a:rPr>
              <a:t>Test notebooks pointed at Test lakehouses after deployment (verified)</a:t>
            </a:r>
            <a:endParaRPr lang="en-US" sz="1450" dirty="0"/>
          </a:p>
          <a:p>
            <a:pPr marL="203200" indent="-203200">
              <a:spcAft>
                <a:spcPts val="900"/>
              </a:spcAft>
              <a:buSzPct val="100000"/>
              <a:buChar char="•"/>
            </a:pPr>
            <a:r>
              <a:rPr lang="en-US" sz="1450" b="1" dirty="0">
                <a:solidFill>
                  <a:srgbClr val="0B1F33"/>
                </a:solidFill>
                <a:latin typeface="Segoe UI" pitchFamily="34" charset="0"/>
                <a:ea typeface="Segoe UI" pitchFamily="34" charset="-122"/>
                <a:cs typeface="Segoe UI" pitchFamily="34" charset="-120"/>
              </a:rPr>
              <a:t>Lakehouses deploy empty: </a:t>
            </a:r>
            <a:pPr indent="0" marL="0">
              <a:buNone/>
            </a:pPr>
            <a:r>
              <a:rPr lang="en-US" sz="1450" dirty="0">
                <a:solidFill>
                  <a:srgbClr val="1B2733"/>
                </a:solidFill>
                <a:latin typeface="Segoe UI" pitchFamily="34" charset="0"/>
                <a:ea typeface="Segoe UI" pitchFamily="34" charset="-122"/>
                <a:cs typeface="Segoe UI" pitchFamily="34" charset="-120"/>
              </a:rPr>
              <a:t>run the Medallion pipeline or the migration load in each stage</a:t>
            </a:r>
            <a:endParaRPr lang="en-US" sz="1450" dirty="0"/>
          </a:p>
          <a:p>
            <a:pPr marL="203200" indent="-203200">
              <a:spcAft>
                <a:spcPts val="900"/>
              </a:spcAft>
              <a:buSzPct val="100000"/>
              <a:buChar char="•"/>
            </a:pPr>
            <a:r>
              <a:rPr lang="en-US" sz="1450" b="1" dirty="0">
                <a:solidFill>
                  <a:srgbClr val="0B1F33"/>
                </a:solidFill>
                <a:latin typeface="Segoe UI" pitchFamily="34" charset="0"/>
                <a:ea typeface="Segoe UI" pitchFamily="34" charset="-122"/>
                <a:cs typeface="Segoe UI" pitchFamily="34" charset="-120"/>
              </a:rPr>
              <a:t>Warehouse re-deploys failed: </a:t>
            </a:r>
            <a:pPr indent="0" marL="0">
              <a:buNone/>
            </a:pPr>
            <a:r>
              <a:rPr lang="en-US" sz="1450" dirty="0">
                <a:solidFill>
                  <a:srgbClr val="1B2733"/>
                </a:solidFill>
                <a:latin typeface="Segoe UI" pitchFamily="34" charset="0"/>
                <a:ea typeface="Segoe UI" pitchFamily="34" charset="-122"/>
                <a:cs typeface="Segoe UI" pitchFamily="34" charset="-120"/>
              </a:rPr>
              <a:t>a repeat deploy returned CopyOverwriteResult.GenericError. Deploy code items selectively, and apply warehouse DDL by script.</a:t>
            </a:r>
            <a:endParaRPr lang="en-US" sz="1450" dirty="0"/>
          </a:p>
        </p:txBody>
      </p:sp>
      <p:sp>
        <p:nvSpPr>
          <p:cNvPr id="22" name="Text 20"/>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23" name="Text 21"/>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TAKEAWAYS</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Ten practices to take back to your teams</a:t>
            </a:r>
            <a:endParaRPr lang="en-US" sz="3000" dirty="0"/>
          </a:p>
        </p:txBody>
      </p:sp>
      <p:sp>
        <p:nvSpPr>
          <p:cNvPr id="5" name="Shape 3"/>
          <p:cNvSpPr/>
          <p:nvPr/>
        </p:nvSpPr>
        <p:spPr>
          <a:xfrm>
            <a:off x="548640" y="1691640"/>
            <a:ext cx="5431536" cy="731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6" name="Shape 4"/>
          <p:cNvSpPr/>
          <p:nvPr/>
        </p:nvSpPr>
        <p:spPr>
          <a:xfrm>
            <a:off x="731520" y="1828800"/>
            <a:ext cx="457200" cy="457200"/>
          </a:xfrm>
          <a:prstGeom prst="ellipse">
            <a:avLst/>
          </a:prstGeom>
          <a:solidFill>
            <a:srgbClr val="0E7C86"/>
          </a:solidFill>
          <a:ln w="12700">
            <a:solidFill>
              <a:srgbClr val="0E7C86"/>
            </a:solidFill>
            <a:prstDash val="solid"/>
          </a:ln>
        </p:spPr>
      </p:sp>
      <p:sp>
        <p:nvSpPr>
          <p:cNvPr id="7" name="Text 5"/>
          <p:cNvSpPr/>
          <p:nvPr/>
        </p:nvSpPr>
        <p:spPr>
          <a:xfrm>
            <a:off x="731520" y="182880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1371600" y="1746504"/>
            <a:ext cx="4425696" cy="621792"/>
          </a:xfrm>
          <a:prstGeom prst="rect">
            <a:avLst/>
          </a:prstGeom>
          <a:noFill/>
          <a:ln/>
        </p:spPr>
        <p:txBody>
          <a:bodyPr wrap="square" lIns="0" tIns="0" rIns="0" bIns="0" rtlCol="0" anchor="ctr"/>
          <a:lstStyle/>
          <a:p>
            <a:pPr indent="0" marL="0">
              <a:buNone/>
            </a:pPr>
            <a:r>
              <a:rPr lang="en-US" sz="1500" dirty="0">
                <a:solidFill>
                  <a:srgbClr val="0B1F33"/>
                </a:solidFill>
                <a:latin typeface="Segoe UI Semibold" pitchFamily="34" charset="0"/>
                <a:ea typeface="Segoe UI Semibold" pitchFamily="34" charset="-122"/>
                <a:cs typeface="Segoe UI Semibold" pitchFamily="34" charset="-120"/>
              </a:rPr>
              <a:t>One contract per layer</a:t>
            </a:r>
            <a:endParaRPr lang="en-US" sz="1500" dirty="0"/>
          </a:p>
          <a:p>
            <a:pPr indent="0" marL="0">
              <a:buNone/>
            </a:pPr>
            <a:r>
              <a:rPr lang="en-US" sz="1250" dirty="0">
                <a:solidFill>
                  <a:srgbClr val="5B6B7A"/>
                </a:solidFill>
                <a:latin typeface="Segoe UI" pitchFamily="34" charset="0"/>
                <a:ea typeface="Segoe UI" pitchFamily="34" charset="-122"/>
                <a:cs typeface="Segoe UI" pitchFamily="34" charset="-120"/>
              </a:rPr>
              <a:t>Grain, keys, quality rules, and an owner, written down</a:t>
            </a:r>
            <a:endParaRPr lang="en-US" sz="1500" dirty="0"/>
          </a:p>
        </p:txBody>
      </p:sp>
      <p:sp>
        <p:nvSpPr>
          <p:cNvPr id="9" name="Shape 7"/>
          <p:cNvSpPr/>
          <p:nvPr/>
        </p:nvSpPr>
        <p:spPr>
          <a:xfrm>
            <a:off x="548640" y="2615184"/>
            <a:ext cx="5431536" cy="731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0" name="Shape 8"/>
          <p:cNvSpPr/>
          <p:nvPr/>
        </p:nvSpPr>
        <p:spPr>
          <a:xfrm>
            <a:off x="731520" y="2752344"/>
            <a:ext cx="457200" cy="457200"/>
          </a:xfrm>
          <a:prstGeom prst="ellipse">
            <a:avLst/>
          </a:prstGeom>
          <a:solidFill>
            <a:srgbClr val="0E7C86"/>
          </a:solidFill>
          <a:ln w="12700">
            <a:solidFill>
              <a:srgbClr val="0E7C86"/>
            </a:solidFill>
            <a:prstDash val="solid"/>
          </a:ln>
        </p:spPr>
      </p:sp>
      <p:sp>
        <p:nvSpPr>
          <p:cNvPr id="11" name="Text 9"/>
          <p:cNvSpPr/>
          <p:nvPr/>
        </p:nvSpPr>
        <p:spPr>
          <a:xfrm>
            <a:off x="731520" y="2752344"/>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2" name="Text 10"/>
          <p:cNvSpPr/>
          <p:nvPr/>
        </p:nvSpPr>
        <p:spPr>
          <a:xfrm>
            <a:off x="1371600" y="2670048"/>
            <a:ext cx="4425696" cy="621792"/>
          </a:xfrm>
          <a:prstGeom prst="rect">
            <a:avLst/>
          </a:prstGeom>
          <a:noFill/>
          <a:ln/>
        </p:spPr>
        <p:txBody>
          <a:bodyPr wrap="square" lIns="0" tIns="0" rIns="0" bIns="0" rtlCol="0" anchor="ctr"/>
          <a:lstStyle/>
          <a:p>
            <a:pPr indent="0" marL="0">
              <a:buNone/>
            </a:pPr>
            <a:r>
              <a:rPr lang="en-US" sz="1500" dirty="0">
                <a:solidFill>
                  <a:srgbClr val="0B1F33"/>
                </a:solidFill>
                <a:latin typeface="Segoe UI Semibold" pitchFamily="34" charset="0"/>
                <a:ea typeface="Segoe UI Semibold" pitchFamily="34" charset="-122"/>
                <a:cs typeface="Segoe UI Semibold" pitchFamily="34" charset="-120"/>
              </a:rPr>
              <a:t>Engine by persona</a:t>
            </a:r>
            <a:endParaRPr lang="en-US" sz="1500" dirty="0"/>
          </a:p>
          <a:p>
            <a:pPr indent="0" marL="0">
              <a:buNone/>
            </a:pPr>
            <a:r>
              <a:rPr lang="en-US" sz="1250" dirty="0">
                <a:solidFill>
                  <a:srgbClr val="5B6B7A"/>
                </a:solidFill>
                <a:latin typeface="Segoe UI" pitchFamily="34" charset="0"/>
                <a:ea typeface="Segoe UI" pitchFamily="34" charset="-122"/>
                <a:cs typeface="Segoe UI" pitchFamily="34" charset="-120"/>
              </a:rPr>
              <a:t>Spark for engineering; T-SQL for analysts and BI</a:t>
            </a:r>
            <a:endParaRPr lang="en-US" sz="1500" dirty="0"/>
          </a:p>
        </p:txBody>
      </p:sp>
      <p:sp>
        <p:nvSpPr>
          <p:cNvPr id="13" name="Shape 11"/>
          <p:cNvSpPr/>
          <p:nvPr/>
        </p:nvSpPr>
        <p:spPr>
          <a:xfrm>
            <a:off x="548640" y="3538728"/>
            <a:ext cx="5431536" cy="731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4" name="Shape 12"/>
          <p:cNvSpPr/>
          <p:nvPr/>
        </p:nvSpPr>
        <p:spPr>
          <a:xfrm>
            <a:off x="731520" y="3675888"/>
            <a:ext cx="457200" cy="457200"/>
          </a:xfrm>
          <a:prstGeom prst="ellipse">
            <a:avLst/>
          </a:prstGeom>
          <a:solidFill>
            <a:srgbClr val="0E7C86"/>
          </a:solidFill>
          <a:ln w="12700">
            <a:solidFill>
              <a:srgbClr val="0E7C86"/>
            </a:solidFill>
            <a:prstDash val="solid"/>
          </a:ln>
        </p:spPr>
      </p:sp>
      <p:sp>
        <p:nvSpPr>
          <p:cNvPr id="15" name="Text 13"/>
          <p:cNvSpPr/>
          <p:nvPr/>
        </p:nvSpPr>
        <p:spPr>
          <a:xfrm>
            <a:off x="731520" y="3675888"/>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6" name="Text 14"/>
          <p:cNvSpPr/>
          <p:nvPr/>
        </p:nvSpPr>
        <p:spPr>
          <a:xfrm>
            <a:off x="1371600" y="3593592"/>
            <a:ext cx="4425696" cy="621792"/>
          </a:xfrm>
          <a:prstGeom prst="rect">
            <a:avLst/>
          </a:prstGeom>
          <a:noFill/>
          <a:ln/>
        </p:spPr>
        <p:txBody>
          <a:bodyPr wrap="square" lIns="0" tIns="0" rIns="0" bIns="0" rtlCol="0" anchor="ctr"/>
          <a:lstStyle/>
          <a:p>
            <a:pPr indent="0" marL="0">
              <a:buNone/>
            </a:pPr>
            <a:r>
              <a:rPr lang="en-US" sz="1500" dirty="0">
                <a:solidFill>
                  <a:srgbClr val="0B1F33"/>
                </a:solidFill>
                <a:latin typeface="Segoe UI Semibold" pitchFamily="34" charset="0"/>
                <a:ea typeface="Segoe UI Semibold" pitchFamily="34" charset="-122"/>
                <a:cs typeface="Segoe UI Semibold" pitchFamily="34" charset="-120"/>
              </a:rPr>
              <a:t>Shortcuts before copies</a:t>
            </a:r>
            <a:endParaRPr lang="en-US" sz="1500" dirty="0"/>
          </a:p>
          <a:p>
            <a:pPr indent="0" marL="0">
              <a:buNone/>
            </a:pPr>
            <a:r>
              <a:rPr lang="en-US" sz="1250" dirty="0">
                <a:solidFill>
                  <a:srgbClr val="5B6B7A"/>
                </a:solidFill>
                <a:latin typeface="Segoe UI" pitchFamily="34" charset="0"/>
                <a:ea typeface="Segoe UI" pitchFamily="34" charset="-122"/>
                <a:cs typeface="Segoe UI" pitchFamily="34" charset="-120"/>
              </a:rPr>
              <a:t>Read in place; copy only for a different engine</a:t>
            </a:r>
            <a:endParaRPr lang="en-US" sz="1500" dirty="0"/>
          </a:p>
        </p:txBody>
      </p:sp>
      <p:sp>
        <p:nvSpPr>
          <p:cNvPr id="17" name="Shape 15"/>
          <p:cNvSpPr/>
          <p:nvPr/>
        </p:nvSpPr>
        <p:spPr>
          <a:xfrm>
            <a:off x="548640" y="4462272"/>
            <a:ext cx="5431536" cy="731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18" name="Shape 16"/>
          <p:cNvSpPr/>
          <p:nvPr/>
        </p:nvSpPr>
        <p:spPr>
          <a:xfrm>
            <a:off x="731520" y="4599432"/>
            <a:ext cx="457200" cy="457200"/>
          </a:xfrm>
          <a:prstGeom prst="ellipse">
            <a:avLst/>
          </a:prstGeom>
          <a:solidFill>
            <a:srgbClr val="0E7C86"/>
          </a:solidFill>
          <a:ln w="12700">
            <a:solidFill>
              <a:srgbClr val="0E7C86"/>
            </a:solidFill>
            <a:prstDash val="solid"/>
          </a:ln>
        </p:spPr>
      </p:sp>
      <p:sp>
        <p:nvSpPr>
          <p:cNvPr id="19" name="Text 17"/>
          <p:cNvSpPr/>
          <p:nvPr/>
        </p:nvSpPr>
        <p:spPr>
          <a:xfrm>
            <a:off x="731520" y="4599432"/>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20" name="Text 18"/>
          <p:cNvSpPr/>
          <p:nvPr/>
        </p:nvSpPr>
        <p:spPr>
          <a:xfrm>
            <a:off x="1371600" y="4517136"/>
            <a:ext cx="4425696" cy="621792"/>
          </a:xfrm>
          <a:prstGeom prst="rect">
            <a:avLst/>
          </a:prstGeom>
          <a:noFill/>
          <a:ln/>
        </p:spPr>
        <p:txBody>
          <a:bodyPr wrap="square" lIns="0" tIns="0" rIns="0" bIns="0" rtlCol="0" anchor="ctr"/>
          <a:lstStyle/>
          <a:p>
            <a:pPr indent="0" marL="0">
              <a:buNone/>
            </a:pPr>
            <a:r>
              <a:rPr lang="en-US" sz="1500" dirty="0">
                <a:solidFill>
                  <a:srgbClr val="0B1F33"/>
                </a:solidFill>
                <a:latin typeface="Segoe UI Semibold" pitchFamily="34" charset="0"/>
                <a:ea typeface="Segoe UI Semibold" pitchFamily="34" charset="-122"/>
                <a:cs typeface="Segoe UI Semibold" pitchFamily="34" charset="-120"/>
              </a:rPr>
              <a:t>Partition facts, MERGE dimensions</a:t>
            </a:r>
            <a:endParaRPr lang="en-US" sz="1500" dirty="0"/>
          </a:p>
          <a:p>
            <a:pPr indent="0" marL="0">
              <a:buNone/>
            </a:pPr>
            <a:r>
              <a:rPr lang="en-US" sz="1250" dirty="0">
                <a:solidFill>
                  <a:srgbClr val="5B6B7A"/>
                </a:solidFill>
                <a:latin typeface="Segoe UI" pitchFamily="34" charset="0"/>
                <a:ea typeface="Segoe UI" pitchFamily="34" charset="-122"/>
                <a:cs typeface="Segoe UI" pitchFamily="34" charset="-120"/>
              </a:rPr>
              <a:t>Partition on a date key; de-duplicate before MERGE</a:t>
            </a:r>
            <a:endParaRPr lang="en-US" sz="1500" dirty="0"/>
          </a:p>
        </p:txBody>
      </p:sp>
      <p:sp>
        <p:nvSpPr>
          <p:cNvPr id="21" name="Shape 19"/>
          <p:cNvSpPr/>
          <p:nvPr/>
        </p:nvSpPr>
        <p:spPr>
          <a:xfrm>
            <a:off x="548640" y="5385816"/>
            <a:ext cx="5431536" cy="731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22" name="Shape 20"/>
          <p:cNvSpPr/>
          <p:nvPr/>
        </p:nvSpPr>
        <p:spPr>
          <a:xfrm>
            <a:off x="731520" y="5522976"/>
            <a:ext cx="457200" cy="457200"/>
          </a:xfrm>
          <a:prstGeom prst="ellipse">
            <a:avLst/>
          </a:prstGeom>
          <a:solidFill>
            <a:srgbClr val="0E7C86"/>
          </a:solidFill>
          <a:ln w="12700">
            <a:solidFill>
              <a:srgbClr val="0E7C86"/>
            </a:solidFill>
            <a:prstDash val="solid"/>
          </a:ln>
        </p:spPr>
      </p:sp>
      <p:sp>
        <p:nvSpPr>
          <p:cNvPr id="23" name="Text 21"/>
          <p:cNvSpPr/>
          <p:nvPr/>
        </p:nvSpPr>
        <p:spPr>
          <a:xfrm>
            <a:off x="731520" y="5522976"/>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5</a:t>
            </a:r>
            <a:endParaRPr lang="en-US" sz="1600" dirty="0"/>
          </a:p>
        </p:txBody>
      </p:sp>
      <p:sp>
        <p:nvSpPr>
          <p:cNvPr id="24" name="Text 22"/>
          <p:cNvSpPr/>
          <p:nvPr/>
        </p:nvSpPr>
        <p:spPr>
          <a:xfrm>
            <a:off x="1371600" y="5440680"/>
            <a:ext cx="4425696" cy="621792"/>
          </a:xfrm>
          <a:prstGeom prst="rect">
            <a:avLst/>
          </a:prstGeom>
          <a:noFill/>
          <a:ln/>
        </p:spPr>
        <p:txBody>
          <a:bodyPr wrap="square" lIns="0" tIns="0" rIns="0" bIns="0" rtlCol="0" anchor="ctr"/>
          <a:lstStyle/>
          <a:p>
            <a:pPr indent="0" marL="0">
              <a:buNone/>
            </a:pPr>
            <a:r>
              <a:rPr lang="en-US" sz="1500" dirty="0">
                <a:solidFill>
                  <a:srgbClr val="0B1F33"/>
                </a:solidFill>
                <a:latin typeface="Segoe UI Semibold" pitchFamily="34" charset="0"/>
                <a:ea typeface="Segoe UI Semibold" pitchFamily="34" charset="-122"/>
                <a:cs typeface="Segoe UI Semibold" pitchFamily="34" charset="-120"/>
              </a:rPr>
              <a:t>Validate in silver</a:t>
            </a:r>
            <a:endParaRPr lang="en-US" sz="1500" dirty="0"/>
          </a:p>
          <a:p>
            <a:pPr indent="0" marL="0">
              <a:buNone/>
            </a:pPr>
            <a:r>
              <a:rPr lang="en-US" sz="1250" dirty="0">
                <a:solidFill>
                  <a:srgbClr val="5B6B7A"/>
                </a:solidFill>
                <a:latin typeface="Segoe UI" pitchFamily="34" charset="0"/>
                <a:ea typeface="Segoe UI" pitchFamily="34" charset="-122"/>
                <a:cs typeface="Segoe UI" pitchFamily="34" charset="-120"/>
              </a:rPr>
              <a:t>Quarantine rejects with the rule name; keep a run log</a:t>
            </a:r>
            <a:endParaRPr lang="en-US" sz="1500" dirty="0"/>
          </a:p>
        </p:txBody>
      </p:sp>
      <p:sp>
        <p:nvSpPr>
          <p:cNvPr id="25" name="Shape 23"/>
          <p:cNvSpPr/>
          <p:nvPr/>
        </p:nvSpPr>
        <p:spPr>
          <a:xfrm>
            <a:off x="6208776" y="1691640"/>
            <a:ext cx="5431536" cy="731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26" name="Shape 24"/>
          <p:cNvSpPr/>
          <p:nvPr/>
        </p:nvSpPr>
        <p:spPr>
          <a:xfrm>
            <a:off x="6391656" y="1828800"/>
            <a:ext cx="457200" cy="457200"/>
          </a:xfrm>
          <a:prstGeom prst="ellipse">
            <a:avLst/>
          </a:prstGeom>
          <a:solidFill>
            <a:srgbClr val="0E7C86"/>
          </a:solidFill>
          <a:ln w="12700">
            <a:solidFill>
              <a:srgbClr val="0E7C86"/>
            </a:solidFill>
            <a:prstDash val="solid"/>
          </a:ln>
        </p:spPr>
      </p:sp>
      <p:sp>
        <p:nvSpPr>
          <p:cNvPr id="27" name="Text 25"/>
          <p:cNvSpPr/>
          <p:nvPr/>
        </p:nvSpPr>
        <p:spPr>
          <a:xfrm>
            <a:off x="6391656" y="182880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6</a:t>
            </a:r>
            <a:endParaRPr lang="en-US" sz="1600" dirty="0"/>
          </a:p>
        </p:txBody>
      </p:sp>
      <p:sp>
        <p:nvSpPr>
          <p:cNvPr id="28" name="Text 26"/>
          <p:cNvSpPr/>
          <p:nvPr/>
        </p:nvSpPr>
        <p:spPr>
          <a:xfrm>
            <a:off x="7031736" y="1746504"/>
            <a:ext cx="4425696" cy="621792"/>
          </a:xfrm>
          <a:prstGeom prst="rect">
            <a:avLst/>
          </a:prstGeom>
          <a:noFill/>
          <a:ln/>
        </p:spPr>
        <p:txBody>
          <a:bodyPr wrap="square" lIns="0" tIns="0" rIns="0" bIns="0" rtlCol="0" anchor="ctr"/>
          <a:lstStyle/>
          <a:p>
            <a:pPr indent="0" marL="0">
              <a:buNone/>
            </a:pPr>
            <a:r>
              <a:rPr lang="en-US" sz="1500" dirty="0">
                <a:solidFill>
                  <a:srgbClr val="0B1F33"/>
                </a:solidFill>
                <a:latin typeface="Segoe UI Semibold" pitchFamily="34" charset="0"/>
                <a:ea typeface="Segoe UI Semibold" pitchFamily="34" charset="-122"/>
                <a:cs typeface="Segoe UI Semibold" pitchFamily="34" charset="-120"/>
              </a:rPr>
              <a:t>Reconcile every load</a:t>
            </a:r>
            <a:endParaRPr lang="en-US" sz="1500" dirty="0"/>
          </a:p>
          <a:p>
            <a:pPr indent="0" marL="0">
              <a:buNone/>
            </a:pPr>
            <a:r>
              <a:rPr lang="en-US" sz="1250" dirty="0">
                <a:solidFill>
                  <a:srgbClr val="5B6B7A"/>
                </a:solidFill>
                <a:latin typeface="Segoe UI" pitchFamily="34" charset="0"/>
                <a:ea typeface="Segoe UI" pitchFamily="34" charset="-122"/>
                <a:cs typeface="Segoe UI" pitchFamily="34" charset="-120"/>
              </a:rPr>
              <a:t>Row counts and control totals from source to gold</a:t>
            </a:r>
            <a:endParaRPr lang="en-US" sz="1500" dirty="0"/>
          </a:p>
        </p:txBody>
      </p:sp>
      <p:sp>
        <p:nvSpPr>
          <p:cNvPr id="29" name="Shape 27"/>
          <p:cNvSpPr/>
          <p:nvPr/>
        </p:nvSpPr>
        <p:spPr>
          <a:xfrm>
            <a:off x="6208776" y="2615184"/>
            <a:ext cx="5431536" cy="731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30" name="Shape 28"/>
          <p:cNvSpPr/>
          <p:nvPr/>
        </p:nvSpPr>
        <p:spPr>
          <a:xfrm>
            <a:off x="6391656" y="2752344"/>
            <a:ext cx="457200" cy="457200"/>
          </a:xfrm>
          <a:prstGeom prst="ellipse">
            <a:avLst/>
          </a:prstGeom>
          <a:solidFill>
            <a:srgbClr val="0E7C86"/>
          </a:solidFill>
          <a:ln w="12700">
            <a:solidFill>
              <a:srgbClr val="0E7C86"/>
            </a:solidFill>
            <a:prstDash val="solid"/>
          </a:ln>
        </p:spPr>
      </p:sp>
      <p:sp>
        <p:nvSpPr>
          <p:cNvPr id="31" name="Text 29"/>
          <p:cNvSpPr/>
          <p:nvPr/>
        </p:nvSpPr>
        <p:spPr>
          <a:xfrm>
            <a:off x="6391656" y="2752344"/>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7</a:t>
            </a:r>
            <a:endParaRPr lang="en-US" sz="1600" dirty="0"/>
          </a:p>
        </p:txBody>
      </p:sp>
      <p:sp>
        <p:nvSpPr>
          <p:cNvPr id="32" name="Text 30"/>
          <p:cNvSpPr/>
          <p:nvPr/>
        </p:nvSpPr>
        <p:spPr>
          <a:xfrm>
            <a:off x="7031736" y="2670048"/>
            <a:ext cx="4425696" cy="621792"/>
          </a:xfrm>
          <a:prstGeom prst="rect">
            <a:avLst/>
          </a:prstGeom>
          <a:noFill/>
          <a:ln/>
        </p:spPr>
        <p:txBody>
          <a:bodyPr wrap="square" lIns="0" tIns="0" rIns="0" bIns="0" rtlCol="0" anchor="ctr"/>
          <a:lstStyle/>
          <a:p>
            <a:pPr indent="0" marL="0">
              <a:buNone/>
            </a:pPr>
            <a:r>
              <a:rPr lang="en-US" sz="1500" dirty="0">
                <a:solidFill>
                  <a:srgbClr val="0B1F33"/>
                </a:solidFill>
                <a:latin typeface="Segoe UI Semibold" pitchFamily="34" charset="0"/>
                <a:ea typeface="Segoe UI Semibold" pitchFamily="34" charset="-122"/>
                <a:cs typeface="Segoe UI Semibold" pitchFamily="34" charset="-120"/>
              </a:rPr>
              <a:t>Log every stage</a:t>
            </a:r>
            <a:endParaRPr lang="en-US" sz="1500" dirty="0"/>
          </a:p>
          <a:p>
            <a:pPr indent="0" marL="0">
              <a:buNone/>
            </a:pPr>
            <a:r>
              <a:rPr lang="en-US" sz="1250" dirty="0">
                <a:solidFill>
                  <a:srgbClr val="5B6B7A"/>
                </a:solidFill>
                <a:latin typeface="Segoe UI" pitchFamily="34" charset="0"/>
                <a:ea typeface="Segoe UI" pitchFamily="34" charset="-122"/>
                <a:cs typeface="Segoe UI" pitchFamily="34" charset="-120"/>
              </a:rPr>
              <a:t>Code cell first; log OK or FAILED per step</a:t>
            </a:r>
            <a:endParaRPr lang="en-US" sz="1500" dirty="0"/>
          </a:p>
        </p:txBody>
      </p:sp>
      <p:sp>
        <p:nvSpPr>
          <p:cNvPr id="33" name="Shape 31"/>
          <p:cNvSpPr/>
          <p:nvPr/>
        </p:nvSpPr>
        <p:spPr>
          <a:xfrm>
            <a:off x="6208776" y="3538728"/>
            <a:ext cx="5431536" cy="731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34" name="Shape 32"/>
          <p:cNvSpPr/>
          <p:nvPr/>
        </p:nvSpPr>
        <p:spPr>
          <a:xfrm>
            <a:off x="6391656" y="3675888"/>
            <a:ext cx="457200" cy="457200"/>
          </a:xfrm>
          <a:prstGeom prst="ellipse">
            <a:avLst/>
          </a:prstGeom>
          <a:solidFill>
            <a:srgbClr val="0E7C86"/>
          </a:solidFill>
          <a:ln w="12700">
            <a:solidFill>
              <a:srgbClr val="0E7C86"/>
            </a:solidFill>
            <a:prstDash val="solid"/>
          </a:ln>
        </p:spPr>
      </p:sp>
      <p:sp>
        <p:nvSpPr>
          <p:cNvPr id="35" name="Text 33"/>
          <p:cNvSpPr/>
          <p:nvPr/>
        </p:nvSpPr>
        <p:spPr>
          <a:xfrm>
            <a:off x="6391656" y="3675888"/>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8</a:t>
            </a:r>
            <a:endParaRPr lang="en-US" sz="1600" dirty="0"/>
          </a:p>
        </p:txBody>
      </p:sp>
      <p:sp>
        <p:nvSpPr>
          <p:cNvPr id="36" name="Text 34"/>
          <p:cNvSpPr/>
          <p:nvPr/>
        </p:nvSpPr>
        <p:spPr>
          <a:xfrm>
            <a:off x="7031736" y="3593592"/>
            <a:ext cx="4425696" cy="621792"/>
          </a:xfrm>
          <a:prstGeom prst="rect">
            <a:avLst/>
          </a:prstGeom>
          <a:noFill/>
          <a:ln/>
        </p:spPr>
        <p:txBody>
          <a:bodyPr wrap="square" lIns="0" tIns="0" rIns="0" bIns="0" rtlCol="0" anchor="ctr"/>
          <a:lstStyle/>
          <a:p>
            <a:pPr indent="0" marL="0">
              <a:buNone/>
            </a:pPr>
            <a:r>
              <a:rPr lang="en-US" sz="1500" dirty="0">
                <a:solidFill>
                  <a:srgbClr val="0B1F33"/>
                </a:solidFill>
                <a:latin typeface="Segoe UI Semibold" pitchFamily="34" charset="0"/>
                <a:ea typeface="Segoe UI Semibold" pitchFamily="34" charset="-122"/>
                <a:cs typeface="Segoe UI Semibold" pitchFamily="34" charset="-120"/>
              </a:rPr>
              <a:t>Git for Dev, scripts for warehouses</a:t>
            </a:r>
            <a:endParaRPr lang="en-US" sz="1500" dirty="0"/>
          </a:p>
          <a:p>
            <a:pPr indent="0" marL="0">
              <a:buNone/>
            </a:pPr>
            <a:r>
              <a:rPr lang="en-US" sz="1250" dirty="0">
                <a:solidFill>
                  <a:srgbClr val="5B6B7A"/>
                </a:solidFill>
                <a:latin typeface="Segoe UI" pitchFamily="34" charset="0"/>
                <a:ea typeface="Segoe UI" pitchFamily="34" charset="-122"/>
                <a:cs typeface="Segoe UI" pitchFamily="34" charset="-120"/>
              </a:rPr>
              <a:t>Deploy code items; script warehouse DDL per stage</a:t>
            </a:r>
            <a:endParaRPr lang="en-US" sz="1500" dirty="0"/>
          </a:p>
        </p:txBody>
      </p:sp>
      <p:sp>
        <p:nvSpPr>
          <p:cNvPr id="37" name="Shape 35"/>
          <p:cNvSpPr/>
          <p:nvPr/>
        </p:nvSpPr>
        <p:spPr>
          <a:xfrm>
            <a:off x="6208776" y="4462272"/>
            <a:ext cx="5431536" cy="731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38" name="Shape 36"/>
          <p:cNvSpPr/>
          <p:nvPr/>
        </p:nvSpPr>
        <p:spPr>
          <a:xfrm>
            <a:off x="6391656" y="4599432"/>
            <a:ext cx="457200" cy="457200"/>
          </a:xfrm>
          <a:prstGeom prst="ellipse">
            <a:avLst/>
          </a:prstGeom>
          <a:solidFill>
            <a:srgbClr val="0E7C86"/>
          </a:solidFill>
          <a:ln w="12700">
            <a:solidFill>
              <a:srgbClr val="0E7C86"/>
            </a:solidFill>
            <a:prstDash val="solid"/>
          </a:ln>
        </p:spPr>
      </p:sp>
      <p:sp>
        <p:nvSpPr>
          <p:cNvPr id="39" name="Text 37"/>
          <p:cNvSpPr/>
          <p:nvPr/>
        </p:nvSpPr>
        <p:spPr>
          <a:xfrm>
            <a:off x="6391656" y="4599432"/>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9</a:t>
            </a:r>
            <a:endParaRPr lang="en-US" sz="1600" dirty="0"/>
          </a:p>
        </p:txBody>
      </p:sp>
      <p:sp>
        <p:nvSpPr>
          <p:cNvPr id="40" name="Text 38"/>
          <p:cNvSpPr/>
          <p:nvPr/>
        </p:nvSpPr>
        <p:spPr>
          <a:xfrm>
            <a:off x="7031736" y="4517136"/>
            <a:ext cx="4425696" cy="621792"/>
          </a:xfrm>
          <a:prstGeom prst="rect">
            <a:avLst/>
          </a:prstGeom>
          <a:noFill/>
          <a:ln/>
        </p:spPr>
        <p:txBody>
          <a:bodyPr wrap="square" lIns="0" tIns="0" rIns="0" bIns="0" rtlCol="0" anchor="ctr"/>
          <a:lstStyle/>
          <a:p>
            <a:pPr indent="0" marL="0">
              <a:buNone/>
            </a:pPr>
            <a:r>
              <a:rPr lang="en-US" sz="1500" dirty="0">
                <a:solidFill>
                  <a:srgbClr val="0B1F33"/>
                </a:solidFill>
                <a:latin typeface="Segoe UI Semibold" pitchFamily="34" charset="0"/>
                <a:ea typeface="Segoe UI Semibold" pitchFamily="34" charset="-122"/>
                <a:cs typeface="Segoe UI Semibold" pitchFamily="34" charset="-120"/>
              </a:rPr>
              <a:t>Identities, not keys</a:t>
            </a:r>
            <a:endParaRPr lang="en-US" sz="1500" dirty="0"/>
          </a:p>
          <a:p>
            <a:pPr indent="0" marL="0">
              <a:buNone/>
            </a:pPr>
            <a:r>
              <a:rPr lang="en-US" sz="1250" dirty="0">
                <a:solidFill>
                  <a:srgbClr val="5B6B7A"/>
                </a:solidFill>
                <a:latin typeface="Segoe UI" pitchFamily="34" charset="0"/>
                <a:ea typeface="Segoe UI" pitchFamily="34" charset="-122"/>
                <a:cs typeface="Segoe UI" pitchFamily="34" charset="-120"/>
              </a:rPr>
              <a:t>Entra tokens and roles; no secrets in code</a:t>
            </a:r>
            <a:endParaRPr lang="en-US" sz="1500" dirty="0"/>
          </a:p>
        </p:txBody>
      </p:sp>
      <p:sp>
        <p:nvSpPr>
          <p:cNvPr id="41" name="Shape 39"/>
          <p:cNvSpPr/>
          <p:nvPr/>
        </p:nvSpPr>
        <p:spPr>
          <a:xfrm>
            <a:off x="6208776" y="5385816"/>
            <a:ext cx="5431536" cy="731520"/>
          </a:xfrm>
          <a:prstGeom prst="rect">
            <a:avLst/>
          </a:prstGeom>
          <a:solidFill>
            <a:srgbClr val="FFFFFF"/>
          </a:solidFill>
          <a:ln w="9525">
            <a:solidFill>
              <a:srgbClr val="D5DDE6"/>
            </a:solidFill>
            <a:prstDash val="solid"/>
          </a:ln>
          <a:effectLst>
            <a:outerShdw sx="100000" sy="100000" kx="0" ky="0" algn="bl" rotWithShape="0" blurRad="76200" dist="19050" dir="5400000">
              <a:srgbClr val="1B2733">
                <a:alpha val="12000"/>
              </a:srgbClr>
            </a:outerShdw>
          </a:effectLst>
        </p:spPr>
      </p:sp>
      <p:sp>
        <p:nvSpPr>
          <p:cNvPr id="42" name="Shape 40"/>
          <p:cNvSpPr/>
          <p:nvPr/>
        </p:nvSpPr>
        <p:spPr>
          <a:xfrm>
            <a:off x="6391656" y="5522976"/>
            <a:ext cx="457200" cy="457200"/>
          </a:xfrm>
          <a:prstGeom prst="ellipse">
            <a:avLst/>
          </a:prstGeom>
          <a:solidFill>
            <a:srgbClr val="0E7C86"/>
          </a:solidFill>
          <a:ln w="12700">
            <a:solidFill>
              <a:srgbClr val="0E7C86"/>
            </a:solidFill>
            <a:prstDash val="solid"/>
          </a:ln>
        </p:spPr>
      </p:sp>
      <p:sp>
        <p:nvSpPr>
          <p:cNvPr id="43" name="Text 41"/>
          <p:cNvSpPr/>
          <p:nvPr/>
        </p:nvSpPr>
        <p:spPr>
          <a:xfrm>
            <a:off x="6391656" y="5522976"/>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10</a:t>
            </a:r>
            <a:endParaRPr lang="en-US" sz="1600" dirty="0"/>
          </a:p>
        </p:txBody>
      </p:sp>
      <p:sp>
        <p:nvSpPr>
          <p:cNvPr id="44" name="Text 42"/>
          <p:cNvSpPr/>
          <p:nvPr/>
        </p:nvSpPr>
        <p:spPr>
          <a:xfrm>
            <a:off x="7031736" y="5440680"/>
            <a:ext cx="4425696" cy="621792"/>
          </a:xfrm>
          <a:prstGeom prst="rect">
            <a:avLst/>
          </a:prstGeom>
          <a:noFill/>
          <a:ln/>
        </p:spPr>
        <p:txBody>
          <a:bodyPr wrap="square" lIns="0" tIns="0" rIns="0" bIns="0" rtlCol="0" anchor="ctr"/>
          <a:lstStyle/>
          <a:p>
            <a:pPr indent="0" marL="0">
              <a:buNone/>
            </a:pPr>
            <a:r>
              <a:rPr lang="en-US" sz="1500" dirty="0">
                <a:solidFill>
                  <a:srgbClr val="0B1F33"/>
                </a:solidFill>
                <a:latin typeface="Segoe UI Semibold" pitchFamily="34" charset="0"/>
                <a:ea typeface="Segoe UI Semibold" pitchFamily="34" charset="-122"/>
                <a:cs typeface="Segoe UI Semibold" pitchFamily="34" charset="-120"/>
              </a:rPr>
              <a:t>Pause idle, size for peak</a:t>
            </a:r>
            <a:endParaRPr lang="en-US" sz="1500" dirty="0"/>
          </a:p>
          <a:p>
            <a:pPr indent="0" marL="0">
              <a:buNone/>
            </a:pPr>
            <a:r>
              <a:rPr lang="en-US" sz="1250" dirty="0">
                <a:solidFill>
                  <a:srgbClr val="5B6B7A"/>
                </a:solidFill>
                <a:latin typeface="Segoe UI" pitchFamily="34" charset="0"/>
                <a:ea typeface="Segoe UI" pitchFamily="34" charset="-122"/>
                <a:cs typeface="Segoe UI" pitchFamily="34" charset="-120"/>
              </a:rPr>
              <a:t>Capacity Metrics app; pause after each session</a:t>
            </a:r>
            <a:endParaRPr lang="en-US" sz="1500" dirty="0"/>
          </a:p>
        </p:txBody>
      </p:sp>
      <p:sp>
        <p:nvSpPr>
          <p:cNvPr id="45" name="Text 43"/>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46" name="Text 44"/>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548640" y="274320"/>
            <a:ext cx="2103120" cy="310896"/>
          </a:xfrm>
          <a:prstGeom prst="roundRect">
            <a:avLst>
              <a:gd name="adj" fmla="val 17647"/>
            </a:avLst>
          </a:prstGeom>
          <a:solidFill>
            <a:srgbClr val="0E7C86"/>
          </a:solidFill>
          <a:ln w="12700">
            <a:solidFill>
              <a:srgbClr val="0E7C86"/>
            </a:solidFill>
            <a:prstDash val="solid"/>
          </a:ln>
        </p:spPr>
      </p:sp>
      <p:sp>
        <p:nvSpPr>
          <p:cNvPr id="3" name="Text 1"/>
          <p:cNvSpPr/>
          <p:nvPr/>
        </p:nvSpPr>
        <p:spPr>
          <a:xfrm>
            <a:off x="548640" y="2743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TAKEAWAYS</a:t>
            </a:r>
            <a:endParaRPr lang="en-US" sz="1050" dirty="0"/>
          </a:p>
        </p:txBody>
      </p:sp>
      <p:sp>
        <p:nvSpPr>
          <p:cNvPr id="4" name="Text 2"/>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dirty="0">
                <a:solidFill>
                  <a:srgbClr val="0B1F33"/>
                </a:solidFill>
                <a:latin typeface="Segoe UI Semibold" pitchFamily="34" charset="0"/>
                <a:ea typeface="Segoe UI Semibold" pitchFamily="34" charset="-122"/>
                <a:cs typeface="Segoe UI Semibold" pitchFamily="34" charset="-120"/>
              </a:rPr>
              <a:t>What broke in the build, so it won’t break live</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4480560"/>
                <a:gridCol w="6611112"/>
              </a:tblGrid>
              <a:tr h="475488">
                <a:tc>
                  <a:txBody>
                    <a:bodyPr/>
                    <a:lstStyle/>
                    <a:p>
                      <a:pPr indent="0" marL="0">
                        <a:buNone/>
                      </a:pPr>
                      <a:r>
                        <a:rPr lang="en-US" sz="1350" b="1" dirty="0">
                          <a:solidFill>
                            <a:srgbClr val="FFFFFF"/>
                          </a:solidFill>
                          <a:latin typeface="Segoe UI Semibold" pitchFamily="34" charset="0"/>
                          <a:ea typeface="Segoe UI Semibold" pitchFamily="34" charset="-122"/>
                          <a:cs typeface="Segoe UI Semibold" pitchFamily="34" charset="-120"/>
                        </a:rPr>
                        <a:t>What we saw</a:t>
                      </a:r>
                      <a:endParaRPr lang="en-US" sz="1350" dirty="0">
                        <a:latin typeface="Segoe UI Semibold" charset="0"/>
                        <a:ea typeface="Segoe UI Semibold" charset="0"/>
                        <a:cs typeface="Segoe UI Semibold"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0B1F33"/>
                    </a:solidFill>
                  </a:tcPr>
                </a:tc>
                <a:tc>
                  <a:txBody>
                    <a:bodyPr/>
                    <a:lstStyle/>
                    <a:p>
                      <a:pPr indent="0" marL="0">
                        <a:buNone/>
                      </a:pPr>
                      <a:r>
                        <a:rPr lang="en-US" sz="1350" b="1" dirty="0">
                          <a:solidFill>
                            <a:srgbClr val="FFFFFF"/>
                          </a:solidFill>
                          <a:latin typeface="Segoe UI Semibold" pitchFamily="34" charset="0"/>
                          <a:ea typeface="Segoe UI Semibold" pitchFamily="34" charset="-122"/>
                          <a:cs typeface="Segoe UI Semibold" pitchFamily="34" charset="-120"/>
                        </a:rPr>
                        <a:t>Cause and fix</a:t>
                      </a:r>
                      <a:endParaRPr lang="en-US" sz="1350" dirty="0">
                        <a:latin typeface="Segoe UI Semibold" charset="0"/>
                        <a:ea typeface="Segoe UI Semibold" charset="0"/>
                        <a:cs typeface="Segoe UI Semibold"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0B1F33"/>
                    </a:solidFill>
                  </a:tcPr>
                </a:tc>
              </a:tr>
              <a:tr h="475488">
                <a:tc>
                  <a:txBody>
                    <a:bodyPr/>
                    <a:lstStyle/>
                    <a:p>
                      <a:pPr indent="0" marL="0">
                        <a:buNone/>
                      </a:pPr>
                      <a:r>
                        <a:rPr lang="en-US" sz="1300" b="1" dirty="0">
                          <a:solidFill>
                            <a:srgbClr val="0B1F33"/>
                          </a:solidFill>
                          <a:latin typeface="Segoe UI" pitchFamily="34" charset="0"/>
                          <a:ea typeface="Segoe UI" pitchFamily="34" charset="-122"/>
                          <a:cs typeface="Segoe UI" pitchFamily="34" charset="-120"/>
                        </a:rPr>
                        <a:t>Warehouse rejected PRIMARY KEY in CREATE TABLE</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Segoe UI" pitchFamily="34" charset="0"/>
                          <a:ea typeface="Segoe UI" pitchFamily="34" charset="-122"/>
                          <a:cs typeface="Segoe UI" pitchFamily="34" charset="-120"/>
                        </a:rPr>
                        <a:t>Add the key with ALTER TABLE … NOT ENFORCED</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B1F33"/>
                          </a:solidFill>
                          <a:latin typeface="Segoe UI" pitchFamily="34" charset="0"/>
                          <a:ea typeface="Segoe UI" pitchFamily="34" charset="-122"/>
                          <a:cs typeface="Segoe UI" pitchFamily="34" charset="-120"/>
                        </a:rPr>
                        <a:t>TINYINT is not supported in the Warehouse</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300" dirty="0">
                          <a:solidFill>
                            <a:srgbClr val="1B2733"/>
                          </a:solidFill>
                          <a:latin typeface="Segoe UI" pitchFamily="34" charset="0"/>
                          <a:ea typeface="Segoe UI" pitchFamily="34" charset="-122"/>
                          <a:cs typeface="Segoe UI" pitchFamily="34" charset="-120"/>
                        </a:rPr>
                        <a:t>Use SMALLINT</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r>
              <a:tr h="475488">
                <a:tc>
                  <a:txBody>
                    <a:bodyPr/>
                    <a:lstStyle/>
                    <a:p>
                      <a:pPr indent="0" marL="0">
                        <a:buNone/>
                      </a:pPr>
                      <a:r>
                        <a:rPr lang="en-US" sz="1300" b="1" dirty="0">
                          <a:solidFill>
                            <a:srgbClr val="0B1F33"/>
                          </a:solidFill>
                          <a:latin typeface="Segoe UI" pitchFamily="34" charset="0"/>
                          <a:ea typeface="Segoe UI" pitchFamily="34" charset="-122"/>
                          <a:cs typeface="Segoe UI" pitchFamily="34" charset="-120"/>
                        </a:rPr>
                        <a:t>Stale reads from a freshly written silver table</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Segoe UI" pitchFamily="34" charset="0"/>
                          <a:ea typeface="Segoe UI" pitchFamily="34" charset="-122"/>
                          <a:cs typeface="Segoe UI" pitchFamily="34" charset="-120"/>
                        </a:rPr>
                        <a:t>The SQL endpoint syncs asynchronously; call refreshMetadata before cross-item loads</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B1F33"/>
                          </a:solidFill>
                          <a:latin typeface="Segoe UI" pitchFamily="34" charset="0"/>
                          <a:ea typeface="Segoe UI" pitchFamily="34" charset="-122"/>
                          <a:cs typeface="Segoe UI" pitchFamily="34" charset="-120"/>
                        </a:rPr>
                        <a:t>Schema-evolution demo broke the silver MERGE</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300" dirty="0">
                          <a:solidFill>
                            <a:srgbClr val="1B2733"/>
                          </a:solidFill>
                          <a:latin typeface="Segoe UI" pitchFamily="34" charset="0"/>
                          <a:ea typeface="Segoe UI" pitchFamily="34" charset="-122"/>
                          <a:cs typeface="Segoe UI" pitchFamily="34" charset="-120"/>
                        </a:rPr>
                        <a:t>Run demos on a scratch copy; align incoming columns to the target</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r>
              <a:tr h="475488">
                <a:tc>
                  <a:txBody>
                    <a:bodyPr/>
                    <a:lstStyle/>
                    <a:p>
                      <a:pPr indent="0" marL="0">
                        <a:buNone/>
                      </a:pPr>
                      <a:r>
                        <a:rPr lang="en-US" sz="1300" b="1" dirty="0">
                          <a:solidFill>
                            <a:srgbClr val="0B1F33"/>
                          </a:solidFill>
                          <a:latin typeface="Segoe UI" pitchFamily="34" charset="0"/>
                          <a:ea typeface="Segoe UI" pitchFamily="34" charset="-122"/>
                          <a:cs typeface="Segoe UI" pitchFamily="34" charset="-120"/>
                        </a:rPr>
                        <a:t>Spark plan-validation error in the silver step</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Segoe UI" pitchFamily="34" charset="0"/>
                          <a:ea typeface="Segoe UI" pitchFamily="34" charset="-122"/>
                          <a:cs typeface="Segoe UI" pitchFamily="34" charset="-120"/>
                        </a:rPr>
                        <a:t>Replaced exceptAll and left_anti with filters on the same predicate</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B1F33"/>
                          </a:solidFill>
                          <a:latin typeface="Segoe UI" pitchFamily="34" charset="0"/>
                          <a:ea typeface="Segoe UI" pitchFamily="34" charset="-122"/>
                          <a:cs typeface="Segoe UI" pitchFamily="34" charset="-120"/>
                        </a:rPr>
                        <a:t>Notebook lost its default lakehouse</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300" dirty="0">
                          <a:solidFill>
                            <a:srgbClr val="1B2733"/>
                          </a:solidFill>
                          <a:latin typeface="Segoe UI" pitchFamily="34" charset="0"/>
                          <a:ea typeface="Segoe UI" pitchFamily="34" charset="-122"/>
                          <a:cs typeface="Segoe UI" pitchFamily="34" charset="-120"/>
                        </a:rPr>
                        <a:t>Start the notebook with a code cell, not a markdown cell</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r>
              <a:tr h="475488">
                <a:tc>
                  <a:txBody>
                    <a:bodyPr/>
                    <a:lstStyle/>
                    <a:p>
                      <a:pPr indent="0" marL="0">
                        <a:buNone/>
                      </a:pPr>
                      <a:r>
                        <a:rPr lang="en-US" sz="1300" b="1" dirty="0">
                          <a:solidFill>
                            <a:srgbClr val="0B1F33"/>
                          </a:solidFill>
                          <a:latin typeface="Segoe UI" pitchFamily="34" charset="0"/>
                          <a:ea typeface="Segoe UI" pitchFamily="34" charset="-122"/>
                          <a:cs typeface="Segoe UI" pitchFamily="34" charset="-120"/>
                        </a:rPr>
                        <a:t>Storage and Azure SQL blocked by MCAPS policy</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c>
                  <a:txBody>
                    <a:bodyPr/>
                    <a:lstStyle/>
                    <a:p>
                      <a:pPr indent="0" marL="0">
                        <a:buNone/>
                      </a:pPr>
                      <a:r>
                        <a:rPr lang="en-US" sz="1300" dirty="0">
                          <a:solidFill>
                            <a:srgbClr val="1B2733"/>
                          </a:solidFill>
                          <a:latin typeface="Segoe UI" pitchFamily="34" charset="0"/>
                          <a:ea typeface="Segoe UI" pitchFamily="34" charset="-122"/>
                          <a:cs typeface="Segoe UI" pitchFamily="34" charset="-120"/>
                        </a:rPr>
                        <a:t>Public access disabled; use Fabric-native sources and shortcuts</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B1F33"/>
                          </a:solidFill>
                          <a:latin typeface="Segoe UI" pitchFamily="34" charset="0"/>
                          <a:ea typeface="Segoe UI" pitchFamily="34" charset="-122"/>
                          <a:cs typeface="Segoe UI" pitchFamily="34" charset="-120"/>
                        </a:rPr>
                        <a:t>Capacity admin rejected</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c>
                  <a:txBody>
                    <a:bodyPr/>
                    <a:lstStyle/>
                    <a:p>
                      <a:pPr indent="0" marL="0">
                        <a:buNone/>
                      </a:pPr>
                      <a:r>
                        <a:rPr lang="en-US" sz="1300" dirty="0">
                          <a:solidFill>
                            <a:srgbClr val="1B2733"/>
                          </a:solidFill>
                          <a:latin typeface="Segoe UI" pitchFamily="34" charset="0"/>
                          <a:ea typeface="Segoe UI" pitchFamily="34" charset="-122"/>
                          <a:cs typeface="Segoe UI" pitchFamily="34" charset="-120"/>
                        </a:rPr>
                        <a:t>Admins must be UPNs in the capacity's tenant, not object IDs</a:t>
                      </a:r>
                      <a:endParaRPr lang="en-US" sz="1300" dirty="0">
                        <a:latin typeface="Segoe UI" charset="0"/>
                        <a:ea typeface="Segoe UI" charset="0"/>
                        <a:cs typeface="Segoe UI" charset="0"/>
                      </a:endParaRPr>
                    </a:p>
                  </a:txBody>
                  <a:tcPr marL="91440" marR="91440" marT="45720" marB="45720" anchor="ctr">
                    <a:lnL w="9525" cap="flat" cmpd="sng" algn="ctr">
                      <a:solidFill>
                        <a:srgbClr val="D5DDE6"/>
                      </a:solidFill>
                      <a:prstDash val="solid"/>
                      <a:round/>
                      <a:headEnd type="none" w="med" len="med"/>
                      <a:tailEnd type="none" w="med" len="med"/>
                    </a:lnL>
                    <a:lnR w="9525" cap="flat" cmpd="sng" algn="ctr">
                      <a:solidFill>
                        <a:srgbClr val="D5DDE6"/>
                      </a:solidFill>
                      <a:prstDash val="solid"/>
                      <a:round/>
                      <a:headEnd type="none" w="med" len="med"/>
                      <a:tailEnd type="none" w="med" len="med"/>
                    </a:lnR>
                    <a:lnT w="9525" cap="flat" cmpd="sng" algn="ctr">
                      <a:solidFill>
                        <a:srgbClr val="D5DDE6"/>
                      </a:solidFill>
                      <a:prstDash val="solid"/>
                      <a:round/>
                      <a:headEnd type="none" w="med" len="med"/>
                      <a:tailEnd type="none" w="med" len="med"/>
                    </a:lnT>
                    <a:lnB w="9525" cap="flat" cmpd="sng" algn="ctr">
                      <a:solidFill>
                        <a:srgbClr val="D5DDE6"/>
                      </a:solidFill>
                      <a:prstDash val="solid"/>
                      <a:round/>
                      <a:headEnd type="none" w="med" len="med"/>
                      <a:tailEnd type="none" w="med" len="med"/>
                    </a:lnB>
                    <a:solidFill>
                      <a:srgbClr val="EEF3F7"/>
                    </a:solidFill>
                  </a:tcPr>
                </a:tc>
              </a:tr>
            </a:tbl>
          </a:graphicData>
        </a:graphic>
      </p:graphicFrame>
      <p:sp>
        <p:nvSpPr>
          <p:cNvPr id="6" name="Text 3"/>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5B6B7A"/>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7" name="Text 4"/>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5B6B7A"/>
                </a:solidFill>
                <a:latin typeface="Segoe UI" pitchFamily="34" charset="0"/>
                <a:ea typeface="Segoe UI" pitchFamily="34" charset="-122"/>
                <a:cs typeface="Segoe UI"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731520" y="1325880"/>
            <a:ext cx="5943600" cy="411480"/>
          </a:xfrm>
          <a:prstGeom prst="rect">
            <a:avLst/>
          </a:prstGeom>
          <a:noFill/>
          <a:ln/>
        </p:spPr>
        <p:txBody>
          <a:bodyPr wrap="square" lIns="0" tIns="0" rIns="0" bIns="0" rtlCol="0" anchor="ctr"/>
          <a:lstStyle/>
          <a:p>
            <a:pPr indent="0" marL="0">
              <a:buNone/>
            </a:pPr>
            <a:r>
              <a:rPr lang="en-US" sz="1800" dirty="0">
                <a:solidFill>
                  <a:srgbClr val="7FD3DB"/>
                </a:solidFill>
                <a:latin typeface="Segoe UI Semibold" pitchFamily="34" charset="0"/>
                <a:ea typeface="Segoe UI Semibold" pitchFamily="34" charset="-122"/>
                <a:cs typeface="Segoe UI Semibold" pitchFamily="34" charset="-120"/>
              </a:rPr>
              <a:t>Next steps</a:t>
            </a:r>
            <a:endParaRPr lang="en-US" sz="1800" dirty="0"/>
          </a:p>
        </p:txBody>
      </p:sp>
      <p:sp>
        <p:nvSpPr>
          <p:cNvPr id="3" name="Shape 1"/>
          <p:cNvSpPr/>
          <p:nvPr/>
        </p:nvSpPr>
        <p:spPr>
          <a:xfrm>
            <a:off x="731520" y="1984248"/>
            <a:ext cx="512064" cy="512064"/>
          </a:xfrm>
          <a:prstGeom prst="ellipse">
            <a:avLst/>
          </a:prstGeom>
          <a:solidFill>
            <a:srgbClr val="0E7C86"/>
          </a:solidFill>
          <a:ln w="12700">
            <a:solidFill>
              <a:srgbClr val="0E7C86"/>
            </a:solidFill>
            <a:prstDash val="solid"/>
          </a:ln>
        </p:spPr>
      </p:sp>
      <p:sp>
        <p:nvSpPr>
          <p:cNvPr id="4" name="Text 2"/>
          <p:cNvSpPr/>
          <p:nvPr/>
        </p:nvSpPr>
        <p:spPr>
          <a:xfrm>
            <a:off x="731520" y="1984248"/>
            <a:ext cx="512064" cy="512064"/>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5" name="Text 3"/>
          <p:cNvSpPr/>
          <p:nvPr/>
        </p:nvSpPr>
        <p:spPr>
          <a:xfrm>
            <a:off x="1463040" y="1920240"/>
            <a:ext cx="5669280" cy="640080"/>
          </a:xfrm>
          <a:prstGeom prst="rect">
            <a:avLst/>
          </a:prstGeom>
          <a:noFill/>
          <a:ln/>
        </p:spPr>
        <p:txBody>
          <a:bodyPr wrap="square" lIns="0" tIns="0" rIns="0" bIns="0" rtlCol="0" anchor="ctr"/>
          <a:lstStyle/>
          <a:p>
            <a:pPr indent="0" marL="0">
              <a:buNone/>
            </a:pPr>
            <a:r>
              <a:rPr lang="en-US" sz="1600" dirty="0">
                <a:solidFill>
                  <a:srgbClr val="FFFFFF"/>
                </a:solidFill>
                <a:latin typeface="Segoe UI" pitchFamily="34" charset="0"/>
                <a:ea typeface="Segoe UI" pitchFamily="34" charset="-122"/>
                <a:cs typeface="Segoe UI" pitchFamily="34" charset="-120"/>
              </a:rPr>
              <a:t>Pilot one Medallion domain in a Dev workspace, and size the F SKU with the Capacity Metrics app.</a:t>
            </a:r>
            <a:endParaRPr lang="en-US" sz="1600" dirty="0"/>
          </a:p>
        </p:txBody>
      </p:sp>
      <p:sp>
        <p:nvSpPr>
          <p:cNvPr id="6" name="Shape 4"/>
          <p:cNvSpPr/>
          <p:nvPr/>
        </p:nvSpPr>
        <p:spPr>
          <a:xfrm>
            <a:off x="731520" y="2761488"/>
            <a:ext cx="512064" cy="512064"/>
          </a:xfrm>
          <a:prstGeom prst="ellipse">
            <a:avLst/>
          </a:prstGeom>
          <a:solidFill>
            <a:srgbClr val="0E7C86"/>
          </a:solidFill>
          <a:ln w="12700">
            <a:solidFill>
              <a:srgbClr val="0E7C86"/>
            </a:solidFill>
            <a:prstDash val="solid"/>
          </a:ln>
        </p:spPr>
      </p:sp>
      <p:sp>
        <p:nvSpPr>
          <p:cNvPr id="7" name="Text 5"/>
          <p:cNvSpPr/>
          <p:nvPr/>
        </p:nvSpPr>
        <p:spPr>
          <a:xfrm>
            <a:off x="731520" y="2761488"/>
            <a:ext cx="512064" cy="512064"/>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8" name="Text 6"/>
          <p:cNvSpPr/>
          <p:nvPr/>
        </p:nvSpPr>
        <p:spPr>
          <a:xfrm>
            <a:off x="1463040" y="2697480"/>
            <a:ext cx="5669280" cy="640080"/>
          </a:xfrm>
          <a:prstGeom prst="rect">
            <a:avLst/>
          </a:prstGeom>
          <a:noFill/>
          <a:ln/>
        </p:spPr>
        <p:txBody>
          <a:bodyPr wrap="square" lIns="0" tIns="0" rIns="0" bIns="0" rtlCol="0" anchor="ctr"/>
          <a:lstStyle/>
          <a:p>
            <a:pPr indent="0" marL="0">
              <a:buNone/>
            </a:pPr>
            <a:r>
              <a:rPr lang="en-US" sz="1600" dirty="0">
                <a:solidFill>
                  <a:srgbClr val="FFFFFF"/>
                </a:solidFill>
                <a:latin typeface="Segoe UI" pitchFamily="34" charset="0"/>
                <a:ea typeface="Segoe UI" pitchFamily="34" charset="-122"/>
                <a:cs typeface="Segoe UI" pitchFamily="34" charset="-120"/>
              </a:rPr>
              <a:t>Pick one migration candidate and reconcile control totals before any cutover.</a:t>
            </a:r>
            <a:endParaRPr lang="en-US" sz="1600" dirty="0"/>
          </a:p>
        </p:txBody>
      </p:sp>
      <p:sp>
        <p:nvSpPr>
          <p:cNvPr id="9" name="Shape 7"/>
          <p:cNvSpPr/>
          <p:nvPr/>
        </p:nvSpPr>
        <p:spPr>
          <a:xfrm>
            <a:off x="731520" y="3538728"/>
            <a:ext cx="512064" cy="512064"/>
          </a:xfrm>
          <a:prstGeom prst="ellipse">
            <a:avLst/>
          </a:prstGeom>
          <a:solidFill>
            <a:srgbClr val="0E7C86"/>
          </a:solidFill>
          <a:ln w="12700">
            <a:solidFill>
              <a:srgbClr val="0E7C86"/>
            </a:solidFill>
            <a:prstDash val="solid"/>
          </a:ln>
        </p:spPr>
      </p:sp>
      <p:sp>
        <p:nvSpPr>
          <p:cNvPr id="10" name="Text 8"/>
          <p:cNvSpPr/>
          <p:nvPr/>
        </p:nvSpPr>
        <p:spPr>
          <a:xfrm>
            <a:off x="731520" y="3538728"/>
            <a:ext cx="512064" cy="512064"/>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1" name="Text 9"/>
          <p:cNvSpPr/>
          <p:nvPr/>
        </p:nvSpPr>
        <p:spPr>
          <a:xfrm>
            <a:off x="1463040" y="3474720"/>
            <a:ext cx="5669280" cy="640080"/>
          </a:xfrm>
          <a:prstGeom prst="rect">
            <a:avLst/>
          </a:prstGeom>
          <a:noFill/>
          <a:ln/>
        </p:spPr>
        <p:txBody>
          <a:bodyPr wrap="square" lIns="0" tIns="0" rIns="0" bIns="0" rtlCol="0" anchor="ctr"/>
          <a:lstStyle/>
          <a:p>
            <a:pPr indent="0" marL="0">
              <a:buNone/>
            </a:pPr>
            <a:r>
              <a:rPr lang="en-US" sz="1600" dirty="0">
                <a:solidFill>
                  <a:srgbClr val="FFFFFF"/>
                </a:solidFill>
                <a:latin typeface="Segoe UI" pitchFamily="34" charset="0"/>
                <a:ea typeface="Segoe UI" pitchFamily="34" charset="-122"/>
                <a:cs typeface="Segoe UI" pitchFamily="34" charset="-120"/>
              </a:rPr>
              <a:t>Review the governance mapping (B-10, B-13, E-21) with your compliance team.</a:t>
            </a:r>
            <a:endParaRPr lang="en-US" sz="1600" dirty="0"/>
          </a:p>
        </p:txBody>
      </p:sp>
      <p:sp>
        <p:nvSpPr>
          <p:cNvPr id="12" name="Shape 10"/>
          <p:cNvSpPr/>
          <p:nvPr/>
        </p:nvSpPr>
        <p:spPr>
          <a:xfrm>
            <a:off x="731520" y="4315968"/>
            <a:ext cx="512064" cy="512064"/>
          </a:xfrm>
          <a:prstGeom prst="ellipse">
            <a:avLst/>
          </a:prstGeom>
          <a:solidFill>
            <a:srgbClr val="0E7C86"/>
          </a:solidFill>
          <a:ln w="12700">
            <a:solidFill>
              <a:srgbClr val="0E7C86"/>
            </a:solidFill>
            <a:prstDash val="solid"/>
          </a:ln>
        </p:spPr>
      </p:sp>
      <p:sp>
        <p:nvSpPr>
          <p:cNvPr id="13" name="Text 11"/>
          <p:cNvSpPr/>
          <p:nvPr/>
        </p:nvSpPr>
        <p:spPr>
          <a:xfrm>
            <a:off x="731520" y="4315968"/>
            <a:ext cx="512064" cy="512064"/>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14" name="Text 12"/>
          <p:cNvSpPr/>
          <p:nvPr/>
        </p:nvSpPr>
        <p:spPr>
          <a:xfrm>
            <a:off x="1463040" y="4251960"/>
            <a:ext cx="5669280" cy="640080"/>
          </a:xfrm>
          <a:prstGeom prst="rect">
            <a:avLst/>
          </a:prstGeom>
          <a:noFill/>
          <a:ln/>
        </p:spPr>
        <p:txBody>
          <a:bodyPr wrap="square" lIns="0" tIns="0" rIns="0" bIns="0" rtlCol="0" anchor="ctr"/>
          <a:lstStyle/>
          <a:p>
            <a:pPr indent="0" marL="0">
              <a:buNone/>
            </a:pPr>
            <a:r>
              <a:rPr lang="en-US" sz="1600" dirty="0">
                <a:solidFill>
                  <a:srgbClr val="FFFFFF"/>
                </a:solidFill>
                <a:latin typeface="Segoe UI" pitchFamily="34" charset="0"/>
                <a:ea typeface="Segoe UI" pitchFamily="34" charset="-122"/>
                <a:cs typeface="Segoe UI" pitchFamily="34" charset="-120"/>
              </a:rPr>
              <a:t>Repeat this workshop from the repository and the delivery guide.</a:t>
            </a:r>
            <a:endParaRPr lang="en-US" sz="1600" dirty="0"/>
          </a:p>
        </p:txBody>
      </p:sp>
      <p:sp>
        <p:nvSpPr>
          <p:cNvPr id="15" name="Shape 13"/>
          <p:cNvSpPr/>
          <p:nvPr/>
        </p:nvSpPr>
        <p:spPr>
          <a:xfrm>
            <a:off x="7498080" y="1325880"/>
            <a:ext cx="4142232" cy="4297680"/>
          </a:xfrm>
          <a:prstGeom prst="rect">
            <a:avLst/>
          </a:prstGeom>
          <a:solidFill>
            <a:srgbClr val="13304D"/>
          </a:solidFill>
          <a:ln w="12700">
            <a:solidFill>
              <a:srgbClr val="13304D"/>
            </a:solidFill>
            <a:prstDash val="solid"/>
          </a:ln>
        </p:spPr>
      </p:sp>
      <p:sp>
        <p:nvSpPr>
          <p:cNvPr id="16" name="Text 14"/>
          <p:cNvSpPr/>
          <p:nvPr/>
        </p:nvSpPr>
        <p:spPr>
          <a:xfrm>
            <a:off x="7772400" y="1554480"/>
            <a:ext cx="3657600" cy="365760"/>
          </a:xfrm>
          <a:prstGeom prst="rect">
            <a:avLst/>
          </a:prstGeom>
          <a:noFill/>
          <a:ln/>
        </p:spPr>
        <p:txBody>
          <a:bodyPr wrap="square" lIns="0" tIns="0" rIns="0" bIns="0" rtlCol="0" anchor="ctr"/>
          <a:lstStyle/>
          <a:p>
            <a:pPr indent="0" marL="0">
              <a:buNone/>
            </a:pPr>
            <a:r>
              <a:rPr lang="en-US" sz="1600" dirty="0">
                <a:solidFill>
                  <a:srgbClr val="FFFFFF"/>
                </a:solidFill>
                <a:latin typeface="Segoe UI Semibold" pitchFamily="34" charset="0"/>
                <a:ea typeface="Segoe UI Semibold" pitchFamily="34" charset="-122"/>
                <a:cs typeface="Segoe UI Semibold" pitchFamily="34" charset="-120"/>
              </a:rPr>
              <a:t>Resources</a:t>
            </a:r>
            <a:endParaRPr lang="en-US" sz="1600" dirty="0"/>
          </a:p>
        </p:txBody>
      </p:sp>
      <p:sp>
        <p:nvSpPr>
          <p:cNvPr id="17" name="Text 15"/>
          <p:cNvSpPr/>
          <p:nvPr/>
        </p:nvSpPr>
        <p:spPr>
          <a:xfrm>
            <a:off x="7772400" y="2103120"/>
            <a:ext cx="3657600" cy="731520"/>
          </a:xfrm>
          <a:prstGeom prst="rect">
            <a:avLst/>
          </a:prstGeom>
          <a:noFill/>
          <a:ln/>
        </p:spPr>
        <p:txBody>
          <a:bodyPr wrap="square" lIns="0" tIns="0" rIns="0" bIns="0" rtlCol="0" anchor="t"/>
          <a:lstStyle/>
          <a:p>
            <a:pPr indent="0" marL="0">
              <a:buNone/>
            </a:pPr>
            <a:r>
              <a:rPr lang="en-US" sz="1150" b="1" dirty="0">
                <a:solidFill>
                  <a:srgbClr val="7FD3DB"/>
                </a:solidFill>
                <a:latin typeface="Segoe UI" pitchFamily="34" charset="0"/>
                <a:ea typeface="Segoe UI" pitchFamily="34" charset="-122"/>
                <a:cs typeface="Segoe UI" pitchFamily="34" charset="-120"/>
              </a:rPr>
              <a:t>Workshop repository</a:t>
            </a:r>
            <a:endParaRPr lang="en-US" sz="1150" dirty="0"/>
          </a:p>
          <a:p>
            <a:pPr indent="0" marL="0">
              <a:buNone/>
            </a:pPr>
            <a:r>
              <a:rPr lang="en-US" sz="1250" dirty="0">
                <a:solidFill>
                  <a:srgbClr val="FFFFFF"/>
                </a:solidFill>
                <a:latin typeface="Segoe UI" pitchFamily="34" charset="0"/>
                <a:ea typeface="Segoe UI" pitchFamily="34" charset="-122"/>
                <a:cs typeface="Segoe UI" pitchFamily="34" charset="-120"/>
              </a:rPr>
              <a:t>nikosoukov/fabric-data-engineering-workshop</a:t>
            </a:r>
            <a:endParaRPr lang="en-US" sz="1150" dirty="0"/>
          </a:p>
        </p:txBody>
      </p:sp>
      <p:sp>
        <p:nvSpPr>
          <p:cNvPr id="18" name="Text 16"/>
          <p:cNvSpPr/>
          <p:nvPr/>
        </p:nvSpPr>
        <p:spPr>
          <a:xfrm>
            <a:off x="7772400" y="2971800"/>
            <a:ext cx="3657600" cy="731520"/>
          </a:xfrm>
          <a:prstGeom prst="rect">
            <a:avLst/>
          </a:prstGeom>
          <a:noFill/>
          <a:ln/>
        </p:spPr>
        <p:txBody>
          <a:bodyPr wrap="square" lIns="0" tIns="0" rIns="0" bIns="0" rtlCol="0" anchor="t"/>
          <a:lstStyle/>
          <a:p>
            <a:pPr indent="0" marL="0">
              <a:buNone/>
            </a:pPr>
            <a:r>
              <a:rPr lang="en-US" sz="1150" b="1" dirty="0">
                <a:solidFill>
                  <a:srgbClr val="7FD3DB"/>
                </a:solidFill>
                <a:latin typeface="Segoe UI" pitchFamily="34" charset="0"/>
                <a:ea typeface="Segoe UI" pitchFamily="34" charset="-122"/>
                <a:cs typeface="Segoe UI" pitchFamily="34" charset="-120"/>
              </a:rPr>
              <a:t>Delivery guide</a:t>
            </a:r>
            <a:endParaRPr lang="en-US" sz="1150" dirty="0"/>
          </a:p>
          <a:p>
            <a:pPr indent="0" marL="0">
              <a:buNone/>
            </a:pPr>
            <a:r>
              <a:rPr lang="en-US" sz="1250" dirty="0">
                <a:solidFill>
                  <a:srgbClr val="FFFFFF"/>
                </a:solidFill>
                <a:latin typeface="Segoe UI" pitchFamily="34" charset="0"/>
                <a:ea typeface="Segoe UI" pitchFamily="34" charset="-122"/>
                <a:cs typeface="Segoe UI" pitchFamily="34" charset="-120"/>
              </a:rPr>
              <a:t>docs/prescriptive-delivery-guide.md</a:t>
            </a:r>
            <a:endParaRPr lang="en-US" sz="1150" dirty="0"/>
          </a:p>
        </p:txBody>
      </p:sp>
      <p:sp>
        <p:nvSpPr>
          <p:cNvPr id="19" name="Text 17"/>
          <p:cNvSpPr/>
          <p:nvPr/>
        </p:nvSpPr>
        <p:spPr>
          <a:xfrm>
            <a:off x="7772400" y="3840480"/>
            <a:ext cx="3657600" cy="731520"/>
          </a:xfrm>
          <a:prstGeom prst="rect">
            <a:avLst/>
          </a:prstGeom>
          <a:noFill/>
          <a:ln/>
        </p:spPr>
        <p:txBody>
          <a:bodyPr wrap="square" lIns="0" tIns="0" rIns="0" bIns="0" rtlCol="0" anchor="t"/>
          <a:lstStyle/>
          <a:p>
            <a:pPr indent="0" marL="0">
              <a:buNone/>
            </a:pPr>
            <a:r>
              <a:rPr lang="en-US" sz="1150" b="1" dirty="0">
                <a:solidFill>
                  <a:srgbClr val="7FD3DB"/>
                </a:solidFill>
                <a:latin typeface="Segoe UI" pitchFamily="34" charset="0"/>
                <a:ea typeface="Segoe UI" pitchFamily="34" charset="-122"/>
                <a:cs typeface="Segoe UI" pitchFamily="34" charset="-120"/>
              </a:rPr>
              <a:t>Best practices</a:t>
            </a:r>
            <a:endParaRPr lang="en-US" sz="1150" dirty="0"/>
          </a:p>
          <a:p>
            <a:pPr indent="0" marL="0">
              <a:buNone/>
            </a:pPr>
            <a:r>
              <a:rPr lang="en-US" sz="1250" dirty="0">
                <a:solidFill>
                  <a:srgbClr val="FFFFFF"/>
                </a:solidFill>
                <a:latin typeface="Segoe UI" pitchFamily="34" charset="0"/>
                <a:ea typeface="Segoe UI" pitchFamily="34" charset="-122"/>
                <a:cs typeface="Segoe UI" pitchFamily="34" charset="-120"/>
              </a:rPr>
              <a:t>docs/best-practices.md</a:t>
            </a:r>
            <a:endParaRPr lang="en-US" sz="1150" dirty="0"/>
          </a:p>
        </p:txBody>
      </p:sp>
      <p:sp>
        <p:nvSpPr>
          <p:cNvPr id="20" name="Text 18"/>
          <p:cNvSpPr/>
          <p:nvPr/>
        </p:nvSpPr>
        <p:spPr>
          <a:xfrm>
            <a:off x="7772400" y="4709160"/>
            <a:ext cx="3657600" cy="731520"/>
          </a:xfrm>
          <a:prstGeom prst="rect">
            <a:avLst/>
          </a:prstGeom>
          <a:noFill/>
          <a:ln/>
        </p:spPr>
        <p:txBody>
          <a:bodyPr wrap="square" lIns="0" tIns="0" rIns="0" bIns="0" rtlCol="0" anchor="t"/>
          <a:lstStyle/>
          <a:p>
            <a:pPr indent="0" marL="0">
              <a:buNone/>
            </a:pPr>
            <a:r>
              <a:rPr lang="en-US" sz="1150" b="1" dirty="0">
                <a:solidFill>
                  <a:srgbClr val="7FD3DB"/>
                </a:solidFill>
                <a:latin typeface="Segoe UI" pitchFamily="34" charset="0"/>
                <a:ea typeface="Segoe UI" pitchFamily="34" charset="-122"/>
                <a:cs typeface="Segoe UI" pitchFamily="34" charset="-120"/>
              </a:rPr>
              <a:t>Architecture diagram</a:t>
            </a:r>
            <a:endParaRPr lang="en-US" sz="1150" dirty="0"/>
          </a:p>
          <a:p>
            <a:pPr indent="0" marL="0">
              <a:buNone/>
            </a:pPr>
            <a:r>
              <a:rPr lang="en-US" sz="1250" dirty="0">
                <a:solidFill>
                  <a:srgbClr val="FFFFFF"/>
                </a:solidFill>
                <a:latin typeface="Segoe UI" pitchFamily="34" charset="0"/>
                <a:ea typeface="Segoe UI" pitchFamily="34" charset="-122"/>
                <a:cs typeface="Segoe UI" pitchFamily="34" charset="-120"/>
              </a:rPr>
              <a:t>diagrams/medallion-architecture.svg</a:t>
            </a:r>
            <a:endParaRPr lang="en-US" sz="1150" dirty="0"/>
          </a:p>
        </p:txBody>
      </p:sp>
      <p:sp>
        <p:nvSpPr>
          <p:cNvPr id="21" name="Text 19"/>
          <p:cNvSpPr/>
          <p:nvPr/>
        </p:nvSpPr>
        <p:spPr>
          <a:xfrm>
            <a:off x="731520" y="5029200"/>
            <a:ext cx="6400800" cy="594360"/>
          </a:xfrm>
          <a:prstGeom prst="rect">
            <a:avLst/>
          </a:prstGeom>
          <a:noFill/>
          <a:ln/>
        </p:spPr>
        <p:txBody>
          <a:bodyPr wrap="square" lIns="0" tIns="0" rIns="0" bIns="0" rtlCol="0" anchor="ctr"/>
          <a:lstStyle/>
          <a:p>
            <a:pPr indent="0" marL="0">
              <a:buNone/>
            </a:pPr>
            <a:r>
              <a:rPr lang="en-US" sz="3200" dirty="0">
                <a:solidFill>
                  <a:srgbClr val="7FD3DB"/>
                </a:solidFill>
                <a:latin typeface="Segoe UI Semibold" pitchFamily="34" charset="0"/>
                <a:ea typeface="Segoe UI Semibold" pitchFamily="34" charset="-122"/>
                <a:cs typeface="Segoe UI Semibold" pitchFamily="34" charset="-120"/>
              </a:rPr>
              <a:t>Questions?</a:t>
            </a:r>
            <a:endParaRPr lang="en-US" sz="3200" dirty="0"/>
          </a:p>
        </p:txBody>
      </p:sp>
      <p:sp>
        <p:nvSpPr>
          <p:cNvPr id="22" name="Text 20"/>
          <p:cNvSpPr/>
          <p:nvPr/>
        </p:nvSpPr>
        <p:spPr>
          <a:xfrm>
            <a:off x="548640" y="6382512"/>
            <a:ext cx="7315200" cy="274320"/>
          </a:xfrm>
          <a:prstGeom prst="rect">
            <a:avLst/>
          </a:prstGeom>
          <a:noFill/>
          <a:ln/>
        </p:spPr>
        <p:txBody>
          <a:bodyPr wrap="square" lIns="0" tIns="0" rIns="0" bIns="0" rtlCol="0" anchor="ctr"/>
          <a:lstStyle/>
          <a:p>
            <a:pPr indent="0" marL="0">
              <a:buNone/>
            </a:pPr>
            <a:r>
              <a:rPr lang="en-US" sz="950" dirty="0">
                <a:solidFill>
                  <a:srgbClr val="9FB3C8"/>
                </a:solidFill>
                <a:latin typeface="Segoe UI" pitchFamily="34" charset="0"/>
                <a:ea typeface="Segoe UI" pitchFamily="34" charset="-122"/>
                <a:cs typeface="Segoe UI" pitchFamily="34" charset="-120"/>
              </a:rPr>
              <a:t>Microsoft Fabric for Data Engineers  |  OSFI workshop</a:t>
            </a:r>
            <a:endParaRPr lang="en-US" sz="950" dirty="0"/>
          </a:p>
        </p:txBody>
      </p:sp>
      <p:sp>
        <p:nvSpPr>
          <p:cNvPr id="23" name="Text 21"/>
          <p:cNvSpPr/>
          <p:nvPr/>
        </p:nvSpPr>
        <p:spPr>
          <a:xfrm>
            <a:off x="10725912" y="6382512"/>
            <a:ext cx="914400" cy="274320"/>
          </a:xfrm>
          <a:prstGeom prst="rect">
            <a:avLst/>
          </a:prstGeom>
          <a:noFill/>
          <a:ln/>
        </p:spPr>
        <p:txBody>
          <a:bodyPr wrap="square" lIns="0" tIns="0" rIns="0" bIns="0" rtlCol="0" anchor="ctr"/>
          <a:lstStyle/>
          <a:p>
            <a:pPr algn="r" indent="0" marL="0">
              <a:buNone/>
            </a:pPr>
            <a:r>
              <a:rPr lang="en-US" sz="950" dirty="0">
                <a:solidFill>
                  <a:srgbClr val="9FB3C8"/>
                </a:solidFill>
                <a:latin typeface="Segoe UI" pitchFamily="34" charset="0"/>
                <a:ea typeface="Segoe UI" pitchFamily="34" charset="-122"/>
                <a:cs typeface="Segoe UI" pitchFamily="34" charset="-120"/>
              </a:rPr>
              <a:t>21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Fabric for Data Engineers</dc:title>
  <dc:subject>PptxGenJS Presentation</dc:subject>
  <dc:creator>Workshop team</dc:creator>
  <cp:lastModifiedBy>Workshop team</cp:lastModifiedBy>
  <cp:revision>1</cp:revision>
  <dcterms:created xsi:type="dcterms:W3CDTF">2026-10-20T03:18:34Z</dcterms:created>
  <dcterms:modified xsi:type="dcterms:W3CDTF">2026-10-20T03:18:34Z</dcterms:modified>
</cp:coreProperties>
</file>